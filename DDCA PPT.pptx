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embeddedFontLst>
    <p:embeddedFont>
      <p:font typeface="Open Sans" panose="020F0502020204030204" pitchFamily="34" charset="0"/>
      <p:regular r:id="rId13"/>
    </p:embeddedFont>
    <p:embeddedFont>
      <p:font typeface="Open Sans Bold" panose="020B0604020202020204" charset="0"/>
      <p:regular r:id="rId14"/>
    </p:embeddedFont>
    <p:embeddedFont>
      <p:font typeface="Unbounded Bold" panose="020B0604020202020204" charset="0"/>
      <p:regular r:id="rId1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75" d="100"/>
          <a:sy n="75" d="100"/>
        </p:scale>
        <p:origin x="946"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144167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D6F5EE"/>
          </a:solidFill>
          <a:ln/>
        </p:spPr>
      </p:sp>
      <p:sp>
        <p:nvSpPr>
          <p:cNvPr id="3" name="Shape 1"/>
          <p:cNvSpPr/>
          <p:nvPr/>
        </p:nvSpPr>
        <p:spPr>
          <a:xfrm>
            <a:off x="0" y="0"/>
            <a:ext cx="12191695" cy="68580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0.svg"/><Relationship Id="rId4" Type="http://schemas.openxmlformats.org/officeDocument/2006/relationships/image" Target="../media/image9.svg"/></Relationships>
</file>

<file path=ppt/slides/_rels/slide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2.svg"/></Relationships>
</file>

<file path=ppt/slides/_rels/slide10.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61475" y="594717"/>
            <a:ext cx="10868745" cy="258465"/>
          </a:xfrm>
          <a:prstGeom prst="rect">
            <a:avLst/>
          </a:prstGeom>
          <a:noFill/>
          <a:ln/>
        </p:spPr>
        <p:txBody>
          <a:bodyPr wrap="none" lIns="0" tIns="0" rIns="0" bIns="0" rtlCol="0" anchor="t"/>
          <a:lstStyle/>
          <a:p>
            <a:pPr marL="0" indent="0" algn="ctr">
              <a:lnSpc>
                <a:spcPct val="104000"/>
              </a:lnSpc>
              <a:buNone/>
            </a:pPr>
            <a:r>
              <a:rPr lang="en-US" sz="1600" b="1" dirty="0">
                <a:solidFill>
                  <a:srgbClr val="333F70"/>
                </a:solidFill>
                <a:latin typeface="Unbounded Bold" pitchFamily="34" charset="0"/>
                <a:ea typeface="Unbounded Bold" pitchFamily="34" charset="-122"/>
                <a:cs typeface="Unbounded Bold" pitchFamily="34" charset="-120"/>
              </a:rPr>
              <a:t>Academic Project Report</a:t>
            </a:r>
            <a:endParaRPr lang="en-US" sz="1600" dirty="0"/>
          </a:p>
        </p:txBody>
      </p:sp>
      <p:sp>
        <p:nvSpPr>
          <p:cNvPr id="3" name="Text 1"/>
          <p:cNvSpPr/>
          <p:nvPr/>
        </p:nvSpPr>
        <p:spPr>
          <a:xfrm>
            <a:off x="661475" y="919262"/>
            <a:ext cx="10868745" cy="1033463"/>
          </a:xfrm>
          <a:prstGeom prst="rect">
            <a:avLst/>
          </a:prstGeom>
          <a:noFill/>
          <a:ln/>
        </p:spPr>
        <p:txBody>
          <a:bodyPr wrap="square" lIns="0" tIns="0" rIns="0" bIns="0" rtlCol="0" anchor="t">
            <a:normAutofit/>
          </a:bodyPr>
          <a:lstStyle/>
          <a:p>
            <a:pPr marL="0" indent="0" algn="ctr">
              <a:lnSpc>
                <a:spcPct val="104000"/>
              </a:lnSpc>
              <a:buNone/>
            </a:pPr>
            <a:r>
              <a:rPr lang="en-US" sz="3250" b="1" dirty="0">
                <a:solidFill>
                  <a:srgbClr val="333F70"/>
                </a:solidFill>
                <a:latin typeface="Unbounded Bold" pitchFamily="34" charset="0"/>
                <a:ea typeface="Unbounded Bold" pitchFamily="34" charset="-122"/>
                <a:cs typeface="Unbounded Bold" pitchFamily="34" charset="-120"/>
              </a:rPr>
              <a:t>Design and Simulation of a 4-Bit Binary Arithmetic Calculator</a:t>
            </a:r>
            <a:endParaRPr lang="en-US" sz="3250" dirty="0"/>
          </a:p>
        </p:txBody>
      </p:sp>
      <p:sp>
        <p:nvSpPr>
          <p:cNvPr id="4" name="Shape 2"/>
          <p:cNvSpPr/>
          <p:nvPr/>
        </p:nvSpPr>
        <p:spPr>
          <a:xfrm>
            <a:off x="661475" y="2242046"/>
            <a:ext cx="10868745" cy="19050"/>
          </a:xfrm>
          <a:prstGeom prst="roundRect">
            <a:avLst>
              <a:gd name="adj" fmla="val 49999"/>
            </a:avLst>
          </a:prstGeom>
          <a:solidFill>
            <a:srgbClr val="333F70">
              <a:alpha val="50000"/>
            </a:srgbClr>
          </a:solidFill>
          <a:ln/>
        </p:spPr>
      </p:sp>
      <p:sp>
        <p:nvSpPr>
          <p:cNvPr id="5" name="Shape 3"/>
          <p:cNvSpPr/>
          <p:nvPr/>
        </p:nvSpPr>
        <p:spPr>
          <a:xfrm>
            <a:off x="542415" y="2488406"/>
            <a:ext cx="5470785" cy="2623245"/>
          </a:xfrm>
          <a:prstGeom prst="roundRect">
            <a:avLst>
              <a:gd name="adj" fmla="val 4539"/>
            </a:avLst>
          </a:prstGeom>
          <a:solidFill>
            <a:srgbClr val="26A688"/>
          </a:solidFill>
          <a:ln/>
        </p:spPr>
      </p:sp>
      <p:sp>
        <p:nvSpPr>
          <p:cNvPr id="6" name="Text 4"/>
          <p:cNvSpPr/>
          <p:nvPr/>
        </p:nvSpPr>
        <p:spPr>
          <a:xfrm>
            <a:off x="707710" y="2653705"/>
            <a:ext cx="5140196" cy="258465"/>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Unbounded Bold" pitchFamily="34" charset="0"/>
                <a:ea typeface="Unbounded Bold" pitchFamily="34" charset="-122"/>
                <a:cs typeface="Unbounded Bold" pitchFamily="34" charset="-120"/>
              </a:rPr>
              <a:t>Project Details</a:t>
            </a:r>
            <a:endParaRPr lang="en-US" sz="1600" dirty="0"/>
          </a:p>
        </p:txBody>
      </p:sp>
      <p:sp>
        <p:nvSpPr>
          <p:cNvPr id="7" name="Text 5"/>
          <p:cNvSpPr/>
          <p:nvPr/>
        </p:nvSpPr>
        <p:spPr>
          <a:xfrm>
            <a:off x="707710" y="3077468"/>
            <a:ext cx="5140196" cy="1885355"/>
          </a:xfrm>
          <a:prstGeom prst="rect">
            <a:avLst/>
          </a:prstGeom>
          <a:noFill/>
          <a:ln/>
        </p:spPr>
        <p:txBody>
          <a:bodyPr wrap="square" lIns="0" tIns="0" rIns="0" bIns="0" rtlCol="0" anchor="t"/>
          <a:lstStyle/>
          <a:p>
            <a:pPr marL="0" indent="0" algn="l">
              <a:lnSpc>
                <a:spcPct val="133000"/>
              </a:lnSpc>
              <a:spcAft>
                <a:spcPts val="1150"/>
              </a:spcAft>
              <a:buNone/>
            </a:pPr>
            <a:r>
              <a:rPr lang="en-US" sz="1300" b="1" dirty="0">
                <a:solidFill>
                  <a:srgbClr val="000000"/>
                </a:solidFill>
                <a:latin typeface="Open Sans Bold" pitchFamily="34" charset="0"/>
                <a:ea typeface="Open Sans Bold" pitchFamily="34" charset="-122"/>
                <a:cs typeface="Open Sans Bold" pitchFamily="34" charset="-120"/>
              </a:rPr>
              <a:t>Student Name(s):</a:t>
            </a:r>
            <a:r>
              <a:rPr lang="en-US" sz="1300" dirty="0">
                <a:solidFill>
                  <a:srgbClr val="000000"/>
                </a:solidFill>
                <a:latin typeface="Open Sans" pitchFamily="34" charset="0"/>
                <a:ea typeface="Open Sans" pitchFamily="34" charset="-122"/>
                <a:cs typeface="Open Sans" pitchFamily="34" charset="-120"/>
              </a:rPr>
              <a:t> </a:t>
            </a:r>
            <a:endParaRPr lang="en-US" sz="1300" dirty="0"/>
          </a:p>
          <a:p>
            <a:pPr marL="0" indent="0" algn="l">
              <a:lnSpc>
                <a:spcPct val="133000"/>
              </a:lnSpc>
              <a:buNone/>
            </a:pPr>
            <a:r>
              <a:rPr lang="en-US" sz="1300" dirty="0">
                <a:solidFill>
                  <a:srgbClr val="000000"/>
                </a:solidFill>
                <a:latin typeface="Open Sans" pitchFamily="34" charset="0"/>
                <a:ea typeface="Open Sans" pitchFamily="34" charset="-122"/>
                <a:cs typeface="Open Sans" pitchFamily="34" charset="-120"/>
              </a:rPr>
              <a:t>Aaryan - 2620030009</a:t>
            </a:r>
            <a:endParaRPr lang="en-US" sz="1300" dirty="0"/>
          </a:p>
          <a:p>
            <a:pPr marL="0" indent="0" algn="l">
              <a:lnSpc>
                <a:spcPct val="133000"/>
              </a:lnSpc>
              <a:buNone/>
            </a:pPr>
            <a:r>
              <a:rPr lang="en-US" sz="1300" dirty="0">
                <a:solidFill>
                  <a:srgbClr val="000000"/>
                </a:solidFill>
                <a:latin typeface="Open Sans" pitchFamily="34" charset="0"/>
                <a:ea typeface="Open Sans" pitchFamily="34" charset="-122"/>
                <a:cs typeface="Open Sans" pitchFamily="34" charset="-120"/>
              </a:rPr>
              <a:t>Neha - 2620030017</a:t>
            </a:r>
            <a:endParaRPr lang="en-US" sz="1300" dirty="0"/>
          </a:p>
          <a:p>
            <a:pPr marL="0" indent="0" algn="l">
              <a:lnSpc>
                <a:spcPct val="133000"/>
              </a:lnSpc>
              <a:buNone/>
            </a:pPr>
            <a:r>
              <a:rPr lang="en-US" sz="1300" dirty="0">
                <a:solidFill>
                  <a:srgbClr val="000000"/>
                </a:solidFill>
                <a:latin typeface="Open Sans" pitchFamily="34" charset="0"/>
                <a:ea typeface="Open Sans" pitchFamily="34" charset="-122"/>
                <a:cs typeface="Open Sans" pitchFamily="34" charset="-120"/>
              </a:rPr>
              <a:t>Rishith - 2620030021</a:t>
            </a:r>
            <a:endParaRPr lang="en-US" sz="1300" dirty="0"/>
          </a:p>
          <a:p>
            <a:pPr marL="0" indent="0" algn="l">
              <a:lnSpc>
                <a:spcPct val="133000"/>
              </a:lnSpc>
              <a:spcAft>
                <a:spcPts val="1150"/>
              </a:spcAft>
              <a:buNone/>
            </a:pPr>
            <a:r>
              <a:rPr lang="en-US" sz="1300" dirty="0">
                <a:solidFill>
                  <a:srgbClr val="000000"/>
                </a:solidFill>
                <a:latin typeface="Open Sans" pitchFamily="34" charset="0"/>
                <a:ea typeface="Open Sans" pitchFamily="34" charset="-122"/>
                <a:cs typeface="Open Sans" pitchFamily="34" charset="-120"/>
              </a:rPr>
              <a:t>Sruthi - 2620030044</a:t>
            </a:r>
            <a:endParaRPr lang="en-US" sz="1300" dirty="0"/>
          </a:p>
          <a:p>
            <a:pPr marL="0" indent="0" algn="l">
              <a:lnSpc>
                <a:spcPct val="133000"/>
              </a:lnSpc>
              <a:buNone/>
            </a:pPr>
            <a:r>
              <a:rPr lang="en-US" sz="1300" b="1" dirty="0">
                <a:solidFill>
                  <a:srgbClr val="000000"/>
                </a:solidFill>
                <a:latin typeface="Open Sans Bold" pitchFamily="34" charset="0"/>
                <a:ea typeface="Open Sans Bold" pitchFamily="34" charset="-122"/>
                <a:cs typeface="Open Sans Bold" pitchFamily="34" charset="-120"/>
              </a:rPr>
              <a:t>Guide / Supervisor:</a:t>
            </a:r>
            <a:r>
              <a:rPr lang="en-US" sz="1300" dirty="0">
                <a:solidFill>
                  <a:srgbClr val="000000"/>
                </a:solidFill>
                <a:latin typeface="Open Sans" pitchFamily="34" charset="0"/>
                <a:ea typeface="Open Sans" pitchFamily="34" charset="-122"/>
                <a:cs typeface="Open Sans" pitchFamily="34" charset="-120"/>
              </a:rPr>
              <a:t> Dr. Kartheek V</a:t>
            </a:r>
            <a:endParaRPr lang="en-US" sz="1300" dirty="0"/>
          </a:p>
        </p:txBody>
      </p:sp>
      <p:sp>
        <p:nvSpPr>
          <p:cNvPr id="8" name="Text 6"/>
          <p:cNvSpPr/>
          <p:nvPr/>
        </p:nvSpPr>
        <p:spPr>
          <a:xfrm>
            <a:off x="6303904" y="2653705"/>
            <a:ext cx="5232666" cy="258465"/>
          </a:xfrm>
          <a:prstGeom prst="rect">
            <a:avLst/>
          </a:prstGeom>
          <a:noFill/>
          <a:ln/>
        </p:spPr>
        <p:txBody>
          <a:bodyPr wrap="none" lIns="0" tIns="0" rIns="0" bIns="0" rtlCol="0" anchor="t"/>
          <a:lstStyle/>
          <a:p>
            <a:pPr marL="0" indent="0" algn="l">
              <a:lnSpc>
                <a:spcPct val="104000"/>
              </a:lnSpc>
              <a:buNone/>
            </a:pPr>
            <a:r>
              <a:rPr lang="en-US" sz="1600" b="1" dirty="0">
                <a:solidFill>
                  <a:srgbClr val="333F70"/>
                </a:solidFill>
                <a:latin typeface="Unbounded Bold" pitchFamily="34" charset="0"/>
                <a:ea typeface="Unbounded Bold" pitchFamily="34" charset="-122"/>
                <a:cs typeface="Unbounded Bold" pitchFamily="34" charset="-120"/>
              </a:rPr>
              <a:t>Institution Details</a:t>
            </a:r>
            <a:endParaRPr lang="en-US" sz="1600" dirty="0"/>
          </a:p>
        </p:txBody>
      </p:sp>
      <p:sp>
        <p:nvSpPr>
          <p:cNvPr id="9" name="Text 7"/>
          <p:cNvSpPr/>
          <p:nvPr/>
        </p:nvSpPr>
        <p:spPr>
          <a:xfrm>
            <a:off x="6303904" y="3077468"/>
            <a:ext cx="5232666" cy="1091505"/>
          </a:xfrm>
          <a:prstGeom prst="rect">
            <a:avLst/>
          </a:prstGeom>
          <a:noFill/>
          <a:ln/>
        </p:spPr>
        <p:txBody>
          <a:bodyPr wrap="square" lIns="0" tIns="0" rIns="0" bIns="0" rtlCol="0" anchor="t"/>
          <a:lstStyle/>
          <a:p>
            <a:pPr marL="0" indent="0" algn="l">
              <a:lnSpc>
                <a:spcPct val="133000"/>
              </a:lnSpc>
              <a:spcAft>
                <a:spcPts val="1150"/>
              </a:spcAft>
              <a:buNone/>
            </a:pPr>
            <a:r>
              <a:rPr lang="en-US" sz="1300" b="1" dirty="0">
                <a:solidFill>
                  <a:srgbClr val="333F70"/>
                </a:solidFill>
                <a:latin typeface="Open Sans Bold" pitchFamily="34" charset="0"/>
                <a:ea typeface="Open Sans Bold" pitchFamily="34" charset="-122"/>
                <a:cs typeface="Open Sans Bold" pitchFamily="34" charset="-120"/>
              </a:rPr>
              <a:t>Department:</a:t>
            </a:r>
            <a:r>
              <a:rPr lang="en-US" sz="1300" dirty="0">
                <a:solidFill>
                  <a:srgbClr val="333F70"/>
                </a:solidFill>
                <a:latin typeface="Open Sans" pitchFamily="34" charset="0"/>
                <a:ea typeface="Open Sans" pitchFamily="34" charset="-122"/>
                <a:cs typeface="Open Sans" pitchFamily="34" charset="-120"/>
              </a:rPr>
              <a:t> CSE</a:t>
            </a:r>
            <a:endParaRPr lang="en-US" sz="1300" dirty="0"/>
          </a:p>
          <a:p>
            <a:pPr marL="0" indent="0" algn="l">
              <a:lnSpc>
                <a:spcPct val="133000"/>
              </a:lnSpc>
              <a:spcAft>
                <a:spcPts val="1150"/>
              </a:spcAft>
              <a:buNone/>
            </a:pPr>
            <a:r>
              <a:rPr lang="en-US" sz="1300" b="1" dirty="0">
                <a:solidFill>
                  <a:srgbClr val="333F70"/>
                </a:solidFill>
                <a:latin typeface="Open Sans Bold" pitchFamily="34" charset="0"/>
                <a:ea typeface="Open Sans Bold" pitchFamily="34" charset="-122"/>
                <a:cs typeface="Open Sans Bold" pitchFamily="34" charset="-120"/>
              </a:rPr>
              <a:t>College / Institution:</a:t>
            </a:r>
            <a:r>
              <a:rPr lang="en-US" sz="1300" dirty="0">
                <a:solidFill>
                  <a:srgbClr val="333F70"/>
                </a:solidFill>
                <a:latin typeface="Open Sans" pitchFamily="34" charset="0"/>
                <a:ea typeface="Open Sans" pitchFamily="34" charset="-122"/>
                <a:cs typeface="Open Sans" pitchFamily="34" charset="-120"/>
              </a:rPr>
              <a:t> KLH Bachupally</a:t>
            </a:r>
            <a:endParaRPr lang="en-US" sz="1300" dirty="0"/>
          </a:p>
          <a:p>
            <a:pPr marL="0" indent="0" algn="l">
              <a:lnSpc>
                <a:spcPct val="133000"/>
              </a:lnSpc>
              <a:buNone/>
            </a:pPr>
            <a:r>
              <a:rPr lang="en-US" sz="1300" b="1" dirty="0">
                <a:solidFill>
                  <a:srgbClr val="333F70"/>
                </a:solidFill>
                <a:latin typeface="Open Sans Bold" pitchFamily="34" charset="0"/>
                <a:ea typeface="Open Sans Bold" pitchFamily="34" charset="-122"/>
                <a:cs typeface="Open Sans Bold" pitchFamily="34" charset="-120"/>
              </a:rPr>
              <a:t>Academic Year:</a:t>
            </a:r>
            <a:r>
              <a:rPr lang="en-US" sz="1300" dirty="0">
                <a:solidFill>
                  <a:srgbClr val="333F70"/>
                </a:solidFill>
                <a:latin typeface="Open Sans" pitchFamily="34" charset="0"/>
                <a:ea typeface="Open Sans" pitchFamily="34" charset="-122"/>
                <a:cs typeface="Open Sans" pitchFamily="34" charset="-120"/>
              </a:rPr>
              <a:t> 2026 - 2027</a:t>
            </a:r>
            <a:endParaRPr lang="en-US" sz="1300" dirty="0"/>
          </a:p>
        </p:txBody>
      </p:sp>
      <p:sp>
        <p:nvSpPr>
          <p:cNvPr id="10" name="Shape 8"/>
          <p:cNvSpPr/>
          <p:nvPr/>
        </p:nvSpPr>
        <p:spPr>
          <a:xfrm>
            <a:off x="661475" y="5297686"/>
            <a:ext cx="2593216" cy="965597"/>
          </a:xfrm>
          <a:prstGeom prst="roundRect">
            <a:avLst>
              <a:gd name="adj" fmla="val 7194"/>
            </a:avLst>
          </a:prstGeom>
          <a:solidFill>
            <a:srgbClr val="D6F5EE"/>
          </a:solidFill>
          <a:ln w="6350">
            <a:solidFill>
              <a:srgbClr val="BCDBD4"/>
            </a:solidFill>
            <a:prstDash val="solid"/>
          </a:ln>
        </p:spPr>
      </p:sp>
      <p:sp>
        <p:nvSpPr>
          <p:cNvPr id="11" name="Text 9"/>
          <p:cNvSpPr/>
          <p:nvPr/>
        </p:nvSpPr>
        <p:spPr>
          <a:xfrm>
            <a:off x="833119" y="5469334"/>
            <a:ext cx="2249927" cy="258465"/>
          </a:xfrm>
          <a:prstGeom prst="rect">
            <a:avLst/>
          </a:prstGeom>
          <a:noFill/>
          <a:ln/>
        </p:spPr>
        <p:txBody>
          <a:bodyPr wrap="none" lIns="0" tIns="0" rIns="0" bIns="0" rtlCol="0" anchor="t"/>
          <a:lstStyle/>
          <a:p>
            <a:pPr marL="0" indent="0" algn="l">
              <a:lnSpc>
                <a:spcPct val="104000"/>
              </a:lnSpc>
              <a:buNone/>
            </a:pPr>
            <a:r>
              <a:rPr lang="en-US" sz="1600" b="1" dirty="0">
                <a:solidFill>
                  <a:srgbClr val="333F70"/>
                </a:solidFill>
                <a:latin typeface="Unbounded Bold" pitchFamily="34" charset="0"/>
                <a:ea typeface="Unbounded Bold" pitchFamily="34" charset="-122"/>
                <a:cs typeface="Unbounded Bold" pitchFamily="34" charset="-120"/>
              </a:rPr>
              <a:t>Domain</a:t>
            </a:r>
            <a:endParaRPr lang="en-US" sz="1600" dirty="0"/>
          </a:p>
        </p:txBody>
      </p:sp>
      <p:sp>
        <p:nvSpPr>
          <p:cNvPr id="12" name="Text 10"/>
          <p:cNvSpPr/>
          <p:nvPr/>
        </p:nvSpPr>
        <p:spPr>
          <a:xfrm>
            <a:off x="833119" y="5827018"/>
            <a:ext cx="2249927" cy="264616"/>
          </a:xfrm>
          <a:prstGeom prst="rect">
            <a:avLst/>
          </a:prstGeom>
          <a:noFill/>
          <a:ln/>
        </p:spPr>
        <p:txBody>
          <a:bodyPr wrap="none" lIns="0" tIns="0" rIns="0" bIns="0" rtlCol="0" anchor="t"/>
          <a:lstStyle/>
          <a:p>
            <a:pPr marL="0" indent="0" algn="l">
              <a:lnSpc>
                <a:spcPct val="133000"/>
              </a:lnSpc>
              <a:buNone/>
            </a:pPr>
            <a:r>
              <a:rPr lang="en-US" sz="1300" dirty="0">
                <a:solidFill>
                  <a:srgbClr val="333F70"/>
                </a:solidFill>
                <a:latin typeface="Open Sans" pitchFamily="34" charset="0"/>
                <a:ea typeface="Open Sans" pitchFamily="34" charset="-122"/>
                <a:cs typeface="Open Sans" pitchFamily="34" charset="-120"/>
              </a:rPr>
              <a:t>Digital Logic Design</a:t>
            </a:r>
            <a:endParaRPr lang="en-US" sz="1300" dirty="0"/>
          </a:p>
        </p:txBody>
      </p:sp>
      <p:sp>
        <p:nvSpPr>
          <p:cNvPr id="13" name="Shape 11"/>
          <p:cNvSpPr/>
          <p:nvPr/>
        </p:nvSpPr>
        <p:spPr>
          <a:xfrm>
            <a:off x="3419985" y="5297686"/>
            <a:ext cx="2593216" cy="965597"/>
          </a:xfrm>
          <a:prstGeom prst="roundRect">
            <a:avLst>
              <a:gd name="adj" fmla="val 7194"/>
            </a:avLst>
          </a:prstGeom>
          <a:solidFill>
            <a:srgbClr val="D6F5EE"/>
          </a:solidFill>
          <a:ln w="6350">
            <a:solidFill>
              <a:srgbClr val="BCDBD4"/>
            </a:solidFill>
            <a:prstDash val="solid"/>
          </a:ln>
        </p:spPr>
      </p:sp>
      <p:sp>
        <p:nvSpPr>
          <p:cNvPr id="14" name="Text 12"/>
          <p:cNvSpPr/>
          <p:nvPr/>
        </p:nvSpPr>
        <p:spPr>
          <a:xfrm>
            <a:off x="3591629" y="5469334"/>
            <a:ext cx="2249927" cy="258465"/>
          </a:xfrm>
          <a:prstGeom prst="rect">
            <a:avLst/>
          </a:prstGeom>
          <a:noFill/>
          <a:ln/>
        </p:spPr>
        <p:txBody>
          <a:bodyPr wrap="none" lIns="0" tIns="0" rIns="0" bIns="0" rtlCol="0" anchor="t"/>
          <a:lstStyle/>
          <a:p>
            <a:pPr marL="0" indent="0" algn="l">
              <a:lnSpc>
                <a:spcPct val="104000"/>
              </a:lnSpc>
              <a:buNone/>
            </a:pPr>
            <a:r>
              <a:rPr lang="en-US" sz="1600" b="1" dirty="0">
                <a:solidFill>
                  <a:srgbClr val="333F70"/>
                </a:solidFill>
                <a:latin typeface="Unbounded Bold" pitchFamily="34" charset="0"/>
                <a:ea typeface="Unbounded Bold" pitchFamily="34" charset="-122"/>
                <a:cs typeface="Unbounded Bold" pitchFamily="34" charset="-120"/>
              </a:rPr>
              <a:t>Scope</a:t>
            </a:r>
            <a:endParaRPr lang="en-US" sz="1600" dirty="0"/>
          </a:p>
        </p:txBody>
      </p:sp>
      <p:sp>
        <p:nvSpPr>
          <p:cNvPr id="15" name="Text 13"/>
          <p:cNvSpPr/>
          <p:nvPr/>
        </p:nvSpPr>
        <p:spPr>
          <a:xfrm>
            <a:off x="3591629" y="5827018"/>
            <a:ext cx="2249927" cy="264616"/>
          </a:xfrm>
          <a:prstGeom prst="rect">
            <a:avLst/>
          </a:prstGeom>
          <a:noFill/>
          <a:ln/>
        </p:spPr>
        <p:txBody>
          <a:bodyPr wrap="none" lIns="0" tIns="0" rIns="0" bIns="0" rtlCol="0" anchor="t"/>
          <a:lstStyle/>
          <a:p>
            <a:pPr marL="0" indent="0" algn="l">
              <a:lnSpc>
                <a:spcPct val="133000"/>
              </a:lnSpc>
              <a:buNone/>
            </a:pPr>
            <a:r>
              <a:rPr lang="en-US" sz="1300" dirty="0">
                <a:solidFill>
                  <a:srgbClr val="333F70"/>
                </a:solidFill>
                <a:latin typeface="Open Sans" pitchFamily="34" charset="0"/>
                <a:ea typeface="Open Sans" pitchFamily="34" charset="-122"/>
                <a:cs typeface="Open Sans" pitchFamily="34" charset="-120"/>
              </a:rPr>
              <a:t>4-Bit Binary Arithmetic</a:t>
            </a:r>
            <a:endParaRPr lang="en-US" sz="1300" dirty="0"/>
          </a:p>
        </p:txBody>
      </p:sp>
      <p:sp>
        <p:nvSpPr>
          <p:cNvPr id="16" name="Shape 14"/>
          <p:cNvSpPr/>
          <p:nvPr/>
        </p:nvSpPr>
        <p:spPr>
          <a:xfrm>
            <a:off x="6178495" y="5297686"/>
            <a:ext cx="2593216" cy="965597"/>
          </a:xfrm>
          <a:prstGeom prst="roundRect">
            <a:avLst>
              <a:gd name="adj" fmla="val 7194"/>
            </a:avLst>
          </a:prstGeom>
          <a:solidFill>
            <a:srgbClr val="D6F5EE"/>
          </a:solidFill>
          <a:ln w="6350">
            <a:solidFill>
              <a:srgbClr val="BCDBD4"/>
            </a:solidFill>
            <a:prstDash val="solid"/>
          </a:ln>
        </p:spPr>
      </p:sp>
      <p:sp>
        <p:nvSpPr>
          <p:cNvPr id="17" name="Text 15"/>
          <p:cNvSpPr/>
          <p:nvPr/>
        </p:nvSpPr>
        <p:spPr>
          <a:xfrm>
            <a:off x="6350139" y="5469334"/>
            <a:ext cx="2249927" cy="258465"/>
          </a:xfrm>
          <a:prstGeom prst="rect">
            <a:avLst/>
          </a:prstGeom>
          <a:noFill/>
          <a:ln/>
        </p:spPr>
        <p:txBody>
          <a:bodyPr wrap="none" lIns="0" tIns="0" rIns="0" bIns="0" rtlCol="0" anchor="t"/>
          <a:lstStyle/>
          <a:p>
            <a:pPr marL="0" indent="0" algn="l">
              <a:lnSpc>
                <a:spcPct val="104000"/>
              </a:lnSpc>
              <a:buNone/>
            </a:pPr>
            <a:r>
              <a:rPr lang="en-US" sz="1600" b="1" dirty="0">
                <a:solidFill>
                  <a:srgbClr val="333F70"/>
                </a:solidFill>
                <a:latin typeface="Unbounded Bold" pitchFamily="34" charset="0"/>
                <a:ea typeface="Unbounded Bold" pitchFamily="34" charset="-122"/>
                <a:cs typeface="Unbounded Bold" pitchFamily="34" charset="-120"/>
              </a:rPr>
              <a:t>Tool</a:t>
            </a:r>
            <a:endParaRPr lang="en-US" sz="1600" dirty="0"/>
          </a:p>
        </p:txBody>
      </p:sp>
      <p:sp>
        <p:nvSpPr>
          <p:cNvPr id="18" name="Text 16"/>
          <p:cNvSpPr/>
          <p:nvPr/>
        </p:nvSpPr>
        <p:spPr>
          <a:xfrm>
            <a:off x="6350139" y="5827018"/>
            <a:ext cx="2249927" cy="264616"/>
          </a:xfrm>
          <a:prstGeom prst="rect">
            <a:avLst/>
          </a:prstGeom>
          <a:noFill/>
          <a:ln/>
        </p:spPr>
        <p:txBody>
          <a:bodyPr wrap="none" lIns="0" tIns="0" rIns="0" bIns="0" rtlCol="0" anchor="t"/>
          <a:lstStyle/>
          <a:p>
            <a:pPr marL="0" indent="0" algn="l">
              <a:lnSpc>
                <a:spcPct val="133000"/>
              </a:lnSpc>
              <a:buNone/>
            </a:pPr>
            <a:r>
              <a:rPr lang="en-US" sz="1300" dirty="0">
                <a:solidFill>
                  <a:srgbClr val="333F70"/>
                </a:solidFill>
                <a:latin typeface="Open Sans" pitchFamily="34" charset="0"/>
                <a:ea typeface="Open Sans" pitchFamily="34" charset="-122"/>
                <a:cs typeface="Open Sans" pitchFamily="34" charset="-120"/>
              </a:rPr>
              <a:t>Logisim / Digital Simulator</a:t>
            </a:r>
            <a:endParaRPr lang="en-US" sz="1300" dirty="0"/>
          </a:p>
        </p:txBody>
      </p:sp>
      <p:sp>
        <p:nvSpPr>
          <p:cNvPr id="19" name="Shape 17"/>
          <p:cNvSpPr/>
          <p:nvPr/>
        </p:nvSpPr>
        <p:spPr>
          <a:xfrm>
            <a:off x="8937005" y="5297686"/>
            <a:ext cx="2593216" cy="965597"/>
          </a:xfrm>
          <a:prstGeom prst="roundRect">
            <a:avLst>
              <a:gd name="adj" fmla="val 7194"/>
            </a:avLst>
          </a:prstGeom>
          <a:solidFill>
            <a:srgbClr val="D6F5EE"/>
          </a:solidFill>
          <a:ln w="6350">
            <a:solidFill>
              <a:srgbClr val="BCDBD4"/>
            </a:solidFill>
            <a:prstDash val="solid"/>
          </a:ln>
        </p:spPr>
      </p:sp>
      <p:sp>
        <p:nvSpPr>
          <p:cNvPr id="20" name="Text 18"/>
          <p:cNvSpPr/>
          <p:nvPr/>
        </p:nvSpPr>
        <p:spPr>
          <a:xfrm>
            <a:off x="9108649" y="5469334"/>
            <a:ext cx="2249927" cy="258465"/>
          </a:xfrm>
          <a:prstGeom prst="rect">
            <a:avLst/>
          </a:prstGeom>
          <a:noFill/>
          <a:ln/>
        </p:spPr>
        <p:txBody>
          <a:bodyPr wrap="none" lIns="0" tIns="0" rIns="0" bIns="0" rtlCol="0" anchor="t"/>
          <a:lstStyle/>
          <a:p>
            <a:pPr marL="0" indent="0" algn="l">
              <a:lnSpc>
                <a:spcPct val="104000"/>
              </a:lnSpc>
              <a:buNone/>
            </a:pPr>
            <a:r>
              <a:rPr lang="en-US" sz="1600" b="1" dirty="0">
                <a:solidFill>
                  <a:srgbClr val="333F70"/>
                </a:solidFill>
                <a:latin typeface="Unbounded Bold" pitchFamily="34" charset="0"/>
                <a:ea typeface="Unbounded Bold" pitchFamily="34" charset="-122"/>
                <a:cs typeface="Unbounded Bold" pitchFamily="34" charset="-120"/>
              </a:rPr>
              <a:t>Type</a:t>
            </a:r>
            <a:endParaRPr lang="en-US" sz="1600" dirty="0"/>
          </a:p>
        </p:txBody>
      </p:sp>
      <p:sp>
        <p:nvSpPr>
          <p:cNvPr id="21" name="Text 19"/>
          <p:cNvSpPr/>
          <p:nvPr/>
        </p:nvSpPr>
        <p:spPr>
          <a:xfrm>
            <a:off x="9108649" y="5827018"/>
            <a:ext cx="2249927" cy="264616"/>
          </a:xfrm>
          <a:prstGeom prst="rect">
            <a:avLst/>
          </a:prstGeom>
          <a:noFill/>
          <a:ln/>
        </p:spPr>
        <p:txBody>
          <a:bodyPr wrap="none" lIns="0" tIns="0" rIns="0" bIns="0" rtlCol="0" anchor="t"/>
          <a:lstStyle/>
          <a:p>
            <a:pPr marL="0" indent="0" algn="l">
              <a:lnSpc>
                <a:spcPct val="133000"/>
              </a:lnSpc>
              <a:buNone/>
            </a:pPr>
            <a:r>
              <a:rPr lang="en-US" sz="1300" dirty="0">
                <a:solidFill>
                  <a:srgbClr val="333F70"/>
                </a:solidFill>
                <a:latin typeface="Open Sans" pitchFamily="34" charset="0"/>
                <a:ea typeface="Open Sans" pitchFamily="34" charset="-122"/>
                <a:cs typeface="Open Sans" pitchFamily="34" charset="-120"/>
              </a:rPr>
              <a:t>Gate-Level Implementation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661475" y="504230"/>
            <a:ext cx="796409" cy="235446"/>
          </a:xfrm>
          <a:prstGeom prst="roundRect">
            <a:avLst>
              <a:gd name="adj" fmla="val 22127"/>
            </a:avLst>
          </a:prstGeom>
          <a:solidFill>
            <a:srgbClr val="D6F5EE"/>
          </a:solidFill>
          <a:ln/>
        </p:spPr>
      </p:sp>
      <p:sp>
        <p:nvSpPr>
          <p:cNvPr id="3" name="Text 1"/>
          <p:cNvSpPr/>
          <p:nvPr/>
        </p:nvSpPr>
        <p:spPr>
          <a:xfrm>
            <a:off x="754441" y="550664"/>
            <a:ext cx="1220062" cy="142577"/>
          </a:xfrm>
          <a:prstGeom prst="rect">
            <a:avLst/>
          </a:prstGeom>
          <a:noFill/>
          <a:ln/>
        </p:spPr>
        <p:txBody>
          <a:bodyPr wrap="none" lIns="0" tIns="0" rIns="0" bIns="0" rtlCol="0" anchor="t"/>
          <a:lstStyle/>
          <a:p>
            <a:pPr marL="0" indent="0" algn="l">
              <a:lnSpc>
                <a:spcPct val="96000"/>
              </a:lnSpc>
              <a:buNone/>
            </a:pPr>
            <a:r>
              <a:rPr lang="en-US" sz="950" dirty="0">
                <a:solidFill>
                  <a:srgbClr val="333F70"/>
                </a:solidFill>
                <a:latin typeface="Open Sans" pitchFamily="34" charset="0"/>
                <a:ea typeface="Open Sans" pitchFamily="34" charset="-122"/>
                <a:cs typeface="Open Sans" pitchFamily="34" charset="-120"/>
              </a:rPr>
              <a:t>SECTION 1</a:t>
            </a:r>
            <a:endParaRPr lang="en-US" sz="950" dirty="0"/>
          </a:p>
        </p:txBody>
      </p:sp>
      <p:sp>
        <p:nvSpPr>
          <p:cNvPr id="4" name="Text 2"/>
          <p:cNvSpPr/>
          <p:nvPr/>
        </p:nvSpPr>
        <p:spPr>
          <a:xfrm>
            <a:off x="661475" y="797818"/>
            <a:ext cx="10868745" cy="484485"/>
          </a:xfrm>
          <a:prstGeom prst="rect">
            <a:avLst/>
          </a:prstGeom>
          <a:noFill/>
          <a:ln/>
        </p:spPr>
        <p:txBody>
          <a:bodyPr wrap="none" lIns="0" tIns="0" rIns="0" bIns="0" rtlCol="0" anchor="t"/>
          <a:lstStyle/>
          <a:p>
            <a:pPr marL="0" indent="0" algn="l">
              <a:lnSpc>
                <a:spcPct val="104000"/>
              </a:lnSpc>
              <a:buNone/>
            </a:pPr>
            <a:r>
              <a:rPr lang="en-US" sz="3050" b="1" dirty="0">
                <a:solidFill>
                  <a:srgbClr val="333F70"/>
                </a:solidFill>
                <a:latin typeface="Unbounded Bold" pitchFamily="34" charset="0"/>
                <a:ea typeface="Unbounded Bold" pitchFamily="34" charset="-122"/>
                <a:cs typeface="Unbounded Bold" pitchFamily="34" charset="-120"/>
              </a:rPr>
              <a:t>Introduction</a:t>
            </a:r>
            <a:endParaRPr lang="en-US" sz="3050" dirty="0"/>
          </a:p>
        </p:txBody>
      </p:sp>
      <p:sp>
        <p:nvSpPr>
          <p:cNvPr id="5" name="Text 3"/>
          <p:cNvSpPr/>
          <p:nvPr/>
        </p:nvSpPr>
        <p:spPr>
          <a:xfrm>
            <a:off x="661475" y="1645642"/>
            <a:ext cx="5245266" cy="242193"/>
          </a:xfrm>
          <a:prstGeom prst="rect">
            <a:avLst/>
          </a:prstGeom>
          <a:noFill/>
          <a:ln/>
        </p:spPr>
        <p:txBody>
          <a:bodyPr wrap="none" lIns="0" tIns="0" rIns="0" bIns="0" rtlCol="0" anchor="t"/>
          <a:lstStyle/>
          <a:p>
            <a:pPr marL="0" indent="0" algn="l">
              <a:lnSpc>
                <a:spcPct val="104000"/>
              </a:lnSpc>
              <a:buNone/>
            </a:pPr>
            <a:r>
              <a:rPr lang="en-US" sz="1500" b="1" dirty="0">
                <a:solidFill>
                  <a:srgbClr val="333F70"/>
                </a:solidFill>
                <a:latin typeface="Unbounded Bold" pitchFamily="34" charset="0"/>
                <a:ea typeface="Unbounded Bold" pitchFamily="34" charset="-122"/>
                <a:cs typeface="Unbounded Bold" pitchFamily="34" charset="-120"/>
              </a:rPr>
              <a:t>Background of Digital Logic Design</a:t>
            </a:r>
            <a:endParaRPr lang="en-US" sz="1500" dirty="0"/>
          </a:p>
        </p:txBody>
      </p:sp>
      <p:sp>
        <p:nvSpPr>
          <p:cNvPr id="6" name="Text 4"/>
          <p:cNvSpPr/>
          <p:nvPr/>
        </p:nvSpPr>
        <p:spPr>
          <a:xfrm>
            <a:off x="661475" y="2033191"/>
            <a:ext cx="5245266" cy="1201539"/>
          </a:xfrm>
          <a:prstGeom prst="rect">
            <a:avLst/>
          </a:prstGeom>
          <a:noFill/>
          <a:ln/>
        </p:spPr>
        <p:txBody>
          <a:bodyPr wrap="square" lIns="0" tIns="0" rIns="0" bIns="0" rtlCol="0" anchor="t">
            <a:normAutofit/>
          </a:bodyPr>
          <a:lstStyle/>
          <a:p>
            <a:pPr marL="0" indent="0" algn="l">
              <a:lnSpc>
                <a:spcPct val="129000"/>
              </a:lnSpc>
              <a:buNone/>
            </a:pPr>
            <a:r>
              <a:rPr lang="en-US" sz="1200" dirty="0">
                <a:solidFill>
                  <a:srgbClr val="333F70"/>
                </a:solidFill>
                <a:latin typeface="Open Sans" pitchFamily="34" charset="0"/>
                <a:ea typeface="Open Sans" pitchFamily="34" charset="-122"/>
                <a:cs typeface="Open Sans" pitchFamily="34" charset="-120"/>
              </a:rPr>
              <a:t>All modern computing systems are founded on </a:t>
            </a:r>
            <a:r>
              <a:rPr lang="en-US" sz="1200" b="1" dirty="0">
                <a:solidFill>
                  <a:srgbClr val="333F70"/>
                </a:solidFill>
                <a:latin typeface="Open Sans Bold" pitchFamily="34" charset="0"/>
                <a:ea typeface="Open Sans Bold" pitchFamily="34" charset="-122"/>
                <a:cs typeface="Open Sans Bold" pitchFamily="34" charset="-120"/>
              </a:rPr>
              <a:t>digital logic design</a:t>
            </a:r>
            <a:r>
              <a:rPr lang="en-US" sz="1200" dirty="0">
                <a:solidFill>
                  <a:srgbClr val="333F70"/>
                </a:solidFill>
                <a:latin typeface="Open Sans" pitchFamily="34" charset="0"/>
                <a:ea typeface="Open Sans" pitchFamily="34" charset="-122"/>
                <a:cs typeface="Open Sans" pitchFamily="34" charset="-120"/>
              </a:rPr>
              <a:t> — the discipline of constructing circuits from elementary logic gates (AND, OR, NOT) that perform Boolean operations. Every processor, memory unit, and communication interface ultimately reduces to combinations of these primitives following Boolean algebra rules.</a:t>
            </a:r>
            <a:endParaRPr lang="en-US" sz="1200" dirty="0"/>
          </a:p>
        </p:txBody>
      </p:sp>
      <p:sp>
        <p:nvSpPr>
          <p:cNvPr id="7" name="Text 5"/>
          <p:cNvSpPr/>
          <p:nvPr/>
        </p:nvSpPr>
        <p:spPr>
          <a:xfrm>
            <a:off x="661475" y="3380085"/>
            <a:ext cx="5245266" cy="242193"/>
          </a:xfrm>
          <a:prstGeom prst="rect">
            <a:avLst/>
          </a:prstGeom>
          <a:noFill/>
          <a:ln/>
        </p:spPr>
        <p:txBody>
          <a:bodyPr wrap="none" lIns="0" tIns="0" rIns="0" bIns="0" rtlCol="0" anchor="t"/>
          <a:lstStyle/>
          <a:p>
            <a:pPr marL="0" indent="0" algn="l">
              <a:lnSpc>
                <a:spcPct val="104000"/>
              </a:lnSpc>
              <a:buNone/>
            </a:pPr>
            <a:r>
              <a:rPr lang="en-US" sz="1500" b="1" dirty="0">
                <a:solidFill>
                  <a:srgbClr val="333F70"/>
                </a:solidFill>
                <a:latin typeface="Unbounded Bold" pitchFamily="34" charset="0"/>
                <a:ea typeface="Unbounded Bold" pitchFamily="34" charset="-122"/>
                <a:cs typeface="Unbounded Bold" pitchFamily="34" charset="-120"/>
              </a:rPr>
              <a:t>Binary Arithmetic as the Native Language</a:t>
            </a:r>
            <a:endParaRPr lang="en-US" sz="1500" dirty="0"/>
          </a:p>
        </p:txBody>
      </p:sp>
      <p:sp>
        <p:nvSpPr>
          <p:cNvPr id="8" name="Text 6"/>
          <p:cNvSpPr/>
          <p:nvPr/>
        </p:nvSpPr>
        <p:spPr>
          <a:xfrm>
            <a:off x="661475" y="3767634"/>
            <a:ext cx="5245266" cy="1201539"/>
          </a:xfrm>
          <a:prstGeom prst="rect">
            <a:avLst/>
          </a:prstGeom>
          <a:noFill/>
          <a:ln/>
        </p:spPr>
        <p:txBody>
          <a:bodyPr wrap="square" lIns="0" tIns="0" rIns="0" bIns="0" rtlCol="0" anchor="t">
            <a:normAutofit/>
          </a:bodyPr>
          <a:lstStyle/>
          <a:p>
            <a:pPr marL="0" indent="0" algn="l">
              <a:lnSpc>
                <a:spcPct val="129000"/>
              </a:lnSpc>
              <a:buNone/>
            </a:pPr>
            <a:r>
              <a:rPr lang="en-US" sz="1200" dirty="0">
                <a:solidFill>
                  <a:srgbClr val="333F70"/>
                </a:solidFill>
                <a:latin typeface="Open Sans" pitchFamily="34" charset="0"/>
                <a:ea typeface="Open Sans" pitchFamily="34" charset="-122"/>
                <a:cs typeface="Open Sans" pitchFamily="34" charset="-120"/>
              </a:rPr>
              <a:t>Digital systems communicate exclusively in binary. All computation — from simple addition to floating-point operations — reduces to </a:t>
            </a:r>
            <a:r>
              <a:rPr lang="en-US" sz="1200" b="1" dirty="0">
                <a:solidFill>
                  <a:srgbClr val="26A688"/>
                </a:solidFill>
                <a:latin typeface="Open Sans Bold" pitchFamily="34" charset="0"/>
                <a:ea typeface="Open Sans Bold" pitchFamily="34" charset="-122"/>
                <a:cs typeface="Open Sans Bold" pitchFamily="34" charset="-120"/>
              </a:rPr>
              <a:t>binary addition and subtraction</a:t>
            </a:r>
            <a:r>
              <a:rPr lang="en-US" sz="1200" dirty="0">
                <a:solidFill>
                  <a:srgbClr val="333F70"/>
                </a:solidFill>
                <a:latin typeface="Open Sans" pitchFamily="34" charset="0"/>
                <a:ea typeface="Open Sans" pitchFamily="34" charset="-122"/>
                <a:cs typeface="Open Sans" pitchFamily="34" charset="-120"/>
              </a:rPr>
              <a:t> at the hardware level. Understanding binary arithmetic is therefore the gateway to understanding all digital computation.</a:t>
            </a:r>
            <a:endParaRPr lang="en-US" sz="1200" dirty="0"/>
          </a:p>
        </p:txBody>
      </p:sp>
      <p:sp>
        <p:nvSpPr>
          <p:cNvPr id="9" name="Text 7"/>
          <p:cNvSpPr/>
          <p:nvPr/>
        </p:nvSpPr>
        <p:spPr>
          <a:xfrm>
            <a:off x="661475" y="5114528"/>
            <a:ext cx="5245266" cy="242193"/>
          </a:xfrm>
          <a:prstGeom prst="rect">
            <a:avLst/>
          </a:prstGeom>
          <a:noFill/>
          <a:ln/>
        </p:spPr>
        <p:txBody>
          <a:bodyPr wrap="none" lIns="0" tIns="0" rIns="0" bIns="0" rtlCol="0" anchor="t"/>
          <a:lstStyle/>
          <a:p>
            <a:pPr marL="0" indent="0" algn="l">
              <a:lnSpc>
                <a:spcPct val="104000"/>
              </a:lnSpc>
              <a:buNone/>
            </a:pPr>
            <a:r>
              <a:rPr lang="en-US" sz="1500" b="1" dirty="0">
                <a:solidFill>
                  <a:srgbClr val="333F70"/>
                </a:solidFill>
                <a:latin typeface="Unbounded Bold" pitchFamily="34" charset="0"/>
                <a:ea typeface="Unbounded Bold" pitchFamily="34" charset="-122"/>
                <a:cs typeface="Unbounded Bold" pitchFamily="34" charset="-120"/>
              </a:rPr>
              <a:t>Input → Process → Output Model</a:t>
            </a:r>
            <a:endParaRPr lang="en-US" sz="1500" dirty="0"/>
          </a:p>
        </p:txBody>
      </p:sp>
      <p:sp>
        <p:nvSpPr>
          <p:cNvPr id="10" name="Text 8"/>
          <p:cNvSpPr/>
          <p:nvPr/>
        </p:nvSpPr>
        <p:spPr>
          <a:xfrm>
            <a:off x="661475" y="5502077"/>
            <a:ext cx="5245266" cy="720923"/>
          </a:xfrm>
          <a:prstGeom prst="rect">
            <a:avLst/>
          </a:prstGeom>
          <a:noFill/>
          <a:ln/>
        </p:spPr>
        <p:txBody>
          <a:bodyPr wrap="square" lIns="0" tIns="0" rIns="0" bIns="0" rtlCol="0" anchor="t">
            <a:normAutofit/>
          </a:bodyPr>
          <a:lstStyle/>
          <a:p>
            <a:pPr marL="0" indent="0" algn="l">
              <a:lnSpc>
                <a:spcPct val="129000"/>
              </a:lnSpc>
              <a:buNone/>
            </a:pPr>
            <a:r>
              <a:rPr lang="en-US" sz="1200" dirty="0">
                <a:solidFill>
                  <a:srgbClr val="333F70"/>
                </a:solidFill>
                <a:latin typeface="Open Sans" pitchFamily="34" charset="0"/>
                <a:ea typeface="Open Sans" pitchFamily="34" charset="-122"/>
                <a:cs typeface="Open Sans" pitchFamily="34" charset="-120"/>
              </a:rPr>
              <a:t>Every digital system follows this fundamental paradigm: accept binary inputs, perform logic operations, and produce outputs. The arithmetic calculator studied in this project is a pure embodiment of this model.</a:t>
            </a:r>
            <a:endParaRPr lang="en-US" sz="1200" dirty="0"/>
          </a:p>
        </p:txBody>
      </p:sp>
      <p:sp>
        <p:nvSpPr>
          <p:cNvPr id="11" name="Text 9"/>
          <p:cNvSpPr/>
          <p:nvPr/>
        </p:nvSpPr>
        <p:spPr>
          <a:xfrm>
            <a:off x="6291304" y="1645642"/>
            <a:ext cx="5245266" cy="484386"/>
          </a:xfrm>
          <a:prstGeom prst="rect">
            <a:avLst/>
          </a:prstGeom>
          <a:noFill/>
          <a:ln/>
        </p:spPr>
        <p:txBody>
          <a:bodyPr wrap="square" lIns="0" tIns="0" rIns="0" bIns="0" rtlCol="0" anchor="t">
            <a:normAutofit/>
          </a:bodyPr>
          <a:lstStyle/>
          <a:p>
            <a:pPr marL="0" indent="0" algn="l">
              <a:lnSpc>
                <a:spcPct val="104000"/>
              </a:lnSpc>
              <a:buNone/>
            </a:pPr>
            <a:r>
              <a:rPr lang="en-US" sz="1500" b="1" dirty="0">
                <a:solidFill>
                  <a:srgbClr val="333F70"/>
                </a:solidFill>
                <a:latin typeface="Unbounded Bold" pitchFamily="34" charset="0"/>
                <a:ea typeface="Unbounded Bold" pitchFamily="34" charset="-122"/>
                <a:cs typeface="Unbounded Bold" pitchFamily="34" charset="-120"/>
              </a:rPr>
              <a:t>Why Arithmetic Calculators Are Foundational</a:t>
            </a:r>
            <a:endParaRPr lang="en-US" sz="1500" dirty="0"/>
          </a:p>
        </p:txBody>
      </p:sp>
      <p:sp>
        <p:nvSpPr>
          <p:cNvPr id="12" name="Text 10"/>
          <p:cNvSpPr/>
          <p:nvPr/>
        </p:nvSpPr>
        <p:spPr>
          <a:xfrm>
            <a:off x="6291304" y="2275384"/>
            <a:ext cx="5245266" cy="961231"/>
          </a:xfrm>
          <a:prstGeom prst="rect">
            <a:avLst/>
          </a:prstGeom>
          <a:noFill/>
          <a:ln/>
        </p:spPr>
        <p:txBody>
          <a:bodyPr wrap="square" lIns="0" tIns="0" rIns="0" bIns="0" rtlCol="0" anchor="t">
            <a:normAutofit/>
          </a:bodyPr>
          <a:lstStyle/>
          <a:p>
            <a:pPr marL="0" indent="0" algn="l">
              <a:lnSpc>
                <a:spcPct val="129000"/>
              </a:lnSpc>
              <a:buNone/>
            </a:pPr>
            <a:r>
              <a:rPr lang="en-US" sz="1200" dirty="0">
                <a:solidFill>
                  <a:srgbClr val="333F70"/>
                </a:solidFill>
                <a:latin typeface="Open Sans" pitchFamily="34" charset="0"/>
                <a:ea typeface="Open Sans" pitchFamily="34" charset="-122"/>
                <a:cs typeface="Open Sans" pitchFamily="34" charset="-120"/>
              </a:rPr>
              <a:t>The arithmetic logic unit (ALU) is the computational heart of every CPU. Hardware-level arithmetic circuits are the </a:t>
            </a:r>
            <a:r>
              <a:rPr lang="en-US" sz="1200" b="1" dirty="0">
                <a:solidFill>
                  <a:srgbClr val="333F70"/>
                </a:solidFill>
                <a:latin typeface="Open Sans Bold" pitchFamily="34" charset="0"/>
                <a:ea typeface="Open Sans Bold" pitchFamily="34" charset="-122"/>
                <a:cs typeface="Open Sans Bold" pitchFamily="34" charset="-120"/>
              </a:rPr>
              <a:t>core building blocks</a:t>
            </a:r>
            <a:r>
              <a:rPr lang="en-US" sz="1200" dirty="0">
                <a:solidFill>
                  <a:srgbClr val="333F70"/>
                </a:solidFill>
                <a:latin typeface="Open Sans" pitchFamily="34" charset="0"/>
                <a:ea typeface="Open Sans" pitchFamily="34" charset="-122"/>
                <a:cs typeface="Open Sans" pitchFamily="34" charset="-120"/>
              </a:rPr>
              <a:t> of ALUs, and mastering their design is essential to understanding computer architecture at a fundamental level.</a:t>
            </a:r>
            <a:endParaRPr lang="en-US" sz="1200" dirty="0"/>
          </a:p>
        </p:txBody>
      </p:sp>
      <p:sp>
        <p:nvSpPr>
          <p:cNvPr id="13" name="Shape 11"/>
          <p:cNvSpPr/>
          <p:nvPr/>
        </p:nvSpPr>
        <p:spPr>
          <a:xfrm>
            <a:off x="6291304" y="3400127"/>
            <a:ext cx="5245266" cy="1059855"/>
          </a:xfrm>
          <a:prstGeom prst="roundRect">
            <a:avLst>
              <a:gd name="adj" fmla="val 6144"/>
            </a:avLst>
          </a:prstGeom>
          <a:solidFill>
            <a:srgbClr val="D6F5EE"/>
          </a:solidFill>
          <a:ln/>
        </p:spPr>
      </p:sp>
      <p:pic>
        <p:nvPicPr>
          <p:cNvPr id="14" name="Image 0" descr="preencoded.png"/>
          <p:cNvPicPr>
            <a:picLocks noChangeAspect="1"/>
          </p:cNvPicPr>
          <p:nvPr/>
        </p:nvPicPr>
        <p:blipFill>
          <a:blip r:embed="rId3"/>
          <a:stretch>
            <a:fillRect/>
          </a:stretch>
        </p:blipFill>
        <p:spPr>
          <a:xfrm>
            <a:off x="6446279" y="3626346"/>
            <a:ext cx="193769" cy="154980"/>
          </a:xfrm>
          <a:prstGeom prst="rect">
            <a:avLst/>
          </a:prstGeom>
        </p:spPr>
      </p:pic>
      <p:sp>
        <p:nvSpPr>
          <p:cNvPr id="15" name="Text 12"/>
          <p:cNvSpPr/>
          <p:nvPr/>
        </p:nvSpPr>
        <p:spPr>
          <a:xfrm>
            <a:off x="6795025" y="3569593"/>
            <a:ext cx="4586570" cy="720923"/>
          </a:xfrm>
          <a:prstGeom prst="rect">
            <a:avLst/>
          </a:prstGeom>
          <a:noFill/>
          <a:ln/>
        </p:spPr>
        <p:txBody>
          <a:bodyPr wrap="square" lIns="0" tIns="0" rIns="0" bIns="0" rtlCol="0" anchor="t">
            <a:normAutofit/>
          </a:bodyPr>
          <a:lstStyle/>
          <a:p>
            <a:pPr marL="0" indent="0" algn="l">
              <a:lnSpc>
                <a:spcPct val="129000"/>
              </a:lnSpc>
              <a:buNone/>
            </a:pPr>
            <a:r>
              <a:rPr lang="en-US" sz="1200" dirty="0">
                <a:solidFill>
                  <a:srgbClr val="000000"/>
                </a:solidFill>
                <a:latin typeface="Open Sans" pitchFamily="34" charset="0"/>
                <a:ea typeface="Open Sans" pitchFamily="34" charset="-122"/>
                <a:cs typeface="Open Sans" pitchFamily="34" charset="-120"/>
              </a:rPr>
              <a:t>Complex processors emerge from combining basic gates (AND, OR, NOT) following Boolean algebra — a principle this project demonstrates end-to-end.</a:t>
            </a:r>
            <a:endParaRPr lang="en-US" sz="1200" dirty="0"/>
          </a:p>
        </p:txBody>
      </p:sp>
      <p:sp>
        <p:nvSpPr>
          <p:cNvPr id="16" name="Text 13"/>
          <p:cNvSpPr/>
          <p:nvPr/>
        </p:nvSpPr>
        <p:spPr>
          <a:xfrm>
            <a:off x="6291304" y="4623495"/>
            <a:ext cx="5245266" cy="242193"/>
          </a:xfrm>
          <a:prstGeom prst="rect">
            <a:avLst/>
          </a:prstGeom>
          <a:noFill/>
          <a:ln/>
        </p:spPr>
        <p:txBody>
          <a:bodyPr wrap="none" lIns="0" tIns="0" rIns="0" bIns="0" rtlCol="0" anchor="t"/>
          <a:lstStyle/>
          <a:p>
            <a:pPr marL="0" indent="0" algn="l">
              <a:lnSpc>
                <a:spcPct val="104000"/>
              </a:lnSpc>
              <a:buNone/>
            </a:pPr>
            <a:r>
              <a:rPr lang="en-US" sz="1500" b="1" dirty="0">
                <a:solidFill>
                  <a:srgbClr val="333F70"/>
                </a:solidFill>
                <a:latin typeface="Unbounded Bold" pitchFamily="34" charset="0"/>
                <a:ea typeface="Unbounded Bold" pitchFamily="34" charset="-122"/>
                <a:cs typeface="Unbounded Bold" pitchFamily="34" charset="-120"/>
              </a:rPr>
              <a:t>Hardware from Simple Logic</a:t>
            </a:r>
            <a:endParaRPr lang="en-US" sz="1500" dirty="0"/>
          </a:p>
        </p:txBody>
      </p:sp>
      <p:sp>
        <p:nvSpPr>
          <p:cNvPr id="17" name="Text 14"/>
          <p:cNvSpPr/>
          <p:nvPr/>
        </p:nvSpPr>
        <p:spPr>
          <a:xfrm>
            <a:off x="6291304" y="5011043"/>
            <a:ext cx="5245266" cy="1201539"/>
          </a:xfrm>
          <a:prstGeom prst="rect">
            <a:avLst/>
          </a:prstGeom>
          <a:noFill/>
          <a:ln/>
        </p:spPr>
        <p:txBody>
          <a:bodyPr wrap="square" lIns="0" tIns="0" rIns="0" bIns="0" rtlCol="0" anchor="t">
            <a:normAutofit/>
          </a:bodyPr>
          <a:lstStyle/>
          <a:p>
            <a:pPr marL="0" indent="0" algn="l">
              <a:lnSpc>
                <a:spcPct val="129000"/>
              </a:lnSpc>
              <a:buNone/>
            </a:pPr>
            <a:r>
              <a:rPr lang="en-US" sz="1200" dirty="0">
                <a:solidFill>
                  <a:srgbClr val="333F70"/>
                </a:solidFill>
                <a:latin typeface="Open Sans" pitchFamily="34" charset="0"/>
                <a:ea typeface="Open Sans" pitchFamily="34" charset="-122"/>
                <a:cs typeface="Open Sans" pitchFamily="34" charset="-120"/>
              </a:rPr>
              <a:t>The power of digital design lies in </a:t>
            </a:r>
            <a:r>
              <a:rPr lang="en-US" sz="1200" b="1" dirty="0">
                <a:solidFill>
                  <a:srgbClr val="333F70"/>
                </a:solidFill>
                <a:latin typeface="Open Sans Bold" pitchFamily="34" charset="0"/>
                <a:ea typeface="Open Sans Bold" pitchFamily="34" charset="-122"/>
                <a:cs typeface="Open Sans Bold" pitchFamily="34" charset="-120"/>
              </a:rPr>
              <a:t>composability</a:t>
            </a:r>
            <a:r>
              <a:rPr lang="en-US" sz="1200" dirty="0">
                <a:solidFill>
                  <a:srgbClr val="333F70"/>
                </a:solidFill>
                <a:latin typeface="Open Sans" pitchFamily="34" charset="0"/>
                <a:ea typeface="Open Sans" pitchFamily="34" charset="-122"/>
                <a:cs typeface="Open Sans" pitchFamily="34" charset="-120"/>
              </a:rPr>
              <a:t>: simple gates combine into half adders, half adders combine into full adders, full adders cascade into multi-bit arithmetic units, and those units form complete ALUs. This hierarchical abstraction is the foundation of all processor design.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661475" y="486767"/>
            <a:ext cx="796409" cy="235446"/>
          </a:xfrm>
          <a:prstGeom prst="roundRect">
            <a:avLst>
              <a:gd name="adj" fmla="val 22127"/>
            </a:avLst>
          </a:prstGeom>
          <a:solidFill>
            <a:srgbClr val="D6F5EE"/>
          </a:solidFill>
          <a:ln/>
        </p:spPr>
      </p:sp>
      <p:sp>
        <p:nvSpPr>
          <p:cNvPr id="3" name="Text 1"/>
          <p:cNvSpPr/>
          <p:nvPr/>
        </p:nvSpPr>
        <p:spPr>
          <a:xfrm>
            <a:off x="754441" y="533202"/>
            <a:ext cx="1220062" cy="142577"/>
          </a:xfrm>
          <a:prstGeom prst="rect">
            <a:avLst/>
          </a:prstGeom>
          <a:noFill/>
          <a:ln/>
        </p:spPr>
        <p:txBody>
          <a:bodyPr wrap="none" lIns="0" tIns="0" rIns="0" bIns="0" rtlCol="0" anchor="t"/>
          <a:lstStyle/>
          <a:p>
            <a:pPr marL="0" indent="0" algn="l">
              <a:lnSpc>
                <a:spcPct val="96000"/>
              </a:lnSpc>
              <a:buNone/>
            </a:pPr>
            <a:r>
              <a:rPr lang="en-US" sz="950" dirty="0">
                <a:solidFill>
                  <a:srgbClr val="333F70"/>
                </a:solidFill>
                <a:latin typeface="Open Sans" pitchFamily="34" charset="0"/>
                <a:ea typeface="Open Sans" pitchFamily="34" charset="-122"/>
                <a:cs typeface="Open Sans" pitchFamily="34" charset="-120"/>
              </a:rPr>
              <a:t>SECTION 2</a:t>
            </a:r>
            <a:endParaRPr lang="en-US" sz="950" dirty="0"/>
          </a:p>
        </p:txBody>
      </p:sp>
      <p:sp>
        <p:nvSpPr>
          <p:cNvPr id="4" name="Text 2"/>
          <p:cNvSpPr/>
          <p:nvPr/>
        </p:nvSpPr>
        <p:spPr>
          <a:xfrm>
            <a:off x="661475" y="780355"/>
            <a:ext cx="10868745" cy="484485"/>
          </a:xfrm>
          <a:prstGeom prst="rect">
            <a:avLst/>
          </a:prstGeom>
          <a:noFill/>
          <a:ln/>
        </p:spPr>
        <p:txBody>
          <a:bodyPr wrap="none" lIns="0" tIns="0" rIns="0" bIns="0" rtlCol="0" anchor="t"/>
          <a:lstStyle/>
          <a:p>
            <a:pPr marL="0" indent="0" algn="l">
              <a:lnSpc>
                <a:spcPct val="104000"/>
              </a:lnSpc>
              <a:buNone/>
            </a:pPr>
            <a:r>
              <a:rPr lang="en-US" sz="3050" b="1" dirty="0">
                <a:solidFill>
                  <a:srgbClr val="333F70"/>
                </a:solidFill>
                <a:latin typeface="Unbounded Bold" pitchFamily="34" charset="0"/>
                <a:ea typeface="Unbounded Bold" pitchFamily="34" charset="-122"/>
                <a:cs typeface="Unbounded Bold" pitchFamily="34" charset="-120"/>
              </a:rPr>
              <a:t>Problem Statement</a:t>
            </a:r>
            <a:endParaRPr lang="en-US" sz="3050" dirty="0"/>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1482824"/>
            <a:ext cx="3525948" cy="2844006"/>
          </a:xfrm>
          <a:prstGeom prst="rect">
            <a:avLst/>
          </a:prstGeom>
        </p:spPr>
      </p:pic>
      <p:sp>
        <p:nvSpPr>
          <p:cNvPr id="6" name="Text 3"/>
          <p:cNvSpPr/>
          <p:nvPr/>
        </p:nvSpPr>
        <p:spPr>
          <a:xfrm>
            <a:off x="911698" y="1656854"/>
            <a:ext cx="3101699" cy="484386"/>
          </a:xfrm>
          <a:prstGeom prst="rect">
            <a:avLst/>
          </a:prstGeom>
          <a:noFill/>
          <a:ln/>
        </p:spPr>
        <p:txBody>
          <a:bodyPr wrap="square" lIns="0" tIns="0" rIns="0" bIns="0" rtlCol="0" anchor="t">
            <a:normAutofit/>
          </a:bodyPr>
          <a:lstStyle/>
          <a:p>
            <a:pPr marL="0" indent="0" algn="l">
              <a:lnSpc>
                <a:spcPct val="104000"/>
              </a:lnSpc>
              <a:buNone/>
            </a:pPr>
            <a:r>
              <a:rPr lang="en-US" sz="1500" b="1" dirty="0">
                <a:solidFill>
                  <a:srgbClr val="333F70"/>
                </a:solidFill>
                <a:latin typeface="Unbounded Bold" pitchFamily="34" charset="0"/>
                <a:ea typeface="Unbounded Bold" pitchFamily="34" charset="-122"/>
                <a:cs typeface="Unbounded Bold" pitchFamily="34" charset="-120"/>
              </a:rPr>
              <a:t>Hardware-Level Circuit Necessity</a:t>
            </a:r>
            <a:endParaRPr lang="en-US" sz="1500" dirty="0"/>
          </a:p>
        </p:txBody>
      </p:sp>
      <p:sp>
        <p:nvSpPr>
          <p:cNvPr id="7" name="Text 4"/>
          <p:cNvSpPr/>
          <p:nvPr/>
        </p:nvSpPr>
        <p:spPr>
          <a:xfrm>
            <a:off x="911698" y="2228453"/>
            <a:ext cx="3101699" cy="1441847"/>
          </a:xfrm>
          <a:prstGeom prst="rect">
            <a:avLst/>
          </a:prstGeom>
          <a:noFill/>
          <a:ln/>
        </p:spPr>
        <p:txBody>
          <a:bodyPr wrap="square" lIns="0" tIns="0" rIns="0" bIns="0" rtlCol="0" anchor="t">
            <a:normAutofit/>
          </a:bodyPr>
          <a:lstStyle/>
          <a:p>
            <a:pPr marL="0" indent="0" algn="l">
              <a:lnSpc>
                <a:spcPct val="129000"/>
              </a:lnSpc>
              <a:buNone/>
            </a:pPr>
            <a:r>
              <a:rPr lang="en-US" sz="1200" dirty="0">
                <a:solidFill>
                  <a:srgbClr val="333F70"/>
                </a:solidFill>
                <a:latin typeface="Open Sans" pitchFamily="34" charset="0"/>
                <a:ea typeface="Open Sans" pitchFamily="34" charset="-122"/>
                <a:cs typeface="Open Sans" pitchFamily="34" charset="-120"/>
              </a:rPr>
              <a:t>Software simulation alone cannot reveal how physical circuits perform arithmetic reliably at the gate level. A hardware-level design study is required to observe actual signal propagation, timing behavior, and gate interactions.</a:t>
            </a:r>
            <a:endParaRPr lang="en-US" sz="1200" dirty="0"/>
          </a:p>
        </p:txBody>
      </p:sp>
      <p:pic>
        <p:nvPicPr>
          <p:cNvPr id="8"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332774" y="1482824"/>
            <a:ext cx="3526047" cy="2844006"/>
          </a:xfrm>
          <a:prstGeom prst="rect">
            <a:avLst/>
          </a:prstGeom>
        </p:spPr>
      </p:pic>
      <p:sp>
        <p:nvSpPr>
          <p:cNvPr id="9" name="Text 5"/>
          <p:cNvSpPr/>
          <p:nvPr/>
        </p:nvSpPr>
        <p:spPr>
          <a:xfrm>
            <a:off x="4582998" y="1656854"/>
            <a:ext cx="3101798" cy="484386"/>
          </a:xfrm>
          <a:prstGeom prst="rect">
            <a:avLst/>
          </a:prstGeom>
          <a:noFill/>
          <a:ln/>
        </p:spPr>
        <p:txBody>
          <a:bodyPr wrap="square" lIns="0" tIns="0" rIns="0" bIns="0" rtlCol="0" anchor="t">
            <a:normAutofit/>
          </a:bodyPr>
          <a:lstStyle/>
          <a:p>
            <a:pPr marL="0" indent="0" algn="l">
              <a:lnSpc>
                <a:spcPct val="104000"/>
              </a:lnSpc>
              <a:buNone/>
            </a:pPr>
            <a:r>
              <a:rPr lang="en-US" sz="1500" b="1" dirty="0">
                <a:solidFill>
                  <a:srgbClr val="333F70"/>
                </a:solidFill>
                <a:latin typeface="Unbounded Bold" pitchFamily="34" charset="0"/>
                <a:ea typeface="Unbounded Bold" pitchFamily="34" charset="-122"/>
                <a:cs typeface="Unbounded Bold" pitchFamily="34" charset="-120"/>
              </a:rPr>
              <a:t>Limitations of Manual Computation</a:t>
            </a:r>
            <a:endParaRPr lang="en-US" sz="1500" dirty="0"/>
          </a:p>
        </p:txBody>
      </p:sp>
      <p:sp>
        <p:nvSpPr>
          <p:cNvPr id="10" name="Text 6"/>
          <p:cNvSpPr/>
          <p:nvPr/>
        </p:nvSpPr>
        <p:spPr>
          <a:xfrm>
            <a:off x="4582998" y="2228453"/>
            <a:ext cx="3101798" cy="1441847"/>
          </a:xfrm>
          <a:prstGeom prst="rect">
            <a:avLst/>
          </a:prstGeom>
          <a:noFill/>
          <a:ln/>
        </p:spPr>
        <p:txBody>
          <a:bodyPr wrap="square" lIns="0" tIns="0" rIns="0" bIns="0" rtlCol="0" anchor="t">
            <a:normAutofit/>
          </a:bodyPr>
          <a:lstStyle/>
          <a:p>
            <a:pPr marL="0" indent="0" algn="l">
              <a:lnSpc>
                <a:spcPct val="129000"/>
              </a:lnSpc>
              <a:buNone/>
            </a:pPr>
            <a:r>
              <a:rPr lang="en-US" sz="1200" dirty="0">
                <a:solidFill>
                  <a:srgbClr val="333F70"/>
                </a:solidFill>
                <a:latin typeface="Open Sans" pitchFamily="34" charset="0"/>
                <a:ea typeface="Open Sans" pitchFamily="34" charset="-122"/>
                <a:cs typeface="Open Sans" pitchFamily="34" charset="-120"/>
              </a:rPr>
              <a:t>Manual binary arithmetic is inherently error-prone and, more critically, fails to illuminate circuit design principles. A working hardware implementation is needed to bridge theoretical arithmetic with practical logic design.</a:t>
            </a:r>
            <a:endParaRPr lang="en-US" sz="1200" dirty="0"/>
          </a:p>
        </p:txBody>
      </p:sp>
      <p:pic>
        <p:nvPicPr>
          <p:cNvPr id="11"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004173" y="1482824"/>
            <a:ext cx="3526047" cy="2844006"/>
          </a:xfrm>
          <a:prstGeom prst="rect">
            <a:avLst/>
          </a:prstGeom>
        </p:spPr>
      </p:pic>
      <p:sp>
        <p:nvSpPr>
          <p:cNvPr id="12" name="Text 7"/>
          <p:cNvSpPr/>
          <p:nvPr/>
        </p:nvSpPr>
        <p:spPr>
          <a:xfrm>
            <a:off x="8254397" y="1656854"/>
            <a:ext cx="3101798" cy="726579"/>
          </a:xfrm>
          <a:prstGeom prst="rect">
            <a:avLst/>
          </a:prstGeom>
          <a:noFill/>
          <a:ln/>
        </p:spPr>
        <p:txBody>
          <a:bodyPr wrap="square" lIns="0" tIns="0" rIns="0" bIns="0" rtlCol="0" anchor="t">
            <a:normAutofit/>
          </a:bodyPr>
          <a:lstStyle/>
          <a:p>
            <a:pPr marL="0" indent="0" algn="l">
              <a:lnSpc>
                <a:spcPct val="104000"/>
              </a:lnSpc>
              <a:buNone/>
            </a:pPr>
            <a:r>
              <a:rPr lang="en-US" sz="1500" b="1" dirty="0">
                <a:solidFill>
                  <a:srgbClr val="333F70"/>
                </a:solidFill>
                <a:latin typeface="Unbounded Bold" pitchFamily="34" charset="0"/>
                <a:ea typeface="Unbounded Bold" pitchFamily="34" charset="-122"/>
                <a:cs typeface="Unbounded Bold" pitchFamily="34" charset="-120"/>
              </a:rPr>
              <a:t>Signed Number Representation Challenge</a:t>
            </a:r>
            <a:endParaRPr lang="en-US" sz="1500" dirty="0"/>
          </a:p>
        </p:txBody>
      </p:sp>
      <p:sp>
        <p:nvSpPr>
          <p:cNvPr id="13" name="Text 8"/>
          <p:cNvSpPr/>
          <p:nvPr/>
        </p:nvSpPr>
        <p:spPr>
          <a:xfrm>
            <a:off x="8254397" y="2470646"/>
            <a:ext cx="3101798" cy="1682155"/>
          </a:xfrm>
          <a:prstGeom prst="rect">
            <a:avLst/>
          </a:prstGeom>
          <a:noFill/>
          <a:ln/>
        </p:spPr>
        <p:txBody>
          <a:bodyPr wrap="square" lIns="0" tIns="0" rIns="0" bIns="0" rtlCol="0" anchor="t">
            <a:normAutofit/>
          </a:bodyPr>
          <a:lstStyle/>
          <a:p>
            <a:pPr marL="0" indent="0" algn="l">
              <a:lnSpc>
                <a:spcPct val="129000"/>
              </a:lnSpc>
              <a:buNone/>
            </a:pPr>
            <a:r>
              <a:rPr lang="en-US" sz="1200" dirty="0">
                <a:solidFill>
                  <a:srgbClr val="333F70"/>
                </a:solidFill>
                <a:latin typeface="Open Sans" pitchFamily="34" charset="0"/>
                <a:ea typeface="Open Sans" pitchFamily="34" charset="-122"/>
                <a:cs typeface="Open Sans" pitchFamily="34" charset="-120"/>
              </a:rPr>
              <a:t>Representing negative numbers within a fixed-width binary format requires careful encoding. </a:t>
            </a:r>
            <a:r>
              <a:rPr lang="en-US" sz="1200" b="1" dirty="0">
                <a:solidFill>
                  <a:srgbClr val="333F70"/>
                </a:solidFill>
                <a:latin typeface="Open Sans Bold" pitchFamily="34" charset="0"/>
                <a:ea typeface="Open Sans Bold" pitchFamily="34" charset="-122"/>
                <a:cs typeface="Open Sans Bold" pitchFamily="34" charset="-120"/>
              </a:rPr>
              <a:t>Two's complement</a:t>
            </a:r>
            <a:r>
              <a:rPr lang="en-US" sz="1200" dirty="0">
                <a:solidFill>
                  <a:srgbClr val="333F70"/>
                </a:solidFill>
                <a:latin typeface="Open Sans" pitchFamily="34" charset="0"/>
                <a:ea typeface="Open Sans" pitchFamily="34" charset="-122"/>
                <a:cs typeface="Open Sans" pitchFamily="34" charset="-120"/>
              </a:rPr>
              <a:t> is the industry-standard approach, but its correct implementation at the gate level demands systematic design and verification.</a:t>
            </a:r>
            <a:endParaRPr lang="en-US" sz="1200" dirty="0"/>
          </a:p>
        </p:txBody>
      </p:sp>
      <p:pic>
        <p:nvPicPr>
          <p:cNvPr id="14"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1475" y="4490343"/>
            <a:ext cx="5361647" cy="1880890"/>
          </a:xfrm>
          <a:prstGeom prst="rect">
            <a:avLst/>
          </a:prstGeom>
        </p:spPr>
      </p:pic>
      <p:sp>
        <p:nvSpPr>
          <p:cNvPr id="15" name="Text 9"/>
          <p:cNvSpPr/>
          <p:nvPr/>
        </p:nvSpPr>
        <p:spPr>
          <a:xfrm>
            <a:off x="911698" y="4664373"/>
            <a:ext cx="4937398" cy="484386"/>
          </a:xfrm>
          <a:prstGeom prst="rect">
            <a:avLst/>
          </a:prstGeom>
          <a:noFill/>
          <a:ln/>
        </p:spPr>
        <p:txBody>
          <a:bodyPr wrap="square" lIns="0" tIns="0" rIns="0" bIns="0" rtlCol="0" anchor="t">
            <a:normAutofit/>
          </a:bodyPr>
          <a:lstStyle/>
          <a:p>
            <a:pPr marL="0" indent="0" algn="l">
              <a:lnSpc>
                <a:spcPct val="104000"/>
              </a:lnSpc>
              <a:buNone/>
            </a:pPr>
            <a:r>
              <a:rPr lang="en-US" sz="1500" b="1" dirty="0">
                <a:solidFill>
                  <a:srgbClr val="333F70"/>
                </a:solidFill>
                <a:latin typeface="Unbounded Bold" pitchFamily="34" charset="0"/>
                <a:ea typeface="Unbounded Bold" pitchFamily="34" charset="-122"/>
                <a:cs typeface="Unbounded Bold" pitchFamily="34" charset="-120"/>
              </a:rPr>
              <a:t>Overflow Detection in Fixed-Width Arithmetic</a:t>
            </a:r>
            <a:endParaRPr lang="en-US" sz="1500" dirty="0"/>
          </a:p>
        </p:txBody>
      </p:sp>
      <p:sp>
        <p:nvSpPr>
          <p:cNvPr id="16" name="Text 10"/>
          <p:cNvSpPr/>
          <p:nvPr/>
        </p:nvSpPr>
        <p:spPr>
          <a:xfrm>
            <a:off x="911698" y="5235972"/>
            <a:ext cx="4937398" cy="961231"/>
          </a:xfrm>
          <a:prstGeom prst="rect">
            <a:avLst/>
          </a:prstGeom>
          <a:noFill/>
          <a:ln/>
        </p:spPr>
        <p:txBody>
          <a:bodyPr wrap="square" lIns="0" tIns="0" rIns="0" bIns="0" rtlCol="0" anchor="t">
            <a:normAutofit/>
          </a:bodyPr>
          <a:lstStyle/>
          <a:p>
            <a:pPr marL="0" indent="0" algn="l">
              <a:lnSpc>
                <a:spcPct val="129000"/>
              </a:lnSpc>
              <a:buNone/>
            </a:pPr>
            <a:r>
              <a:rPr lang="en-US" sz="1200" dirty="0">
                <a:solidFill>
                  <a:srgbClr val="333F70"/>
                </a:solidFill>
                <a:latin typeface="Open Sans" pitchFamily="34" charset="0"/>
                <a:ea typeface="Open Sans" pitchFamily="34" charset="-122"/>
                <a:cs typeface="Open Sans" pitchFamily="34" charset="-120"/>
              </a:rPr>
              <a:t>4-bit binary arithmetic operates within a constrained numeric range. Results that exceed this range produce </a:t>
            </a:r>
            <a:r>
              <a:rPr lang="en-US" sz="1200" b="1" dirty="0">
                <a:solidFill>
                  <a:srgbClr val="333F70"/>
                </a:solidFill>
                <a:latin typeface="Open Sans Bold" pitchFamily="34" charset="0"/>
                <a:ea typeface="Open Sans Bold" pitchFamily="34" charset="-122"/>
                <a:cs typeface="Open Sans Bold" pitchFamily="34" charset="-120"/>
              </a:rPr>
              <a:t>silent errors</a:t>
            </a:r>
            <a:r>
              <a:rPr lang="en-US" sz="1200" dirty="0">
                <a:solidFill>
                  <a:srgbClr val="333F70"/>
                </a:solidFill>
                <a:latin typeface="Open Sans" pitchFamily="34" charset="0"/>
                <a:ea typeface="Open Sans" pitchFamily="34" charset="-122"/>
                <a:cs typeface="Open Sans" pitchFamily="34" charset="-120"/>
              </a:rPr>
              <a:t> without explicit overflow detection logic. Detecting and flagging overflow is critical for arithmetic correctness.</a:t>
            </a:r>
            <a:endParaRPr lang="en-US" sz="1200" dirty="0"/>
          </a:p>
        </p:txBody>
      </p:sp>
      <p:pic>
        <p:nvPicPr>
          <p:cNvPr id="17" name="Image 4"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168474" y="4490343"/>
            <a:ext cx="5361746" cy="1880890"/>
          </a:xfrm>
          <a:prstGeom prst="rect">
            <a:avLst/>
          </a:prstGeom>
        </p:spPr>
      </p:pic>
      <p:sp>
        <p:nvSpPr>
          <p:cNvPr id="18" name="Text 11"/>
          <p:cNvSpPr/>
          <p:nvPr/>
        </p:nvSpPr>
        <p:spPr>
          <a:xfrm>
            <a:off x="6418697" y="4664373"/>
            <a:ext cx="4937498" cy="242193"/>
          </a:xfrm>
          <a:prstGeom prst="rect">
            <a:avLst/>
          </a:prstGeom>
          <a:noFill/>
          <a:ln/>
        </p:spPr>
        <p:txBody>
          <a:bodyPr wrap="none" lIns="0" tIns="0" rIns="0" bIns="0" rtlCol="0" anchor="t"/>
          <a:lstStyle/>
          <a:p>
            <a:pPr marL="0" indent="0" algn="l">
              <a:lnSpc>
                <a:spcPct val="104000"/>
              </a:lnSpc>
              <a:buNone/>
            </a:pPr>
            <a:r>
              <a:rPr lang="en-US" sz="1500" b="1" dirty="0">
                <a:solidFill>
                  <a:srgbClr val="333F70"/>
                </a:solidFill>
                <a:latin typeface="Unbounded Bold" pitchFamily="34" charset="0"/>
                <a:ea typeface="Unbounded Bold" pitchFamily="34" charset="-122"/>
                <a:cs typeface="Unbounded Bold" pitchFamily="34" charset="-120"/>
              </a:rPr>
              <a:t>System Integration Complexity</a:t>
            </a:r>
            <a:endParaRPr lang="en-US" sz="1500" dirty="0"/>
          </a:p>
        </p:txBody>
      </p:sp>
      <p:sp>
        <p:nvSpPr>
          <p:cNvPr id="19" name="Text 12"/>
          <p:cNvSpPr/>
          <p:nvPr/>
        </p:nvSpPr>
        <p:spPr>
          <a:xfrm>
            <a:off x="6418697" y="4993779"/>
            <a:ext cx="4937498" cy="961231"/>
          </a:xfrm>
          <a:prstGeom prst="rect">
            <a:avLst/>
          </a:prstGeom>
          <a:noFill/>
          <a:ln/>
        </p:spPr>
        <p:txBody>
          <a:bodyPr wrap="square" lIns="0" tIns="0" rIns="0" bIns="0" rtlCol="0" anchor="t">
            <a:normAutofit/>
          </a:bodyPr>
          <a:lstStyle/>
          <a:p>
            <a:pPr marL="0" indent="0" algn="l">
              <a:lnSpc>
                <a:spcPct val="129000"/>
              </a:lnSpc>
              <a:buNone/>
            </a:pPr>
            <a:r>
              <a:rPr lang="en-US" sz="1200" dirty="0">
                <a:solidFill>
                  <a:srgbClr val="333F70"/>
                </a:solidFill>
                <a:latin typeface="Open Sans" pitchFamily="34" charset="0"/>
                <a:ea typeface="Open Sans" pitchFamily="34" charset="-122"/>
                <a:cs typeface="Open Sans" pitchFamily="34" charset="-120"/>
              </a:rPr>
              <a:t>Combining multiple full adders, mode-control logic, two's complement negation, and overflow detection into a single cohesive, correctly functioning system requires a </a:t>
            </a:r>
            <a:r>
              <a:rPr lang="en-US" sz="1200" b="1" dirty="0">
                <a:solidFill>
                  <a:srgbClr val="333F70"/>
                </a:solidFill>
                <a:latin typeface="Open Sans Bold" pitchFamily="34" charset="0"/>
                <a:ea typeface="Open Sans Bold" pitchFamily="34" charset="-122"/>
                <a:cs typeface="Open Sans Bold" pitchFamily="34" charset="-120"/>
              </a:rPr>
              <a:t>systematic design methodology</a:t>
            </a:r>
            <a:r>
              <a:rPr lang="en-US" sz="1200" dirty="0">
                <a:solidFill>
                  <a:srgbClr val="333F70"/>
                </a:solidFill>
                <a:latin typeface="Open Sans" pitchFamily="34" charset="0"/>
                <a:ea typeface="Open Sans" pitchFamily="34" charset="-122"/>
                <a:cs typeface="Open Sans" pitchFamily="34" charset="-120"/>
              </a:rPr>
              <a:t> — not ad hoc assembly of components.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661475" y="459383"/>
            <a:ext cx="849986" cy="251420"/>
          </a:xfrm>
          <a:prstGeom prst="roundRect">
            <a:avLst>
              <a:gd name="adj" fmla="val 22103"/>
            </a:avLst>
          </a:prstGeom>
          <a:solidFill>
            <a:srgbClr val="D6F5EE"/>
          </a:solidFill>
          <a:ln/>
        </p:spPr>
      </p:sp>
      <p:sp>
        <p:nvSpPr>
          <p:cNvPr id="3" name="Text 1"/>
          <p:cNvSpPr/>
          <p:nvPr/>
        </p:nvSpPr>
        <p:spPr>
          <a:xfrm>
            <a:off x="760691" y="508992"/>
            <a:ext cx="1261138" cy="152202"/>
          </a:xfrm>
          <a:prstGeom prst="rect">
            <a:avLst/>
          </a:prstGeom>
          <a:noFill/>
          <a:ln/>
        </p:spPr>
        <p:txBody>
          <a:bodyPr wrap="none" lIns="0" tIns="0" rIns="0" bIns="0" rtlCol="0" anchor="t"/>
          <a:lstStyle/>
          <a:p>
            <a:pPr marL="0" indent="0" algn="l">
              <a:lnSpc>
                <a:spcPct val="96000"/>
              </a:lnSpc>
              <a:buNone/>
            </a:pPr>
            <a:r>
              <a:rPr lang="en-US" sz="1000" dirty="0">
                <a:solidFill>
                  <a:srgbClr val="333F70"/>
                </a:solidFill>
                <a:latin typeface="Open Sans" pitchFamily="34" charset="0"/>
                <a:ea typeface="Open Sans" pitchFamily="34" charset="-122"/>
                <a:cs typeface="Open Sans" pitchFamily="34" charset="-120"/>
              </a:rPr>
              <a:t>SECTION 3</a:t>
            </a:r>
            <a:endParaRPr lang="en-US" sz="1000" dirty="0"/>
          </a:p>
        </p:txBody>
      </p:sp>
      <p:sp>
        <p:nvSpPr>
          <p:cNvPr id="4" name="Text 2"/>
          <p:cNvSpPr/>
          <p:nvPr/>
        </p:nvSpPr>
        <p:spPr>
          <a:xfrm>
            <a:off x="661475" y="776883"/>
            <a:ext cx="10868745" cy="516731"/>
          </a:xfrm>
          <a:prstGeom prst="rect">
            <a:avLst/>
          </a:prstGeom>
          <a:noFill/>
          <a:ln/>
        </p:spPr>
        <p:txBody>
          <a:bodyPr wrap="none" lIns="0" tIns="0" rIns="0" bIns="0" rtlCol="0" anchor="t"/>
          <a:lstStyle/>
          <a:p>
            <a:pPr marL="0" indent="0" algn="l">
              <a:lnSpc>
                <a:spcPct val="104000"/>
              </a:lnSpc>
              <a:buNone/>
            </a:pPr>
            <a:r>
              <a:rPr lang="en-US" sz="3250" b="1" dirty="0">
                <a:solidFill>
                  <a:srgbClr val="333F70"/>
                </a:solidFill>
                <a:latin typeface="Unbounded Bold" pitchFamily="34" charset="0"/>
                <a:ea typeface="Unbounded Bold" pitchFamily="34" charset="-122"/>
                <a:cs typeface="Unbounded Bold" pitchFamily="34" charset="-120"/>
              </a:rPr>
              <a:t>Objectives</a:t>
            </a:r>
            <a:endParaRPr lang="en-US" sz="3250" dirty="0"/>
          </a:p>
        </p:txBody>
      </p:sp>
      <p:sp>
        <p:nvSpPr>
          <p:cNvPr id="5" name="Shape 3"/>
          <p:cNvSpPr/>
          <p:nvPr/>
        </p:nvSpPr>
        <p:spPr>
          <a:xfrm>
            <a:off x="661475" y="1727696"/>
            <a:ext cx="372061" cy="372070"/>
          </a:xfrm>
          <a:prstGeom prst="roundRect">
            <a:avLst>
              <a:gd name="adj" fmla="val 18670"/>
            </a:avLst>
          </a:prstGeom>
          <a:solidFill>
            <a:srgbClr val="D6F5EE"/>
          </a:solidFill>
          <a:ln w="6350">
            <a:solidFill>
              <a:srgbClr val="BCDBD4"/>
            </a:solidFill>
            <a:prstDash val="solid"/>
          </a:ln>
        </p:spPr>
      </p:sp>
      <p:sp>
        <p:nvSpPr>
          <p:cNvPr id="6" name="Text 4"/>
          <p:cNvSpPr/>
          <p:nvPr/>
        </p:nvSpPr>
        <p:spPr>
          <a:xfrm>
            <a:off x="723485" y="1758702"/>
            <a:ext cx="248041" cy="310059"/>
          </a:xfrm>
          <a:prstGeom prst="rect">
            <a:avLst/>
          </a:prstGeom>
          <a:noFill/>
          <a:ln/>
        </p:spPr>
        <p:txBody>
          <a:bodyPr wrap="none" lIns="0" tIns="0" rIns="0" bIns="0" rtlCol="0" anchor="ctr"/>
          <a:lstStyle/>
          <a:p>
            <a:pPr marL="0" indent="0" algn="ctr">
              <a:lnSpc>
                <a:spcPct val="100000"/>
              </a:lnSpc>
              <a:buNone/>
            </a:pPr>
            <a:r>
              <a:rPr lang="en-US" sz="1950" b="1" dirty="0">
                <a:solidFill>
                  <a:srgbClr val="333F70"/>
                </a:solidFill>
                <a:latin typeface="Unbounded Bold" pitchFamily="34" charset="0"/>
                <a:ea typeface="Unbounded Bold" pitchFamily="34" charset="-122"/>
                <a:cs typeface="Unbounded Bold" pitchFamily="34" charset="-120"/>
              </a:rPr>
              <a:t>1</a:t>
            </a:r>
            <a:endParaRPr lang="en-US" sz="1950" dirty="0"/>
          </a:p>
        </p:txBody>
      </p:sp>
      <p:sp>
        <p:nvSpPr>
          <p:cNvPr id="7" name="Text 5"/>
          <p:cNvSpPr/>
          <p:nvPr/>
        </p:nvSpPr>
        <p:spPr>
          <a:xfrm>
            <a:off x="1198830" y="1784548"/>
            <a:ext cx="4695311" cy="258465"/>
          </a:xfrm>
          <a:prstGeom prst="rect">
            <a:avLst/>
          </a:prstGeom>
          <a:noFill/>
          <a:ln/>
        </p:spPr>
        <p:txBody>
          <a:bodyPr wrap="none" lIns="0" tIns="0" rIns="0" bIns="0" rtlCol="0" anchor="t"/>
          <a:lstStyle/>
          <a:p>
            <a:pPr marL="0" indent="0" algn="l">
              <a:lnSpc>
                <a:spcPct val="104000"/>
              </a:lnSpc>
              <a:buNone/>
            </a:pPr>
            <a:r>
              <a:rPr lang="en-US" sz="1600" b="1" dirty="0">
                <a:solidFill>
                  <a:srgbClr val="333F70"/>
                </a:solidFill>
                <a:latin typeface="Unbounded Bold" pitchFamily="34" charset="0"/>
                <a:ea typeface="Unbounded Bold" pitchFamily="34" charset="-122"/>
                <a:cs typeface="Unbounded Bold" pitchFamily="34" charset="-120"/>
              </a:rPr>
              <a:t>Design the Core Adder/Subtractor</a:t>
            </a:r>
            <a:endParaRPr lang="en-US" sz="1600" dirty="0"/>
          </a:p>
        </p:txBody>
      </p:sp>
      <p:sp>
        <p:nvSpPr>
          <p:cNvPr id="8" name="Text 6"/>
          <p:cNvSpPr/>
          <p:nvPr/>
        </p:nvSpPr>
        <p:spPr>
          <a:xfrm>
            <a:off x="1198830" y="2208312"/>
            <a:ext cx="4695311"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F70"/>
                </a:solidFill>
                <a:latin typeface="Open Sans" pitchFamily="34" charset="0"/>
                <a:ea typeface="Open Sans" pitchFamily="34" charset="-122"/>
                <a:cs typeface="Open Sans" pitchFamily="34" charset="-120"/>
              </a:rPr>
              <a:t>Design a complete 4-bit adder/subtractor circuit built entirely from fundamental logic gates: AND, OR, NOT, NAND, NOR, XOR, and XNOR.</a:t>
            </a:r>
            <a:endParaRPr lang="en-US" sz="1300" dirty="0"/>
          </a:p>
        </p:txBody>
      </p:sp>
      <p:sp>
        <p:nvSpPr>
          <p:cNvPr id="9" name="Shape 7"/>
          <p:cNvSpPr/>
          <p:nvPr/>
        </p:nvSpPr>
        <p:spPr>
          <a:xfrm>
            <a:off x="661475" y="3332857"/>
            <a:ext cx="372061" cy="372070"/>
          </a:xfrm>
          <a:prstGeom prst="roundRect">
            <a:avLst>
              <a:gd name="adj" fmla="val 18670"/>
            </a:avLst>
          </a:prstGeom>
          <a:solidFill>
            <a:srgbClr val="D6F5EE"/>
          </a:solidFill>
          <a:ln w="6350">
            <a:solidFill>
              <a:srgbClr val="BCDBD4"/>
            </a:solidFill>
            <a:prstDash val="solid"/>
          </a:ln>
        </p:spPr>
      </p:sp>
      <p:sp>
        <p:nvSpPr>
          <p:cNvPr id="10" name="Text 8"/>
          <p:cNvSpPr/>
          <p:nvPr/>
        </p:nvSpPr>
        <p:spPr>
          <a:xfrm>
            <a:off x="723485" y="3363863"/>
            <a:ext cx="248041" cy="310059"/>
          </a:xfrm>
          <a:prstGeom prst="rect">
            <a:avLst/>
          </a:prstGeom>
          <a:noFill/>
          <a:ln/>
        </p:spPr>
        <p:txBody>
          <a:bodyPr wrap="none" lIns="0" tIns="0" rIns="0" bIns="0" rtlCol="0" anchor="ctr"/>
          <a:lstStyle/>
          <a:p>
            <a:pPr marL="0" indent="0" algn="ctr">
              <a:lnSpc>
                <a:spcPct val="100000"/>
              </a:lnSpc>
              <a:buNone/>
            </a:pPr>
            <a:r>
              <a:rPr lang="en-US" sz="1950" b="1" dirty="0">
                <a:solidFill>
                  <a:srgbClr val="333F70"/>
                </a:solidFill>
                <a:latin typeface="Unbounded Bold" pitchFamily="34" charset="0"/>
                <a:ea typeface="Unbounded Bold" pitchFamily="34" charset="-122"/>
                <a:cs typeface="Unbounded Bold" pitchFamily="34" charset="-120"/>
              </a:rPr>
              <a:t>2</a:t>
            </a:r>
            <a:endParaRPr lang="en-US" sz="1950" dirty="0"/>
          </a:p>
        </p:txBody>
      </p:sp>
      <p:sp>
        <p:nvSpPr>
          <p:cNvPr id="11" name="Text 9"/>
          <p:cNvSpPr/>
          <p:nvPr/>
        </p:nvSpPr>
        <p:spPr>
          <a:xfrm>
            <a:off x="1198830" y="3389709"/>
            <a:ext cx="4695311" cy="258465"/>
          </a:xfrm>
          <a:prstGeom prst="rect">
            <a:avLst/>
          </a:prstGeom>
          <a:noFill/>
          <a:ln/>
        </p:spPr>
        <p:txBody>
          <a:bodyPr wrap="none" lIns="0" tIns="0" rIns="0" bIns="0" rtlCol="0" anchor="t"/>
          <a:lstStyle/>
          <a:p>
            <a:pPr marL="0" indent="0" algn="l">
              <a:lnSpc>
                <a:spcPct val="104000"/>
              </a:lnSpc>
              <a:buNone/>
            </a:pPr>
            <a:r>
              <a:rPr lang="en-US" sz="1600" b="1" dirty="0">
                <a:solidFill>
                  <a:srgbClr val="333F70"/>
                </a:solidFill>
                <a:latin typeface="Unbounded Bold" pitchFamily="34" charset="0"/>
                <a:ea typeface="Unbounded Bold" pitchFamily="34" charset="-122"/>
                <a:cs typeface="Unbounded Bold" pitchFamily="34" charset="-120"/>
              </a:rPr>
              <a:t>Implement Two's Complement</a:t>
            </a:r>
            <a:endParaRPr lang="en-US" sz="1600" dirty="0"/>
          </a:p>
        </p:txBody>
      </p:sp>
      <p:sp>
        <p:nvSpPr>
          <p:cNvPr id="12" name="Text 10"/>
          <p:cNvSpPr/>
          <p:nvPr/>
        </p:nvSpPr>
        <p:spPr>
          <a:xfrm>
            <a:off x="1198830" y="3813473"/>
            <a:ext cx="4695311"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F70"/>
                </a:solidFill>
                <a:latin typeface="Open Sans" pitchFamily="34" charset="0"/>
                <a:ea typeface="Open Sans" pitchFamily="34" charset="-122"/>
                <a:cs typeface="Open Sans" pitchFamily="34" charset="-120"/>
              </a:rPr>
              <a:t>Apply two's complement representation for signed arithmetic, enabling the circuit to correctly process both positive and negative integer operands.</a:t>
            </a:r>
            <a:endParaRPr lang="en-US" sz="1300" dirty="0"/>
          </a:p>
        </p:txBody>
      </p:sp>
      <p:sp>
        <p:nvSpPr>
          <p:cNvPr id="13" name="Shape 11"/>
          <p:cNvSpPr/>
          <p:nvPr/>
        </p:nvSpPr>
        <p:spPr>
          <a:xfrm>
            <a:off x="661475" y="4938018"/>
            <a:ext cx="372061" cy="372070"/>
          </a:xfrm>
          <a:prstGeom prst="roundRect">
            <a:avLst>
              <a:gd name="adj" fmla="val 18670"/>
            </a:avLst>
          </a:prstGeom>
          <a:solidFill>
            <a:srgbClr val="D6F5EE"/>
          </a:solidFill>
          <a:ln w="6350">
            <a:solidFill>
              <a:srgbClr val="BCDBD4"/>
            </a:solidFill>
            <a:prstDash val="solid"/>
          </a:ln>
        </p:spPr>
      </p:sp>
      <p:sp>
        <p:nvSpPr>
          <p:cNvPr id="14" name="Text 12"/>
          <p:cNvSpPr/>
          <p:nvPr/>
        </p:nvSpPr>
        <p:spPr>
          <a:xfrm>
            <a:off x="723485" y="4969024"/>
            <a:ext cx="248041" cy="310059"/>
          </a:xfrm>
          <a:prstGeom prst="rect">
            <a:avLst/>
          </a:prstGeom>
          <a:noFill/>
          <a:ln/>
        </p:spPr>
        <p:txBody>
          <a:bodyPr wrap="none" lIns="0" tIns="0" rIns="0" bIns="0" rtlCol="0" anchor="ctr"/>
          <a:lstStyle/>
          <a:p>
            <a:pPr marL="0" indent="0" algn="ctr">
              <a:lnSpc>
                <a:spcPct val="100000"/>
              </a:lnSpc>
              <a:buNone/>
            </a:pPr>
            <a:r>
              <a:rPr lang="en-US" sz="1950" b="1" dirty="0">
                <a:solidFill>
                  <a:srgbClr val="333F70"/>
                </a:solidFill>
                <a:latin typeface="Unbounded Bold" pitchFamily="34" charset="0"/>
                <a:ea typeface="Unbounded Bold" pitchFamily="34" charset="-122"/>
                <a:cs typeface="Unbounded Bold" pitchFamily="34" charset="-120"/>
              </a:rPr>
              <a:t>3</a:t>
            </a:r>
            <a:endParaRPr lang="en-US" sz="1950" dirty="0"/>
          </a:p>
        </p:txBody>
      </p:sp>
      <p:sp>
        <p:nvSpPr>
          <p:cNvPr id="15" name="Text 13"/>
          <p:cNvSpPr/>
          <p:nvPr/>
        </p:nvSpPr>
        <p:spPr>
          <a:xfrm>
            <a:off x="1198830" y="4994870"/>
            <a:ext cx="4695311" cy="258465"/>
          </a:xfrm>
          <a:prstGeom prst="rect">
            <a:avLst/>
          </a:prstGeom>
          <a:noFill/>
          <a:ln/>
        </p:spPr>
        <p:txBody>
          <a:bodyPr wrap="none" lIns="0" tIns="0" rIns="0" bIns="0" rtlCol="0" anchor="t"/>
          <a:lstStyle/>
          <a:p>
            <a:pPr marL="0" indent="0" algn="l">
              <a:lnSpc>
                <a:spcPct val="104000"/>
              </a:lnSpc>
              <a:buNone/>
            </a:pPr>
            <a:r>
              <a:rPr lang="en-US" sz="1600" b="1" dirty="0">
                <a:solidFill>
                  <a:srgbClr val="333F70"/>
                </a:solidFill>
                <a:latin typeface="Unbounded Bold" pitchFamily="34" charset="0"/>
                <a:ea typeface="Unbounded Bold" pitchFamily="34" charset="-122"/>
                <a:cs typeface="Unbounded Bold" pitchFamily="34" charset="-120"/>
              </a:rPr>
              <a:t>Detect Overflow Conditions</a:t>
            </a:r>
            <a:endParaRPr lang="en-US" sz="1600" dirty="0"/>
          </a:p>
        </p:txBody>
      </p:sp>
      <p:sp>
        <p:nvSpPr>
          <p:cNvPr id="16" name="Text 14"/>
          <p:cNvSpPr/>
          <p:nvPr/>
        </p:nvSpPr>
        <p:spPr>
          <a:xfrm>
            <a:off x="1198830" y="5418634"/>
            <a:ext cx="4695311"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F70"/>
                </a:solidFill>
                <a:latin typeface="Open Sans" pitchFamily="34" charset="0"/>
                <a:ea typeface="Open Sans" pitchFamily="34" charset="-122"/>
                <a:cs typeface="Open Sans" pitchFamily="34" charset="-120"/>
              </a:rPr>
              <a:t>Design dedicated overflow detection logic and expose a 1-bit overflow flag output that correctly identifies out-of-range arithmetic results.</a:t>
            </a:r>
            <a:endParaRPr lang="en-US" sz="1300" dirty="0"/>
          </a:p>
        </p:txBody>
      </p:sp>
      <p:sp>
        <p:nvSpPr>
          <p:cNvPr id="17" name="Shape 15"/>
          <p:cNvSpPr/>
          <p:nvPr/>
        </p:nvSpPr>
        <p:spPr>
          <a:xfrm>
            <a:off x="6303904" y="1727696"/>
            <a:ext cx="372061" cy="372070"/>
          </a:xfrm>
          <a:prstGeom prst="roundRect">
            <a:avLst>
              <a:gd name="adj" fmla="val 18670"/>
            </a:avLst>
          </a:prstGeom>
          <a:solidFill>
            <a:srgbClr val="D6F5EE"/>
          </a:solidFill>
          <a:ln w="6350">
            <a:solidFill>
              <a:srgbClr val="BCDBD4"/>
            </a:solidFill>
            <a:prstDash val="solid"/>
          </a:ln>
        </p:spPr>
      </p:sp>
      <p:sp>
        <p:nvSpPr>
          <p:cNvPr id="18" name="Text 16"/>
          <p:cNvSpPr/>
          <p:nvPr/>
        </p:nvSpPr>
        <p:spPr>
          <a:xfrm>
            <a:off x="6365914" y="1758702"/>
            <a:ext cx="248041" cy="310059"/>
          </a:xfrm>
          <a:prstGeom prst="rect">
            <a:avLst/>
          </a:prstGeom>
          <a:noFill/>
          <a:ln/>
        </p:spPr>
        <p:txBody>
          <a:bodyPr wrap="none" lIns="0" tIns="0" rIns="0" bIns="0" rtlCol="0" anchor="ctr"/>
          <a:lstStyle/>
          <a:p>
            <a:pPr marL="0" indent="0" algn="ctr">
              <a:lnSpc>
                <a:spcPct val="100000"/>
              </a:lnSpc>
              <a:buNone/>
            </a:pPr>
            <a:r>
              <a:rPr lang="en-US" sz="1950" b="1" dirty="0">
                <a:solidFill>
                  <a:srgbClr val="333F70"/>
                </a:solidFill>
                <a:latin typeface="Unbounded Bold" pitchFamily="34" charset="0"/>
                <a:ea typeface="Unbounded Bold" pitchFamily="34" charset="-122"/>
                <a:cs typeface="Unbounded Bold" pitchFamily="34" charset="-120"/>
              </a:rPr>
              <a:t>1</a:t>
            </a:r>
            <a:endParaRPr lang="en-US" sz="1950" dirty="0"/>
          </a:p>
        </p:txBody>
      </p:sp>
      <p:sp>
        <p:nvSpPr>
          <p:cNvPr id="19" name="Text 17"/>
          <p:cNvSpPr/>
          <p:nvPr/>
        </p:nvSpPr>
        <p:spPr>
          <a:xfrm>
            <a:off x="6841259" y="1784548"/>
            <a:ext cx="4695311" cy="258465"/>
          </a:xfrm>
          <a:prstGeom prst="rect">
            <a:avLst/>
          </a:prstGeom>
          <a:noFill/>
          <a:ln/>
        </p:spPr>
        <p:txBody>
          <a:bodyPr wrap="none" lIns="0" tIns="0" rIns="0" bIns="0" rtlCol="0" anchor="t"/>
          <a:lstStyle/>
          <a:p>
            <a:pPr marL="0" indent="0" algn="l">
              <a:lnSpc>
                <a:spcPct val="104000"/>
              </a:lnSpc>
              <a:buNone/>
            </a:pPr>
            <a:r>
              <a:rPr lang="en-US" sz="1600" b="1" dirty="0">
                <a:solidFill>
                  <a:srgbClr val="333F70"/>
                </a:solidFill>
                <a:latin typeface="Unbounded Bold" pitchFamily="34" charset="0"/>
                <a:ea typeface="Unbounded Bold" pitchFamily="34" charset="-122"/>
                <a:cs typeface="Unbounded Bold" pitchFamily="34" charset="-120"/>
              </a:rPr>
              <a:t>Simulate the Complete Circuit</a:t>
            </a:r>
            <a:endParaRPr lang="en-US" sz="1600" dirty="0"/>
          </a:p>
        </p:txBody>
      </p:sp>
      <p:sp>
        <p:nvSpPr>
          <p:cNvPr id="20" name="Text 18"/>
          <p:cNvSpPr/>
          <p:nvPr/>
        </p:nvSpPr>
        <p:spPr>
          <a:xfrm>
            <a:off x="6841259" y="2208312"/>
            <a:ext cx="4695311"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F70"/>
                </a:solidFill>
                <a:latin typeface="Open Sans" pitchFamily="34" charset="0"/>
                <a:ea typeface="Open Sans" pitchFamily="34" charset="-122"/>
                <a:cs typeface="Open Sans" pitchFamily="34" charset="-120"/>
              </a:rPr>
              <a:t>Build and simulate the full system in a digital logic simulator (Logisim or Digital), observing signal behavior across all gate levels.</a:t>
            </a:r>
            <a:endParaRPr lang="en-US" sz="1300" dirty="0"/>
          </a:p>
        </p:txBody>
      </p:sp>
      <p:sp>
        <p:nvSpPr>
          <p:cNvPr id="21" name="Shape 19"/>
          <p:cNvSpPr/>
          <p:nvPr/>
        </p:nvSpPr>
        <p:spPr>
          <a:xfrm>
            <a:off x="6303904" y="3332857"/>
            <a:ext cx="372061" cy="372070"/>
          </a:xfrm>
          <a:prstGeom prst="roundRect">
            <a:avLst>
              <a:gd name="adj" fmla="val 18670"/>
            </a:avLst>
          </a:prstGeom>
          <a:solidFill>
            <a:srgbClr val="D6F5EE"/>
          </a:solidFill>
          <a:ln w="6350">
            <a:solidFill>
              <a:srgbClr val="BCDBD4"/>
            </a:solidFill>
            <a:prstDash val="solid"/>
          </a:ln>
        </p:spPr>
      </p:sp>
      <p:sp>
        <p:nvSpPr>
          <p:cNvPr id="22" name="Text 20"/>
          <p:cNvSpPr/>
          <p:nvPr/>
        </p:nvSpPr>
        <p:spPr>
          <a:xfrm>
            <a:off x="6365914" y="3363863"/>
            <a:ext cx="248041" cy="310059"/>
          </a:xfrm>
          <a:prstGeom prst="rect">
            <a:avLst/>
          </a:prstGeom>
          <a:noFill/>
          <a:ln/>
        </p:spPr>
        <p:txBody>
          <a:bodyPr wrap="none" lIns="0" tIns="0" rIns="0" bIns="0" rtlCol="0" anchor="ctr"/>
          <a:lstStyle/>
          <a:p>
            <a:pPr marL="0" indent="0" algn="ctr">
              <a:lnSpc>
                <a:spcPct val="100000"/>
              </a:lnSpc>
              <a:buNone/>
            </a:pPr>
            <a:r>
              <a:rPr lang="en-US" sz="1950" b="1" dirty="0">
                <a:solidFill>
                  <a:srgbClr val="333F70"/>
                </a:solidFill>
                <a:latin typeface="Unbounded Bold" pitchFamily="34" charset="0"/>
                <a:ea typeface="Unbounded Bold" pitchFamily="34" charset="-122"/>
                <a:cs typeface="Unbounded Bold" pitchFamily="34" charset="-120"/>
              </a:rPr>
              <a:t>2</a:t>
            </a:r>
            <a:endParaRPr lang="en-US" sz="1950" dirty="0"/>
          </a:p>
        </p:txBody>
      </p:sp>
      <p:sp>
        <p:nvSpPr>
          <p:cNvPr id="23" name="Text 21"/>
          <p:cNvSpPr/>
          <p:nvPr/>
        </p:nvSpPr>
        <p:spPr>
          <a:xfrm>
            <a:off x="6841259" y="3389709"/>
            <a:ext cx="4695311" cy="258465"/>
          </a:xfrm>
          <a:prstGeom prst="rect">
            <a:avLst/>
          </a:prstGeom>
          <a:noFill/>
          <a:ln/>
        </p:spPr>
        <p:txBody>
          <a:bodyPr wrap="none" lIns="0" tIns="0" rIns="0" bIns="0" rtlCol="0" anchor="t"/>
          <a:lstStyle/>
          <a:p>
            <a:pPr marL="0" indent="0" algn="l">
              <a:lnSpc>
                <a:spcPct val="104000"/>
              </a:lnSpc>
              <a:buNone/>
            </a:pPr>
            <a:r>
              <a:rPr lang="en-US" sz="1600" b="1" dirty="0">
                <a:solidFill>
                  <a:srgbClr val="333F70"/>
                </a:solidFill>
                <a:latin typeface="Unbounded Bold" pitchFamily="34" charset="0"/>
                <a:ea typeface="Unbounded Bold" pitchFamily="34" charset="-122"/>
                <a:cs typeface="Unbounded Bold" pitchFamily="34" charset="-120"/>
              </a:rPr>
              <a:t>Verify Correctness</a:t>
            </a:r>
            <a:endParaRPr lang="en-US" sz="1600" dirty="0"/>
          </a:p>
        </p:txBody>
      </p:sp>
      <p:sp>
        <p:nvSpPr>
          <p:cNvPr id="24" name="Text 22"/>
          <p:cNvSpPr/>
          <p:nvPr/>
        </p:nvSpPr>
        <p:spPr>
          <a:xfrm>
            <a:off x="6841259" y="3813473"/>
            <a:ext cx="4695311"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F70"/>
                </a:solidFill>
                <a:latin typeface="Open Sans" pitchFamily="34" charset="0"/>
                <a:ea typeface="Open Sans" pitchFamily="34" charset="-122"/>
                <a:cs typeface="Open Sans" pitchFamily="34" charset="-120"/>
              </a:rPr>
              <a:t>Validate the design through truth tables, structured test cases, and simulation results; confirm all outputs match mathematically expected values.</a:t>
            </a:r>
            <a:endParaRPr lang="en-US" sz="1300" dirty="0"/>
          </a:p>
        </p:txBody>
      </p:sp>
      <p:sp>
        <p:nvSpPr>
          <p:cNvPr id="25" name="Shape 23"/>
          <p:cNvSpPr/>
          <p:nvPr/>
        </p:nvSpPr>
        <p:spPr>
          <a:xfrm>
            <a:off x="6303904" y="4938018"/>
            <a:ext cx="372061" cy="372070"/>
          </a:xfrm>
          <a:prstGeom prst="roundRect">
            <a:avLst>
              <a:gd name="adj" fmla="val 18670"/>
            </a:avLst>
          </a:prstGeom>
          <a:solidFill>
            <a:srgbClr val="D6F5EE"/>
          </a:solidFill>
          <a:ln w="6350">
            <a:solidFill>
              <a:srgbClr val="BCDBD4"/>
            </a:solidFill>
            <a:prstDash val="solid"/>
          </a:ln>
        </p:spPr>
      </p:sp>
      <p:sp>
        <p:nvSpPr>
          <p:cNvPr id="26" name="Text 24"/>
          <p:cNvSpPr/>
          <p:nvPr/>
        </p:nvSpPr>
        <p:spPr>
          <a:xfrm>
            <a:off x="6365914" y="4969024"/>
            <a:ext cx="248041" cy="310059"/>
          </a:xfrm>
          <a:prstGeom prst="rect">
            <a:avLst/>
          </a:prstGeom>
          <a:noFill/>
          <a:ln/>
        </p:spPr>
        <p:txBody>
          <a:bodyPr wrap="none" lIns="0" tIns="0" rIns="0" bIns="0" rtlCol="0" anchor="ctr"/>
          <a:lstStyle/>
          <a:p>
            <a:pPr marL="0" indent="0" algn="ctr">
              <a:lnSpc>
                <a:spcPct val="100000"/>
              </a:lnSpc>
              <a:buNone/>
            </a:pPr>
            <a:r>
              <a:rPr lang="en-US" sz="1950" b="1" dirty="0">
                <a:solidFill>
                  <a:srgbClr val="333F70"/>
                </a:solidFill>
                <a:latin typeface="Unbounded Bold" pitchFamily="34" charset="0"/>
                <a:ea typeface="Unbounded Bold" pitchFamily="34" charset="-122"/>
                <a:cs typeface="Unbounded Bold" pitchFamily="34" charset="-120"/>
              </a:rPr>
              <a:t>3</a:t>
            </a:r>
            <a:endParaRPr lang="en-US" sz="1950" dirty="0"/>
          </a:p>
        </p:txBody>
      </p:sp>
      <p:sp>
        <p:nvSpPr>
          <p:cNvPr id="27" name="Text 25"/>
          <p:cNvSpPr/>
          <p:nvPr/>
        </p:nvSpPr>
        <p:spPr>
          <a:xfrm>
            <a:off x="6841259" y="4994870"/>
            <a:ext cx="4695311" cy="258465"/>
          </a:xfrm>
          <a:prstGeom prst="rect">
            <a:avLst/>
          </a:prstGeom>
          <a:noFill/>
          <a:ln/>
        </p:spPr>
        <p:txBody>
          <a:bodyPr wrap="none" lIns="0" tIns="0" rIns="0" bIns="0" rtlCol="0" anchor="t"/>
          <a:lstStyle/>
          <a:p>
            <a:pPr marL="0" indent="0" algn="l">
              <a:lnSpc>
                <a:spcPct val="104000"/>
              </a:lnSpc>
              <a:buNone/>
            </a:pPr>
            <a:r>
              <a:rPr lang="en-US" sz="1600" b="1" dirty="0">
                <a:solidFill>
                  <a:srgbClr val="333F70"/>
                </a:solidFill>
                <a:latin typeface="Unbounded Bold" pitchFamily="34" charset="0"/>
                <a:ea typeface="Unbounded Bold" pitchFamily="34" charset="-122"/>
                <a:cs typeface="Unbounded Bold" pitchFamily="34" charset="-120"/>
              </a:rPr>
              <a:t>Document the Design Hierarchy</a:t>
            </a:r>
            <a:endParaRPr lang="en-US" sz="1600" dirty="0"/>
          </a:p>
        </p:txBody>
      </p:sp>
      <p:sp>
        <p:nvSpPr>
          <p:cNvPr id="28" name="Text 26"/>
          <p:cNvSpPr/>
          <p:nvPr/>
        </p:nvSpPr>
        <p:spPr>
          <a:xfrm>
            <a:off x="6841259" y="5418634"/>
            <a:ext cx="4695311"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F70"/>
                </a:solidFill>
                <a:latin typeface="Open Sans" pitchFamily="34" charset="0"/>
                <a:ea typeface="Open Sans" pitchFamily="34" charset="-122"/>
                <a:cs typeface="Open Sans" pitchFamily="34" charset="-120"/>
              </a:rPr>
              <a:t>Produce a complete documentation trail: from primitive gates → half/full adders → 4-bit adder → integrated calculator system.</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661475" y="616049"/>
            <a:ext cx="730133" cy="215801"/>
          </a:xfrm>
          <a:prstGeom prst="roundRect">
            <a:avLst>
              <a:gd name="adj" fmla="val 22130"/>
            </a:avLst>
          </a:prstGeom>
          <a:solidFill>
            <a:srgbClr val="D6F5EE"/>
          </a:solidFill>
          <a:ln/>
        </p:spPr>
      </p:sp>
      <p:sp>
        <p:nvSpPr>
          <p:cNvPr id="3" name="Text 1"/>
          <p:cNvSpPr/>
          <p:nvPr/>
        </p:nvSpPr>
        <p:spPr>
          <a:xfrm>
            <a:off x="746702" y="658614"/>
            <a:ext cx="1169264" cy="130671"/>
          </a:xfrm>
          <a:prstGeom prst="rect">
            <a:avLst/>
          </a:prstGeom>
          <a:noFill/>
          <a:ln/>
        </p:spPr>
        <p:txBody>
          <a:bodyPr wrap="none" lIns="0" tIns="0" rIns="0" bIns="0" rtlCol="0" anchor="t"/>
          <a:lstStyle/>
          <a:p>
            <a:pPr marL="0" indent="0" algn="l">
              <a:lnSpc>
                <a:spcPct val="96000"/>
              </a:lnSpc>
              <a:buNone/>
            </a:pPr>
            <a:r>
              <a:rPr lang="en-US" sz="850" dirty="0">
                <a:solidFill>
                  <a:srgbClr val="333F70"/>
                </a:solidFill>
                <a:latin typeface="Open Sans" pitchFamily="34" charset="0"/>
                <a:ea typeface="Open Sans" pitchFamily="34" charset="-122"/>
                <a:cs typeface="Open Sans" pitchFamily="34" charset="-120"/>
              </a:rPr>
              <a:t>SECTION 4</a:t>
            </a:r>
            <a:endParaRPr lang="en-US" sz="850" dirty="0"/>
          </a:p>
        </p:txBody>
      </p:sp>
      <p:sp>
        <p:nvSpPr>
          <p:cNvPr id="4" name="Text 2"/>
          <p:cNvSpPr/>
          <p:nvPr/>
        </p:nvSpPr>
        <p:spPr>
          <a:xfrm>
            <a:off x="661475" y="880666"/>
            <a:ext cx="10868745" cy="444103"/>
          </a:xfrm>
          <a:prstGeom prst="rect">
            <a:avLst/>
          </a:prstGeom>
          <a:noFill/>
          <a:ln/>
        </p:spPr>
        <p:txBody>
          <a:bodyPr wrap="none" lIns="0" tIns="0" rIns="0" bIns="0" rtlCol="0" anchor="t"/>
          <a:lstStyle/>
          <a:p>
            <a:pPr marL="0" indent="0" algn="l">
              <a:lnSpc>
                <a:spcPct val="104000"/>
              </a:lnSpc>
              <a:buNone/>
            </a:pPr>
            <a:r>
              <a:rPr lang="en-US" sz="2750" b="1" dirty="0">
                <a:solidFill>
                  <a:srgbClr val="333F70"/>
                </a:solidFill>
                <a:latin typeface="Unbounded Bold" pitchFamily="34" charset="0"/>
                <a:ea typeface="Unbounded Bold" pitchFamily="34" charset="-122"/>
                <a:cs typeface="Unbounded Bold" pitchFamily="34" charset="-120"/>
              </a:rPr>
              <a:t>Literature Survey &amp; Existing Systems</a:t>
            </a:r>
            <a:endParaRPr lang="en-US" sz="2750" dirty="0"/>
          </a:p>
        </p:txBody>
      </p:sp>
      <p:sp>
        <p:nvSpPr>
          <p:cNvPr id="5" name="Text 3"/>
          <p:cNvSpPr/>
          <p:nvPr/>
        </p:nvSpPr>
        <p:spPr>
          <a:xfrm>
            <a:off x="661475" y="1630065"/>
            <a:ext cx="5821812" cy="222052"/>
          </a:xfrm>
          <a:prstGeom prst="rect">
            <a:avLst/>
          </a:prstGeom>
          <a:noFill/>
          <a:ln/>
        </p:spPr>
        <p:txBody>
          <a:bodyPr wrap="none" lIns="0" tIns="0" rIns="0" bIns="0" rtlCol="0" anchor="t"/>
          <a:lstStyle/>
          <a:p>
            <a:pPr marL="0" indent="0" algn="l">
              <a:lnSpc>
                <a:spcPct val="104000"/>
              </a:lnSpc>
              <a:buNone/>
            </a:pPr>
            <a:r>
              <a:rPr lang="en-US" sz="1350" b="1" dirty="0">
                <a:solidFill>
                  <a:srgbClr val="333F70"/>
                </a:solidFill>
                <a:latin typeface="Unbounded Bold" pitchFamily="34" charset="0"/>
                <a:ea typeface="Unbounded Bold" pitchFamily="34" charset="-122"/>
                <a:cs typeface="Unbounded Bold" pitchFamily="34" charset="-120"/>
              </a:rPr>
              <a:t>Ripple-Carry Adders</a:t>
            </a:r>
            <a:endParaRPr lang="en-US" sz="1350" dirty="0"/>
          </a:p>
        </p:txBody>
      </p:sp>
      <p:sp>
        <p:nvSpPr>
          <p:cNvPr id="6" name="Text 4"/>
          <p:cNvSpPr/>
          <p:nvPr/>
        </p:nvSpPr>
        <p:spPr>
          <a:xfrm>
            <a:off x="661475" y="1974255"/>
            <a:ext cx="5821812" cy="1057176"/>
          </a:xfrm>
          <a:prstGeom prst="rect">
            <a:avLst/>
          </a:prstGeom>
          <a:noFill/>
          <a:ln/>
        </p:spPr>
        <p:txBody>
          <a:bodyPr wrap="square" lIns="0" tIns="0" rIns="0" bIns="0" rtlCol="0" anchor="t">
            <a:normAutofit/>
          </a:bodyPr>
          <a:lstStyle/>
          <a:p>
            <a:pPr marL="0" indent="0" algn="l">
              <a:lnSpc>
                <a:spcPct val="124000"/>
              </a:lnSpc>
              <a:buNone/>
            </a:pPr>
            <a:r>
              <a:rPr lang="en-US" sz="1100" dirty="0">
                <a:solidFill>
                  <a:srgbClr val="333F70"/>
                </a:solidFill>
                <a:latin typeface="Open Sans" pitchFamily="34" charset="0"/>
                <a:ea typeface="Open Sans" pitchFamily="34" charset="-122"/>
                <a:cs typeface="Open Sans" pitchFamily="34" charset="-120"/>
              </a:rPr>
              <a:t>The </a:t>
            </a:r>
            <a:r>
              <a:rPr lang="en-US" sz="1100" b="1" dirty="0">
                <a:solidFill>
                  <a:srgbClr val="333F70"/>
                </a:solidFill>
                <a:latin typeface="Open Sans Bold" pitchFamily="34" charset="0"/>
                <a:ea typeface="Open Sans Bold" pitchFamily="34" charset="-122"/>
                <a:cs typeface="Open Sans Bold" pitchFamily="34" charset="-120"/>
              </a:rPr>
              <a:t>ripple-carry adder (RCA)</a:t>
            </a:r>
            <a:r>
              <a:rPr lang="en-US" sz="1100" dirty="0">
                <a:solidFill>
                  <a:srgbClr val="333F70"/>
                </a:solidFill>
                <a:latin typeface="Open Sans" pitchFamily="34" charset="0"/>
                <a:ea typeface="Open Sans" pitchFamily="34" charset="-122"/>
                <a:cs typeface="Open Sans" pitchFamily="34" charset="-120"/>
              </a:rPr>
              <a:t> is the canonical gate-level design, where carry propagates sequentially through each bit stage. It is conceptually simple and uses minimal logic, making it the standard choice for educational implementations. The trade-off is propagation delay that grows linearly with bit width — a significant limitation for wide datapaths.</a:t>
            </a:r>
            <a:endParaRPr lang="en-US" sz="1100" dirty="0"/>
          </a:p>
        </p:txBody>
      </p:sp>
      <p:sp>
        <p:nvSpPr>
          <p:cNvPr id="7" name="Text 5"/>
          <p:cNvSpPr/>
          <p:nvPr/>
        </p:nvSpPr>
        <p:spPr>
          <a:xfrm>
            <a:off x="661475" y="3153569"/>
            <a:ext cx="5821812" cy="222052"/>
          </a:xfrm>
          <a:prstGeom prst="rect">
            <a:avLst/>
          </a:prstGeom>
          <a:noFill/>
          <a:ln/>
        </p:spPr>
        <p:txBody>
          <a:bodyPr wrap="none" lIns="0" tIns="0" rIns="0" bIns="0" rtlCol="0" anchor="t"/>
          <a:lstStyle/>
          <a:p>
            <a:pPr marL="0" indent="0" algn="l">
              <a:lnSpc>
                <a:spcPct val="104000"/>
              </a:lnSpc>
              <a:buNone/>
            </a:pPr>
            <a:r>
              <a:rPr lang="en-US" sz="1350" b="1" dirty="0">
                <a:solidFill>
                  <a:srgbClr val="333F70"/>
                </a:solidFill>
                <a:latin typeface="Unbounded Bold" pitchFamily="34" charset="0"/>
                <a:ea typeface="Unbounded Bold" pitchFamily="34" charset="-122"/>
                <a:cs typeface="Unbounded Bold" pitchFamily="34" charset="-120"/>
              </a:rPr>
              <a:t>Carry-Lookahead Adders</a:t>
            </a:r>
            <a:endParaRPr lang="en-US" sz="1350" dirty="0"/>
          </a:p>
        </p:txBody>
      </p:sp>
      <p:sp>
        <p:nvSpPr>
          <p:cNvPr id="8" name="Text 6"/>
          <p:cNvSpPr/>
          <p:nvPr/>
        </p:nvSpPr>
        <p:spPr>
          <a:xfrm>
            <a:off x="661475" y="3497759"/>
            <a:ext cx="5821812" cy="845741"/>
          </a:xfrm>
          <a:prstGeom prst="rect">
            <a:avLst/>
          </a:prstGeom>
          <a:noFill/>
          <a:ln/>
        </p:spPr>
        <p:txBody>
          <a:bodyPr wrap="square" lIns="0" tIns="0" rIns="0" bIns="0" rtlCol="0" anchor="t">
            <a:normAutofit/>
          </a:bodyPr>
          <a:lstStyle/>
          <a:p>
            <a:pPr marL="0" indent="0" algn="l">
              <a:lnSpc>
                <a:spcPct val="124000"/>
              </a:lnSpc>
              <a:buNone/>
            </a:pPr>
            <a:r>
              <a:rPr lang="en-US" sz="1100" b="1" dirty="0">
                <a:solidFill>
                  <a:srgbClr val="333F70"/>
                </a:solidFill>
                <a:latin typeface="Open Sans Bold" pitchFamily="34" charset="0"/>
                <a:ea typeface="Open Sans Bold" pitchFamily="34" charset="-122"/>
                <a:cs typeface="Open Sans Bold" pitchFamily="34" charset="-120"/>
              </a:rPr>
              <a:t>Carry-lookahead adders (CLA)</a:t>
            </a:r>
            <a:r>
              <a:rPr lang="en-US" sz="1100" dirty="0">
                <a:solidFill>
                  <a:srgbClr val="333F70"/>
                </a:solidFill>
                <a:latin typeface="Open Sans" pitchFamily="34" charset="0"/>
                <a:ea typeface="Open Sans" pitchFamily="34" charset="-122"/>
                <a:cs typeface="Open Sans" pitchFamily="34" charset="-120"/>
              </a:rPr>
              <a:t> overcome RCA latency by computing carry signals in parallel using generate and propagate signals. This reduces critical path delay to O(log n) at the cost of substantially greater gate complexity — typically impractical for manual gate-level educational design.</a:t>
            </a:r>
            <a:endParaRPr lang="en-US" sz="1100" dirty="0"/>
          </a:p>
        </p:txBody>
      </p:sp>
      <p:sp>
        <p:nvSpPr>
          <p:cNvPr id="9" name="Text 7"/>
          <p:cNvSpPr/>
          <p:nvPr/>
        </p:nvSpPr>
        <p:spPr>
          <a:xfrm>
            <a:off x="661475" y="4465638"/>
            <a:ext cx="5821812" cy="222052"/>
          </a:xfrm>
          <a:prstGeom prst="rect">
            <a:avLst/>
          </a:prstGeom>
          <a:noFill/>
          <a:ln/>
        </p:spPr>
        <p:txBody>
          <a:bodyPr wrap="none" lIns="0" tIns="0" rIns="0" bIns="0" rtlCol="0" anchor="t"/>
          <a:lstStyle/>
          <a:p>
            <a:pPr marL="0" indent="0" algn="l">
              <a:lnSpc>
                <a:spcPct val="104000"/>
              </a:lnSpc>
              <a:buNone/>
            </a:pPr>
            <a:r>
              <a:rPr lang="en-US" sz="1350" b="1" dirty="0">
                <a:solidFill>
                  <a:srgbClr val="333F70"/>
                </a:solidFill>
                <a:latin typeface="Unbounded Bold" pitchFamily="34" charset="0"/>
                <a:ea typeface="Unbounded Bold" pitchFamily="34" charset="-122"/>
                <a:cs typeface="Unbounded Bold" pitchFamily="34" charset="-120"/>
              </a:rPr>
              <a:t>ALU Designs in Real CPUs</a:t>
            </a:r>
            <a:endParaRPr lang="en-US" sz="1350" dirty="0"/>
          </a:p>
        </p:txBody>
      </p:sp>
      <p:sp>
        <p:nvSpPr>
          <p:cNvPr id="10" name="Text 8"/>
          <p:cNvSpPr/>
          <p:nvPr/>
        </p:nvSpPr>
        <p:spPr>
          <a:xfrm>
            <a:off x="661475" y="4809827"/>
            <a:ext cx="5821812" cy="845741"/>
          </a:xfrm>
          <a:prstGeom prst="rect">
            <a:avLst/>
          </a:prstGeom>
          <a:noFill/>
          <a:ln/>
        </p:spPr>
        <p:txBody>
          <a:bodyPr wrap="square" lIns="0" tIns="0" rIns="0" bIns="0" rtlCol="0" anchor="t">
            <a:normAutofit/>
          </a:bodyPr>
          <a:lstStyle/>
          <a:p>
            <a:pPr marL="0" indent="0" algn="l">
              <a:lnSpc>
                <a:spcPct val="124000"/>
              </a:lnSpc>
              <a:buNone/>
            </a:pPr>
            <a:r>
              <a:rPr lang="en-US" sz="1100" dirty="0">
                <a:solidFill>
                  <a:srgbClr val="333F70"/>
                </a:solidFill>
                <a:latin typeface="Open Sans" pitchFamily="34" charset="0"/>
                <a:ea typeface="Open Sans" pitchFamily="34" charset="-122"/>
                <a:cs typeface="Open Sans" pitchFamily="34" charset="-120"/>
              </a:rPr>
              <a:t>Modern processor ALUs combine optimized adder structures with multiplexers to support multiple operations: ADD, SUB, AND, OR, XOR, and shift. Real ALU designs abstract the adder as a sub-component and layer control logic on top, exactly the hierarchy this project simulates at the 4-bit educational scale.</a:t>
            </a:r>
            <a:endParaRPr lang="en-US" sz="1100" dirty="0"/>
          </a:p>
        </p:txBody>
      </p:sp>
      <p:sp>
        <p:nvSpPr>
          <p:cNvPr id="11" name="Shape 9"/>
          <p:cNvSpPr/>
          <p:nvPr/>
        </p:nvSpPr>
        <p:spPr>
          <a:xfrm>
            <a:off x="6734007" y="1507927"/>
            <a:ext cx="4904855" cy="4733925"/>
          </a:xfrm>
          <a:prstGeom prst="roundRect">
            <a:avLst>
              <a:gd name="adj" fmla="val 2162"/>
            </a:avLst>
          </a:prstGeom>
          <a:solidFill>
            <a:srgbClr val="DDF8F2"/>
          </a:solidFill>
          <a:ln/>
        </p:spPr>
      </p:sp>
      <p:sp>
        <p:nvSpPr>
          <p:cNvPr id="12" name="Text 10"/>
          <p:cNvSpPr/>
          <p:nvPr/>
        </p:nvSpPr>
        <p:spPr>
          <a:xfrm>
            <a:off x="6876084" y="1630065"/>
            <a:ext cx="4620700" cy="222052"/>
          </a:xfrm>
          <a:prstGeom prst="rect">
            <a:avLst/>
          </a:prstGeom>
          <a:noFill/>
          <a:ln/>
        </p:spPr>
        <p:txBody>
          <a:bodyPr wrap="none" lIns="0" tIns="0" rIns="0" bIns="0" rtlCol="0" anchor="t"/>
          <a:lstStyle/>
          <a:p>
            <a:pPr marL="0" indent="0" algn="l">
              <a:lnSpc>
                <a:spcPct val="104000"/>
              </a:lnSpc>
              <a:buNone/>
            </a:pPr>
            <a:r>
              <a:rPr lang="en-US" sz="1350" b="1" dirty="0">
                <a:solidFill>
                  <a:srgbClr val="333F70"/>
                </a:solidFill>
                <a:latin typeface="Unbounded Bold" pitchFamily="34" charset="0"/>
                <a:ea typeface="Unbounded Bold" pitchFamily="34" charset="-122"/>
                <a:cs typeface="Unbounded Bold" pitchFamily="34" charset="-120"/>
              </a:rPr>
              <a:t>Comparison of Adder Architectures</a:t>
            </a:r>
            <a:endParaRPr lang="en-US" sz="13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876084" y="1989435"/>
          <a:ext cx="9143771" cy="914400"/>
        </p:xfrm>
        <a:graphic>
          <a:graphicData uri="http://schemas.openxmlformats.org/drawingml/2006/table">
            <a:tbl>
              <a:tblPr/>
              <a:tblGrid>
                <a:gridCol w="1540233">
                  <a:extLst>
                    <a:ext uri="{9D8B030D-6E8A-4147-A177-3AD203B41FA5}">
                      <a16:colId xmlns:a16="http://schemas.microsoft.com/office/drawing/2014/main" val="20000"/>
                    </a:ext>
                  </a:extLst>
                </a:gridCol>
                <a:gridCol w="1540233">
                  <a:extLst>
                    <a:ext uri="{9D8B030D-6E8A-4147-A177-3AD203B41FA5}">
                      <a16:colId xmlns:a16="http://schemas.microsoft.com/office/drawing/2014/main" val="20001"/>
                    </a:ext>
                  </a:extLst>
                </a:gridCol>
                <a:gridCol w="1540233">
                  <a:extLst>
                    <a:ext uri="{9D8B030D-6E8A-4147-A177-3AD203B41FA5}">
                      <a16:colId xmlns:a16="http://schemas.microsoft.com/office/drawing/2014/main" val="20002"/>
                    </a:ext>
                  </a:extLst>
                </a:gridCol>
              </a:tblGrid>
              <a:tr h="373748">
                <a:tc>
                  <a:txBody>
                    <a:bodyPr/>
                    <a:lstStyle/>
                    <a:p>
                      <a:pPr marL="0" indent="0">
                        <a:buNone/>
                      </a:pPr>
                      <a:r>
                        <a:rPr lang="en-US" sz="1100" b="1" dirty="0">
                          <a:solidFill>
                            <a:srgbClr val="333F70"/>
                          </a:solidFill>
                          <a:latin typeface="Open Sans" pitchFamily="34" charset="0"/>
                          <a:ea typeface="Open Sans" pitchFamily="34" charset="-122"/>
                          <a:cs typeface="Open Sans" pitchFamily="34" charset="-120"/>
                        </a:rPr>
                        <a:t>Architecture</a:t>
                      </a:r>
                      <a:endParaRPr lang="en-US" sz="1100" dirty="0">
                        <a:latin typeface="Open Sans" charset="0"/>
                        <a:ea typeface="Open Sans" charset="0"/>
                        <a:cs typeface="Open Sans" charset="0"/>
                      </a:endParaRPr>
                    </a:p>
                  </a:txBody>
                  <a:tcPr marL="142133" marR="142133" marT="6350" marB="6350" anchor="ctr">
                    <a:lnL w="12700" cap="flat" cmpd="sng" algn="ctr">
                      <a:solidFill>
                        <a:srgbClr val="BCDBD4"/>
                      </a:solidFill>
                      <a:prstDash val="solid"/>
                      <a:round/>
                      <a:headEnd type="none" w="med" len="med"/>
                      <a:tailEnd type="none" w="med" len="med"/>
                    </a:lnL>
                    <a:lnR w="12700" cap="flat" cmpd="sng" algn="ctr">
                      <a:solidFill>
                        <a:srgbClr val="DDF8F2"/>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solidFill>
                      <a:srgbClr val="DDF8F2"/>
                    </a:solidFill>
                  </a:tcPr>
                </a:tc>
                <a:tc>
                  <a:txBody>
                    <a:bodyPr/>
                    <a:lstStyle/>
                    <a:p>
                      <a:pPr marL="0" indent="0">
                        <a:buNone/>
                      </a:pPr>
                      <a:r>
                        <a:rPr lang="en-US" sz="1100" b="1" dirty="0">
                          <a:solidFill>
                            <a:srgbClr val="333F70"/>
                          </a:solidFill>
                          <a:latin typeface="Open Sans" pitchFamily="34" charset="0"/>
                          <a:ea typeface="Open Sans" pitchFamily="34" charset="-122"/>
                          <a:cs typeface="Open Sans" pitchFamily="34" charset="-120"/>
                        </a:rPr>
                        <a:t>Delay</a:t>
                      </a:r>
                      <a:endParaRPr lang="en-US" sz="1100" dirty="0">
                        <a:latin typeface="Open Sans" charset="0"/>
                        <a:ea typeface="Open Sans" charset="0"/>
                        <a:cs typeface="Open Sans" charset="0"/>
                      </a:endParaRPr>
                    </a:p>
                  </a:txBody>
                  <a:tcPr marL="142133" marR="142133" marT="6350" marB="6350" anchor="ctr">
                    <a:lnL w="12700" cap="flat" cmpd="sng" algn="ctr">
                      <a:solidFill>
                        <a:srgbClr val="DDF8F2"/>
                      </a:solidFill>
                      <a:prstDash val="solid"/>
                      <a:round/>
                      <a:headEnd type="none" w="med" len="med"/>
                      <a:tailEnd type="none" w="med" len="med"/>
                    </a:lnL>
                    <a:lnR w="12700" cap="flat" cmpd="sng" algn="ctr">
                      <a:solidFill>
                        <a:srgbClr val="DDF8F2"/>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solidFill>
                      <a:srgbClr val="DDF8F2"/>
                    </a:solidFill>
                  </a:tcPr>
                </a:tc>
                <a:tc>
                  <a:txBody>
                    <a:bodyPr/>
                    <a:lstStyle/>
                    <a:p>
                      <a:pPr marL="0" indent="0">
                        <a:buNone/>
                      </a:pPr>
                      <a:r>
                        <a:rPr lang="en-US" sz="1100" b="1" dirty="0">
                          <a:solidFill>
                            <a:srgbClr val="333F70"/>
                          </a:solidFill>
                          <a:latin typeface="Open Sans" pitchFamily="34" charset="0"/>
                          <a:ea typeface="Open Sans" pitchFamily="34" charset="-122"/>
                          <a:cs typeface="Open Sans" pitchFamily="34" charset="-120"/>
                        </a:rPr>
                        <a:t>Complexity</a:t>
                      </a:r>
                      <a:endParaRPr lang="en-US" sz="1100" dirty="0">
                        <a:latin typeface="Open Sans" charset="0"/>
                        <a:ea typeface="Open Sans" charset="0"/>
                        <a:cs typeface="Open Sans" charset="0"/>
                      </a:endParaRPr>
                    </a:p>
                  </a:txBody>
                  <a:tcPr marL="142133" marR="142133" marT="6350" marB="6350" anchor="ctr">
                    <a:lnL w="12700" cap="flat" cmpd="sng" algn="ctr">
                      <a:solidFill>
                        <a:srgbClr val="DDF8F2"/>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solidFill>
                      <a:srgbClr val="DDF8F2"/>
                    </a:solidFill>
                  </a:tcPr>
                </a:tc>
                <a:extLst>
                  <a:ext uri="{0D108BD9-81ED-4DB2-BD59-A6C34878D82A}">
                    <a16:rowId xmlns:a16="http://schemas.microsoft.com/office/drawing/2014/main" val="10000"/>
                  </a:ext>
                </a:extLst>
              </a:tr>
              <a:tr h="376923">
                <a:tc>
                  <a:txBody>
                    <a:bodyPr/>
                    <a:lstStyle/>
                    <a:p>
                      <a:pPr marL="0" indent="0">
                        <a:buNone/>
                      </a:pPr>
                      <a:r>
                        <a:rPr lang="en-US" sz="1100" dirty="0">
                          <a:solidFill>
                            <a:srgbClr val="333F70"/>
                          </a:solidFill>
                          <a:latin typeface="Open Sans" pitchFamily="34" charset="0"/>
                          <a:ea typeface="Open Sans" pitchFamily="34" charset="-122"/>
                          <a:cs typeface="Open Sans" pitchFamily="34" charset="-120"/>
                        </a:rPr>
                        <a:t>Ripple-Carry</a:t>
                      </a:r>
                      <a:endParaRPr lang="en-US" sz="1100" dirty="0">
                        <a:latin typeface="Open Sans" charset="0"/>
                        <a:ea typeface="Open Sans" charset="0"/>
                        <a:cs typeface="Open Sans" charset="0"/>
                      </a:endParaRPr>
                    </a:p>
                  </a:txBody>
                  <a:tcPr marL="142133" marR="142133" marT="6350" marB="6350" anchor="ctr">
                    <a:lnL w="12700" cap="flat" cmpd="sng" algn="ctr">
                      <a:solidFill>
                        <a:srgbClr val="BCDBD4"/>
                      </a:solidFill>
                      <a:prstDash val="solid"/>
                      <a:round/>
                      <a:headEnd type="none" w="med" len="med"/>
                      <a:tailEnd type="none" w="med" len="med"/>
                    </a:lnL>
                    <a:lnR w="12700" cap="flat" cmpd="sng" algn="ctr">
                      <a:solidFill>
                        <a:srgbClr val="DDF8F2"/>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solidFill>
                      <a:srgbClr val="DDF8F2"/>
                    </a:solidFill>
                  </a:tcPr>
                </a:tc>
                <a:tc>
                  <a:txBody>
                    <a:bodyPr/>
                    <a:lstStyle/>
                    <a:p>
                      <a:pPr marL="0" indent="0">
                        <a:buNone/>
                      </a:pPr>
                      <a:r>
                        <a:rPr lang="en-US" sz="1100" dirty="0">
                          <a:solidFill>
                            <a:srgbClr val="333F70"/>
                          </a:solidFill>
                          <a:latin typeface="Open Sans" pitchFamily="34" charset="0"/>
                          <a:ea typeface="Open Sans" pitchFamily="34" charset="-122"/>
                          <a:cs typeface="Open Sans" pitchFamily="34" charset="-120"/>
                        </a:rPr>
                        <a:t>O(n)</a:t>
                      </a:r>
                      <a:endParaRPr lang="en-US" sz="1100" dirty="0">
                        <a:latin typeface="Open Sans" charset="0"/>
                        <a:ea typeface="Open Sans" charset="0"/>
                        <a:cs typeface="Open Sans" charset="0"/>
                      </a:endParaRPr>
                    </a:p>
                  </a:txBody>
                  <a:tcPr marL="142133" marR="142133" marT="6350" marB="6350" anchor="ctr">
                    <a:lnL w="12700" cap="flat" cmpd="sng" algn="ctr">
                      <a:solidFill>
                        <a:srgbClr val="DDF8F2"/>
                      </a:solidFill>
                      <a:prstDash val="solid"/>
                      <a:round/>
                      <a:headEnd type="none" w="med" len="med"/>
                      <a:tailEnd type="none" w="med" len="med"/>
                    </a:lnL>
                    <a:lnR w="12700" cap="flat" cmpd="sng" algn="ctr">
                      <a:solidFill>
                        <a:srgbClr val="DDF8F2"/>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solidFill>
                      <a:srgbClr val="DDF8F2"/>
                    </a:solidFill>
                  </a:tcPr>
                </a:tc>
                <a:tc>
                  <a:txBody>
                    <a:bodyPr/>
                    <a:lstStyle/>
                    <a:p>
                      <a:pPr marL="0" indent="0">
                        <a:buNone/>
                      </a:pPr>
                      <a:r>
                        <a:rPr lang="en-US" sz="1100" dirty="0">
                          <a:solidFill>
                            <a:srgbClr val="333F70"/>
                          </a:solidFill>
                          <a:latin typeface="Open Sans" pitchFamily="34" charset="0"/>
                          <a:ea typeface="Open Sans" pitchFamily="34" charset="-122"/>
                          <a:cs typeface="Open Sans" pitchFamily="34" charset="-120"/>
                        </a:rPr>
                        <a:t>Low</a:t>
                      </a:r>
                      <a:endParaRPr lang="en-US" sz="1100" dirty="0">
                        <a:latin typeface="Open Sans" charset="0"/>
                        <a:ea typeface="Open Sans" charset="0"/>
                        <a:cs typeface="Open Sans" charset="0"/>
                      </a:endParaRPr>
                    </a:p>
                  </a:txBody>
                  <a:tcPr marL="142133" marR="142133" marT="6350" marB="6350" anchor="ctr">
                    <a:lnL w="12700" cap="flat" cmpd="sng" algn="ctr">
                      <a:solidFill>
                        <a:srgbClr val="DDF8F2"/>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solidFill>
                      <a:srgbClr val="DDF8F2"/>
                    </a:solidFill>
                  </a:tcPr>
                </a:tc>
                <a:extLst>
                  <a:ext uri="{0D108BD9-81ED-4DB2-BD59-A6C34878D82A}">
                    <a16:rowId xmlns:a16="http://schemas.microsoft.com/office/drawing/2014/main" val="10001"/>
                  </a:ext>
                </a:extLst>
              </a:tr>
              <a:tr h="376923">
                <a:tc>
                  <a:txBody>
                    <a:bodyPr/>
                    <a:lstStyle/>
                    <a:p>
                      <a:pPr marL="0" indent="0">
                        <a:buNone/>
                      </a:pPr>
                      <a:r>
                        <a:rPr lang="en-US" sz="1100" dirty="0">
                          <a:solidFill>
                            <a:srgbClr val="333F70"/>
                          </a:solidFill>
                          <a:latin typeface="Open Sans" pitchFamily="34" charset="0"/>
                          <a:ea typeface="Open Sans" pitchFamily="34" charset="-122"/>
                          <a:cs typeface="Open Sans" pitchFamily="34" charset="-120"/>
                        </a:rPr>
                        <a:t>Carry-Lookahead</a:t>
                      </a:r>
                      <a:endParaRPr lang="en-US" sz="1100" dirty="0">
                        <a:latin typeface="Open Sans" charset="0"/>
                        <a:ea typeface="Open Sans" charset="0"/>
                        <a:cs typeface="Open Sans" charset="0"/>
                      </a:endParaRPr>
                    </a:p>
                  </a:txBody>
                  <a:tcPr marL="142133" marR="142133" marT="6350" marB="6350" anchor="ctr">
                    <a:lnL w="12700" cap="flat" cmpd="sng" algn="ctr">
                      <a:solidFill>
                        <a:srgbClr val="BCDBD4"/>
                      </a:solidFill>
                      <a:prstDash val="solid"/>
                      <a:round/>
                      <a:headEnd type="none" w="med" len="med"/>
                      <a:tailEnd type="none" w="med" len="med"/>
                    </a:lnL>
                    <a:lnR w="12700" cap="flat" cmpd="sng" algn="ctr">
                      <a:solidFill>
                        <a:srgbClr val="DDF8F2"/>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solidFill>
                      <a:srgbClr val="DDF8F2"/>
                    </a:solidFill>
                  </a:tcPr>
                </a:tc>
                <a:tc>
                  <a:txBody>
                    <a:bodyPr/>
                    <a:lstStyle/>
                    <a:p>
                      <a:pPr marL="0" indent="0">
                        <a:buNone/>
                      </a:pPr>
                      <a:r>
                        <a:rPr lang="en-US" sz="1100" dirty="0">
                          <a:solidFill>
                            <a:srgbClr val="333F70"/>
                          </a:solidFill>
                          <a:latin typeface="Open Sans" pitchFamily="34" charset="0"/>
                          <a:ea typeface="Open Sans" pitchFamily="34" charset="-122"/>
                          <a:cs typeface="Open Sans" pitchFamily="34" charset="-120"/>
                        </a:rPr>
                        <a:t>O(log n)</a:t>
                      </a:r>
                      <a:endParaRPr lang="en-US" sz="1100" dirty="0">
                        <a:latin typeface="Open Sans" charset="0"/>
                        <a:ea typeface="Open Sans" charset="0"/>
                        <a:cs typeface="Open Sans" charset="0"/>
                      </a:endParaRPr>
                    </a:p>
                  </a:txBody>
                  <a:tcPr marL="142133" marR="142133" marT="6350" marB="6350" anchor="ctr">
                    <a:lnL w="12700" cap="flat" cmpd="sng" algn="ctr">
                      <a:solidFill>
                        <a:srgbClr val="DDF8F2"/>
                      </a:solidFill>
                      <a:prstDash val="solid"/>
                      <a:round/>
                      <a:headEnd type="none" w="med" len="med"/>
                      <a:tailEnd type="none" w="med" len="med"/>
                    </a:lnL>
                    <a:lnR w="12700" cap="flat" cmpd="sng" algn="ctr">
                      <a:solidFill>
                        <a:srgbClr val="DDF8F2"/>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solidFill>
                      <a:srgbClr val="DDF8F2"/>
                    </a:solidFill>
                  </a:tcPr>
                </a:tc>
                <a:tc>
                  <a:txBody>
                    <a:bodyPr/>
                    <a:lstStyle/>
                    <a:p>
                      <a:pPr marL="0" indent="0">
                        <a:buNone/>
                      </a:pPr>
                      <a:r>
                        <a:rPr lang="en-US" sz="1100" dirty="0">
                          <a:solidFill>
                            <a:srgbClr val="333F70"/>
                          </a:solidFill>
                          <a:latin typeface="Open Sans" pitchFamily="34" charset="0"/>
                          <a:ea typeface="Open Sans" pitchFamily="34" charset="-122"/>
                          <a:cs typeface="Open Sans" pitchFamily="34" charset="-120"/>
                        </a:rPr>
                        <a:t>High</a:t>
                      </a:r>
                      <a:endParaRPr lang="en-US" sz="1100" dirty="0">
                        <a:latin typeface="Open Sans" charset="0"/>
                        <a:ea typeface="Open Sans" charset="0"/>
                        <a:cs typeface="Open Sans" charset="0"/>
                      </a:endParaRPr>
                    </a:p>
                  </a:txBody>
                  <a:tcPr marL="142133" marR="142133" marT="6350" marB="6350" anchor="ctr">
                    <a:lnL w="12700" cap="flat" cmpd="sng" algn="ctr">
                      <a:solidFill>
                        <a:srgbClr val="DDF8F2"/>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solidFill>
                      <a:srgbClr val="DDF8F2"/>
                    </a:solidFill>
                  </a:tcPr>
                </a:tc>
                <a:extLst>
                  <a:ext uri="{0D108BD9-81ED-4DB2-BD59-A6C34878D82A}">
                    <a16:rowId xmlns:a16="http://schemas.microsoft.com/office/drawing/2014/main" val="10002"/>
                  </a:ext>
                </a:extLst>
              </a:tr>
              <a:tr h="373748">
                <a:tc>
                  <a:txBody>
                    <a:bodyPr/>
                    <a:lstStyle/>
                    <a:p>
                      <a:pPr marL="0" indent="0">
                        <a:buNone/>
                      </a:pPr>
                      <a:r>
                        <a:rPr lang="en-US" sz="1100" dirty="0">
                          <a:solidFill>
                            <a:srgbClr val="333F70"/>
                          </a:solidFill>
                          <a:latin typeface="Open Sans" pitchFamily="34" charset="0"/>
                          <a:ea typeface="Open Sans" pitchFamily="34" charset="-122"/>
                          <a:cs typeface="Open Sans" pitchFamily="34" charset="-120"/>
                        </a:rPr>
                        <a:t>Carry-Select</a:t>
                      </a:r>
                      <a:endParaRPr lang="en-US" sz="1100" dirty="0">
                        <a:latin typeface="Open Sans" charset="0"/>
                        <a:ea typeface="Open Sans" charset="0"/>
                        <a:cs typeface="Open Sans" charset="0"/>
                      </a:endParaRPr>
                    </a:p>
                  </a:txBody>
                  <a:tcPr marL="142133" marR="142133" marT="6350" marB="6350" anchor="ctr">
                    <a:lnL w="12700" cap="flat" cmpd="sng" algn="ctr">
                      <a:solidFill>
                        <a:srgbClr val="BCDBD4"/>
                      </a:solidFill>
                      <a:prstDash val="solid"/>
                      <a:round/>
                      <a:headEnd type="none" w="med" len="med"/>
                      <a:tailEnd type="none" w="med" len="med"/>
                    </a:lnL>
                    <a:lnR w="12700" cap="flat" cmpd="sng" algn="ctr">
                      <a:solidFill>
                        <a:srgbClr val="DDF8F2"/>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solidFill>
                      <a:srgbClr val="DDF8F2"/>
                    </a:solidFill>
                  </a:tcPr>
                </a:tc>
                <a:tc>
                  <a:txBody>
                    <a:bodyPr/>
                    <a:lstStyle/>
                    <a:p>
                      <a:pPr marL="0" indent="0">
                        <a:buNone/>
                      </a:pPr>
                      <a:r>
                        <a:rPr lang="en-US" sz="1100" dirty="0">
                          <a:solidFill>
                            <a:srgbClr val="333F70"/>
                          </a:solidFill>
                          <a:latin typeface="Open Sans" pitchFamily="34" charset="0"/>
                          <a:ea typeface="Open Sans" pitchFamily="34" charset="-122"/>
                          <a:cs typeface="Open Sans" pitchFamily="34" charset="-120"/>
                        </a:rPr>
                        <a:t>O(√n)</a:t>
                      </a:r>
                      <a:endParaRPr lang="en-US" sz="1100" dirty="0">
                        <a:latin typeface="Open Sans" charset="0"/>
                        <a:ea typeface="Open Sans" charset="0"/>
                        <a:cs typeface="Open Sans" charset="0"/>
                      </a:endParaRPr>
                    </a:p>
                  </a:txBody>
                  <a:tcPr marL="142133" marR="142133" marT="6350" marB="6350" anchor="ctr">
                    <a:lnL w="12700" cap="flat" cmpd="sng" algn="ctr">
                      <a:solidFill>
                        <a:srgbClr val="DDF8F2"/>
                      </a:solidFill>
                      <a:prstDash val="solid"/>
                      <a:round/>
                      <a:headEnd type="none" w="med" len="med"/>
                      <a:tailEnd type="none" w="med" len="med"/>
                    </a:lnL>
                    <a:lnR w="12700" cap="flat" cmpd="sng" algn="ctr">
                      <a:solidFill>
                        <a:srgbClr val="DDF8F2"/>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solidFill>
                      <a:srgbClr val="DDF8F2"/>
                    </a:solidFill>
                  </a:tcPr>
                </a:tc>
                <a:tc>
                  <a:txBody>
                    <a:bodyPr/>
                    <a:lstStyle/>
                    <a:p>
                      <a:pPr marL="0" indent="0">
                        <a:buNone/>
                      </a:pPr>
                      <a:r>
                        <a:rPr lang="en-US" sz="1100" dirty="0">
                          <a:solidFill>
                            <a:srgbClr val="333F70"/>
                          </a:solidFill>
                          <a:latin typeface="Open Sans" pitchFamily="34" charset="0"/>
                          <a:ea typeface="Open Sans" pitchFamily="34" charset="-122"/>
                          <a:cs typeface="Open Sans" pitchFamily="34" charset="-120"/>
                        </a:rPr>
                        <a:t>Medium</a:t>
                      </a:r>
                      <a:endParaRPr lang="en-US" sz="1100" dirty="0">
                        <a:latin typeface="Open Sans" charset="0"/>
                        <a:ea typeface="Open Sans" charset="0"/>
                        <a:cs typeface="Open Sans" charset="0"/>
                      </a:endParaRPr>
                    </a:p>
                  </a:txBody>
                  <a:tcPr marL="142133" marR="142133" marT="6350" marB="6350" anchor="ctr">
                    <a:lnL w="12700" cap="flat" cmpd="sng" algn="ctr">
                      <a:solidFill>
                        <a:srgbClr val="DDF8F2"/>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solidFill>
                      <a:srgbClr val="DDF8F2"/>
                    </a:solidFill>
                  </a:tcPr>
                </a:tc>
                <a:extLst>
                  <a:ext uri="{0D108BD9-81ED-4DB2-BD59-A6C34878D82A}">
                    <a16:rowId xmlns:a16="http://schemas.microsoft.com/office/drawing/2014/main" val="10003"/>
                  </a:ext>
                </a:extLst>
              </a:tr>
            </a:tbl>
          </a:graphicData>
        </a:graphic>
      </p:graphicFrame>
      <p:sp>
        <p:nvSpPr>
          <p:cNvPr id="14" name="Text 11"/>
          <p:cNvSpPr/>
          <p:nvPr/>
        </p:nvSpPr>
        <p:spPr>
          <a:xfrm>
            <a:off x="6876084" y="3640832"/>
            <a:ext cx="4620700" cy="222052"/>
          </a:xfrm>
          <a:prstGeom prst="rect">
            <a:avLst/>
          </a:prstGeom>
          <a:noFill/>
          <a:ln/>
        </p:spPr>
        <p:txBody>
          <a:bodyPr wrap="none" lIns="0" tIns="0" rIns="0" bIns="0" rtlCol="0" anchor="t"/>
          <a:lstStyle/>
          <a:p>
            <a:pPr marL="0" indent="0" algn="l">
              <a:lnSpc>
                <a:spcPct val="104000"/>
              </a:lnSpc>
              <a:buNone/>
            </a:pPr>
            <a:r>
              <a:rPr lang="en-US" sz="1350" b="1" dirty="0">
                <a:solidFill>
                  <a:srgbClr val="333F70"/>
                </a:solidFill>
                <a:latin typeface="Unbounded Bold" pitchFamily="34" charset="0"/>
                <a:ea typeface="Unbounded Bold" pitchFamily="34" charset="-122"/>
                <a:cs typeface="Unbounded Bold" pitchFamily="34" charset="-120"/>
              </a:rPr>
              <a:t>Motivation for 4-Bit Scope</a:t>
            </a:r>
            <a:endParaRPr lang="en-US" sz="1350" dirty="0"/>
          </a:p>
        </p:txBody>
      </p:sp>
      <p:sp>
        <p:nvSpPr>
          <p:cNvPr id="15" name="Text 12"/>
          <p:cNvSpPr/>
          <p:nvPr/>
        </p:nvSpPr>
        <p:spPr>
          <a:xfrm>
            <a:off x="6876084" y="3985022"/>
            <a:ext cx="4620700" cy="845741"/>
          </a:xfrm>
          <a:prstGeom prst="rect">
            <a:avLst/>
          </a:prstGeom>
          <a:noFill/>
          <a:ln/>
        </p:spPr>
        <p:txBody>
          <a:bodyPr wrap="square" lIns="0" tIns="0" rIns="0" bIns="0" rtlCol="0" anchor="t">
            <a:normAutofit/>
          </a:bodyPr>
          <a:lstStyle/>
          <a:p>
            <a:pPr marL="0" indent="0" algn="l">
              <a:lnSpc>
                <a:spcPct val="124000"/>
              </a:lnSpc>
              <a:buNone/>
            </a:pPr>
            <a:r>
              <a:rPr lang="en-US" sz="1100" dirty="0">
                <a:solidFill>
                  <a:srgbClr val="333F70"/>
                </a:solidFill>
                <a:latin typeface="Open Sans" pitchFamily="34" charset="0"/>
                <a:ea typeface="Open Sans" pitchFamily="34" charset="-122"/>
                <a:cs typeface="Open Sans" pitchFamily="34" charset="-120"/>
              </a:rPr>
              <a:t>The </a:t>
            </a:r>
            <a:r>
              <a:rPr lang="en-US" sz="1100" b="1" dirty="0">
                <a:solidFill>
                  <a:srgbClr val="333F70"/>
                </a:solidFill>
                <a:latin typeface="Open Sans Bold" pitchFamily="34" charset="0"/>
                <a:ea typeface="Open Sans Bold" pitchFamily="34" charset="-122"/>
                <a:cs typeface="Open Sans Bold" pitchFamily="34" charset="-120"/>
              </a:rPr>
              <a:t>4-bit width</a:t>
            </a:r>
            <a:r>
              <a:rPr lang="en-US" sz="1100" dirty="0">
                <a:solidFill>
                  <a:srgbClr val="333F70"/>
                </a:solidFill>
                <a:latin typeface="Open Sans" pitchFamily="34" charset="0"/>
                <a:ea typeface="Open Sans" pitchFamily="34" charset="-122"/>
                <a:cs typeface="Open Sans" pitchFamily="34" charset="-120"/>
              </a:rPr>
              <a:t> is pedagogically optimal: it is wide enough to demonstrate multi-stage carry propagation, signed arithmetic, and overflow detection, yet narrow enough that truth tables, gate counts, and wiring remain tractable for manual design and classroom review.</a:t>
            </a:r>
            <a:endParaRPr lang="en-US" sz="1100" dirty="0"/>
          </a:p>
        </p:txBody>
      </p:sp>
      <p:sp>
        <p:nvSpPr>
          <p:cNvPr id="16" name="Shape 13"/>
          <p:cNvSpPr/>
          <p:nvPr/>
        </p:nvSpPr>
        <p:spPr>
          <a:xfrm>
            <a:off x="6876084" y="4968081"/>
            <a:ext cx="4620700" cy="1136452"/>
          </a:xfrm>
          <a:prstGeom prst="roundRect">
            <a:avLst>
              <a:gd name="adj" fmla="val 5253"/>
            </a:avLst>
          </a:prstGeom>
          <a:solidFill>
            <a:srgbClr val="D6F5EE"/>
          </a:solidFill>
          <a:ln/>
        </p:spPr>
      </p:sp>
      <p:pic>
        <p:nvPicPr>
          <p:cNvPr id="17" name="Image 0" descr="preencoded.png"/>
          <p:cNvPicPr>
            <a:picLocks noChangeAspect="1"/>
          </p:cNvPicPr>
          <p:nvPr/>
        </p:nvPicPr>
        <p:blipFill>
          <a:blip r:embed="rId3"/>
          <a:stretch>
            <a:fillRect/>
          </a:stretch>
        </p:blipFill>
        <p:spPr>
          <a:xfrm>
            <a:off x="7018162" y="5160169"/>
            <a:ext cx="177597" cy="142081"/>
          </a:xfrm>
          <a:prstGeom prst="rect">
            <a:avLst/>
          </a:prstGeom>
        </p:spPr>
      </p:pic>
      <p:sp>
        <p:nvSpPr>
          <p:cNvPr id="18" name="Text 14"/>
          <p:cNvSpPr/>
          <p:nvPr/>
        </p:nvSpPr>
        <p:spPr>
          <a:xfrm>
            <a:off x="7337837" y="5113437"/>
            <a:ext cx="4016870" cy="845741"/>
          </a:xfrm>
          <a:prstGeom prst="rect">
            <a:avLst/>
          </a:prstGeom>
          <a:noFill/>
          <a:ln/>
        </p:spPr>
        <p:txBody>
          <a:bodyPr wrap="square" lIns="0" tIns="0" rIns="0" bIns="0" rtlCol="0" anchor="t">
            <a:normAutofit/>
          </a:bodyPr>
          <a:lstStyle/>
          <a:p>
            <a:pPr marL="0" indent="0" algn="l">
              <a:lnSpc>
                <a:spcPct val="124000"/>
              </a:lnSpc>
              <a:buNone/>
            </a:pPr>
            <a:r>
              <a:rPr lang="en-US" sz="1100" dirty="0">
                <a:solidFill>
                  <a:srgbClr val="000000"/>
                </a:solidFill>
                <a:latin typeface="Open Sans" pitchFamily="34" charset="0"/>
                <a:ea typeface="Open Sans" pitchFamily="34" charset="-122"/>
                <a:cs typeface="Open Sans" pitchFamily="34" charset="-120"/>
              </a:rPr>
              <a:t>Existing educational designs often omit signed arithmetic. This project explicitly includes two's complement and overflow detection to provide a more complete learning experience.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661475" y="454819"/>
            <a:ext cx="424745" cy="125710"/>
          </a:xfrm>
          <a:prstGeom prst="roundRect">
            <a:avLst>
              <a:gd name="adj" fmla="val 22103"/>
            </a:avLst>
          </a:prstGeom>
          <a:solidFill>
            <a:srgbClr val="D6F5EE"/>
          </a:solidFill>
          <a:ln/>
        </p:spPr>
      </p:sp>
      <p:sp>
        <p:nvSpPr>
          <p:cNvPr id="3" name="Text 1"/>
          <p:cNvSpPr/>
          <p:nvPr/>
        </p:nvSpPr>
        <p:spPr>
          <a:xfrm>
            <a:off x="711083" y="479623"/>
            <a:ext cx="935113" cy="76101"/>
          </a:xfrm>
          <a:prstGeom prst="rect">
            <a:avLst/>
          </a:prstGeom>
          <a:noFill/>
          <a:ln/>
        </p:spPr>
        <p:txBody>
          <a:bodyPr wrap="none" lIns="0" tIns="0" rIns="0" bIns="0" rtlCol="0" anchor="t"/>
          <a:lstStyle/>
          <a:p>
            <a:pPr marL="0" indent="0" algn="l">
              <a:lnSpc>
                <a:spcPct val="96000"/>
              </a:lnSpc>
              <a:buNone/>
            </a:pPr>
            <a:r>
              <a:rPr lang="en-US" sz="500" dirty="0">
                <a:solidFill>
                  <a:srgbClr val="333F70"/>
                </a:solidFill>
                <a:latin typeface="Open Sans" pitchFamily="34" charset="0"/>
                <a:ea typeface="Open Sans" pitchFamily="34" charset="-122"/>
                <a:cs typeface="Open Sans" pitchFamily="34" charset="-120"/>
              </a:rPr>
              <a:t>SECTION 5</a:t>
            </a:r>
            <a:endParaRPr lang="en-US" sz="500" dirty="0"/>
          </a:p>
        </p:txBody>
      </p:sp>
      <p:sp>
        <p:nvSpPr>
          <p:cNvPr id="4" name="Text 2"/>
          <p:cNvSpPr/>
          <p:nvPr/>
        </p:nvSpPr>
        <p:spPr>
          <a:xfrm>
            <a:off x="661475" y="596999"/>
            <a:ext cx="10868745" cy="258465"/>
          </a:xfrm>
          <a:prstGeom prst="rect">
            <a:avLst/>
          </a:prstGeom>
          <a:noFill/>
          <a:ln/>
        </p:spPr>
        <p:txBody>
          <a:bodyPr wrap="none" lIns="0" tIns="0" rIns="0" bIns="0" rtlCol="0" anchor="t"/>
          <a:lstStyle/>
          <a:p>
            <a:pPr marL="0" indent="0" algn="l">
              <a:lnSpc>
                <a:spcPct val="104000"/>
              </a:lnSpc>
              <a:buNone/>
            </a:pPr>
            <a:r>
              <a:rPr lang="en-US" sz="1600" b="1" dirty="0">
                <a:solidFill>
                  <a:srgbClr val="333F70"/>
                </a:solidFill>
                <a:latin typeface="Unbounded Bold" pitchFamily="34" charset="0"/>
                <a:ea typeface="Unbounded Bold" pitchFamily="34" charset="-122"/>
                <a:cs typeface="Unbounded Bold" pitchFamily="34" charset="-120"/>
              </a:rPr>
              <a:t>Proposed System</a:t>
            </a:r>
            <a:endParaRPr lang="en-US" sz="1600" dirty="0"/>
          </a:p>
        </p:txBody>
      </p:sp>
      <p:sp>
        <p:nvSpPr>
          <p:cNvPr id="5" name="Text 3"/>
          <p:cNvSpPr/>
          <p:nvPr/>
        </p:nvSpPr>
        <p:spPr>
          <a:xfrm>
            <a:off x="661475" y="871934"/>
            <a:ext cx="11728209" cy="206746"/>
          </a:xfrm>
          <a:prstGeom prst="rect">
            <a:avLst/>
          </a:prstGeom>
          <a:noFill/>
          <a:ln/>
        </p:spPr>
        <p:txBody>
          <a:bodyPr wrap="none" lIns="0" tIns="0" rIns="0" bIns="0" rtlCol="0" anchor="t"/>
          <a:lstStyle/>
          <a:p>
            <a:pPr marL="0" indent="0" algn="l">
              <a:lnSpc>
                <a:spcPct val="104000"/>
              </a:lnSpc>
              <a:buNone/>
            </a:pPr>
            <a:r>
              <a:rPr lang="en-US" sz="800" b="1" dirty="0">
                <a:solidFill>
                  <a:srgbClr val="333F70"/>
                </a:solidFill>
                <a:latin typeface="Unbounded Bold" pitchFamily="34" charset="0"/>
                <a:ea typeface="Unbounded Bold" pitchFamily="34" charset="-122"/>
                <a:cs typeface="Unbounded Bold" pitchFamily="34" charset="-120"/>
              </a:rPr>
              <a:t>System Overview</a:t>
            </a:r>
            <a:endParaRPr lang="en-US" sz="800" dirty="0"/>
          </a:p>
        </p:txBody>
      </p:sp>
      <p:sp>
        <p:nvSpPr>
          <p:cNvPr id="6" name="Text 4"/>
          <p:cNvSpPr/>
          <p:nvPr/>
        </p:nvSpPr>
        <p:spPr>
          <a:xfrm>
            <a:off x="661475" y="1063129"/>
            <a:ext cx="10868745" cy="132438"/>
          </a:xfrm>
          <a:prstGeom prst="rect">
            <a:avLst/>
          </a:prstGeom>
          <a:noFill/>
          <a:ln/>
        </p:spPr>
        <p:txBody>
          <a:bodyPr wrap="none" lIns="0" tIns="0" rIns="0" bIns="0" rtlCol="0" anchor="t"/>
          <a:lstStyle/>
          <a:p>
            <a:pPr marL="0" indent="0" algn="l">
              <a:lnSpc>
                <a:spcPct val="100000"/>
              </a:lnSpc>
              <a:buNone/>
            </a:pPr>
            <a:r>
              <a:rPr lang="en-US" sz="700" dirty="0">
                <a:solidFill>
                  <a:srgbClr val="333F70"/>
                </a:solidFill>
                <a:latin typeface="Open Sans" pitchFamily="34" charset="0"/>
                <a:ea typeface="Open Sans" pitchFamily="34" charset="-122"/>
                <a:cs typeface="Open Sans" pitchFamily="34" charset="-120"/>
              </a:rPr>
              <a:t>The proposed system is a </a:t>
            </a:r>
            <a:r>
              <a:rPr lang="en-US" sz="700" b="1" dirty="0">
                <a:solidFill>
                  <a:srgbClr val="333F70"/>
                </a:solidFill>
                <a:latin typeface="Open Sans Bold" pitchFamily="34" charset="0"/>
                <a:ea typeface="Open Sans Bold" pitchFamily="34" charset="-122"/>
                <a:cs typeface="Open Sans Bold" pitchFamily="34" charset="-120"/>
              </a:rPr>
              <a:t>4-bit binary arithmetic calculator</a:t>
            </a:r>
            <a:r>
              <a:rPr lang="en-US" sz="700" dirty="0">
                <a:solidFill>
                  <a:srgbClr val="333F70"/>
                </a:solidFill>
                <a:latin typeface="Open Sans" pitchFamily="34" charset="0"/>
                <a:ea typeface="Open Sans" pitchFamily="34" charset="-122"/>
                <a:cs typeface="Open Sans" pitchFamily="34" charset="-120"/>
              </a:rPr>
              <a:t> that accepts two signed 4-bit operands and a 1-bit mode control signal, performs addition or subtraction using a unified adder/subtractor circuit, and outputs a 4-bit result plus a 1-bit overflow flag.</a:t>
            </a:r>
            <a:endParaRPr lang="en-US" sz="700" dirty="0"/>
          </a:p>
        </p:txBody>
      </p:sp>
      <p:sp>
        <p:nvSpPr>
          <p:cNvPr id="7" name="Shape 5"/>
          <p:cNvSpPr/>
          <p:nvPr/>
        </p:nvSpPr>
        <p:spPr>
          <a:xfrm>
            <a:off x="661475" y="1208682"/>
            <a:ext cx="5841836" cy="1284933"/>
          </a:xfrm>
          <a:prstGeom prst="roundRect">
            <a:avLst>
              <a:gd name="adj" fmla="val 4326"/>
            </a:avLst>
          </a:prstGeom>
          <a:solidFill>
            <a:srgbClr val="D6F5EE"/>
          </a:solidFill>
          <a:ln w="6350">
            <a:solidFill>
              <a:srgbClr val="BCDBD4"/>
            </a:solidFill>
            <a:prstDash val="solid"/>
          </a:ln>
        </p:spPr>
      </p:sp>
      <p:sp>
        <p:nvSpPr>
          <p:cNvPr id="8" name="Text 6"/>
          <p:cNvSpPr/>
          <p:nvPr/>
        </p:nvSpPr>
        <p:spPr>
          <a:xfrm>
            <a:off x="750471" y="1297682"/>
            <a:ext cx="5649767" cy="206746"/>
          </a:xfrm>
          <a:prstGeom prst="rect">
            <a:avLst/>
          </a:prstGeom>
          <a:noFill/>
          <a:ln/>
        </p:spPr>
        <p:txBody>
          <a:bodyPr wrap="none" lIns="0" tIns="0" rIns="0" bIns="0" rtlCol="0" anchor="t"/>
          <a:lstStyle/>
          <a:p>
            <a:pPr marL="0" indent="0" algn="l">
              <a:lnSpc>
                <a:spcPct val="104000"/>
              </a:lnSpc>
              <a:buNone/>
            </a:pPr>
            <a:r>
              <a:rPr lang="en-US" sz="1000" b="1" dirty="0">
                <a:solidFill>
                  <a:srgbClr val="333F70"/>
                </a:solidFill>
                <a:latin typeface="Unbounded Bold" pitchFamily="34" charset="0"/>
                <a:ea typeface="Unbounded Bold" pitchFamily="34" charset="-122"/>
                <a:cs typeface="Unbounded Bold" pitchFamily="34" charset="-120"/>
              </a:rPr>
              <a:t>Input Specification</a:t>
            </a:r>
            <a:endParaRPr lang="en-US" sz="800" dirty="0"/>
          </a:p>
        </p:txBody>
      </p:sp>
      <p:sp>
        <p:nvSpPr>
          <p:cNvPr id="9" name="Text 7"/>
          <p:cNvSpPr/>
          <p:nvPr/>
        </p:nvSpPr>
        <p:spPr>
          <a:xfrm>
            <a:off x="750471" y="1451670"/>
            <a:ext cx="5649767" cy="753620"/>
          </a:xfrm>
          <a:prstGeom prst="rect">
            <a:avLst/>
          </a:prstGeom>
          <a:noFill/>
          <a:ln/>
        </p:spPr>
        <p:txBody>
          <a:bodyPr wrap="square" lIns="0" tIns="0" rIns="0" bIns="0" rtlCol="0" anchor="t"/>
          <a:lstStyle/>
          <a:p>
            <a:pPr marL="0" indent="0" algn="l">
              <a:lnSpc>
                <a:spcPct val="100000"/>
              </a:lnSpc>
              <a:spcAft>
                <a:spcPts val="150"/>
              </a:spcAft>
              <a:buNone/>
            </a:pPr>
            <a:r>
              <a:rPr lang="en-US" sz="800" b="1" dirty="0">
                <a:solidFill>
                  <a:srgbClr val="333F70"/>
                </a:solidFill>
                <a:latin typeface="Open Sans Bold" pitchFamily="34" charset="0"/>
                <a:ea typeface="Open Sans Bold" pitchFamily="34" charset="-122"/>
                <a:cs typeface="Open Sans Bold" pitchFamily="34" charset="-120"/>
              </a:rPr>
              <a:t>A[3:0]</a:t>
            </a:r>
            <a:r>
              <a:rPr lang="en-US" sz="800" dirty="0">
                <a:solidFill>
                  <a:srgbClr val="333F70"/>
                </a:solidFill>
                <a:latin typeface="Open Sans" pitchFamily="34" charset="0"/>
                <a:ea typeface="Open Sans" pitchFamily="34" charset="-122"/>
                <a:cs typeface="Open Sans" pitchFamily="34" charset="-120"/>
              </a:rPr>
              <a:t> — First 4-bit operand</a:t>
            </a:r>
            <a:endParaRPr lang="en-US" sz="800" dirty="0"/>
          </a:p>
          <a:p>
            <a:pPr marL="0" indent="0" algn="l">
              <a:lnSpc>
                <a:spcPct val="100000"/>
              </a:lnSpc>
              <a:spcAft>
                <a:spcPts val="150"/>
              </a:spcAft>
              <a:buNone/>
            </a:pPr>
            <a:r>
              <a:rPr lang="en-US" sz="800" b="1" dirty="0">
                <a:solidFill>
                  <a:srgbClr val="333F70"/>
                </a:solidFill>
                <a:latin typeface="Open Sans Bold" pitchFamily="34" charset="0"/>
                <a:ea typeface="Open Sans Bold" pitchFamily="34" charset="-122"/>
                <a:cs typeface="Open Sans Bold" pitchFamily="34" charset="-120"/>
              </a:rPr>
              <a:t>B[3:0]</a:t>
            </a:r>
            <a:r>
              <a:rPr lang="en-US" sz="800" dirty="0">
                <a:solidFill>
                  <a:srgbClr val="333F70"/>
                </a:solidFill>
                <a:latin typeface="Open Sans" pitchFamily="34" charset="0"/>
                <a:ea typeface="Open Sans" pitchFamily="34" charset="-122"/>
                <a:cs typeface="Open Sans" pitchFamily="34" charset="-120"/>
              </a:rPr>
              <a:t> — Second 4-bit operand</a:t>
            </a:r>
            <a:endParaRPr lang="en-US" sz="800" dirty="0"/>
          </a:p>
          <a:p>
            <a:pPr marL="0" indent="0" algn="l">
              <a:lnSpc>
                <a:spcPct val="100000"/>
              </a:lnSpc>
              <a:spcAft>
                <a:spcPts val="150"/>
              </a:spcAft>
              <a:buNone/>
            </a:pPr>
            <a:r>
              <a:rPr lang="en-US" sz="800" b="1" dirty="0">
                <a:solidFill>
                  <a:srgbClr val="333F70"/>
                </a:solidFill>
                <a:latin typeface="Open Sans Bold" pitchFamily="34" charset="0"/>
                <a:ea typeface="Open Sans Bold" pitchFamily="34" charset="-122"/>
                <a:cs typeface="Open Sans Bold" pitchFamily="34" charset="-120"/>
              </a:rPr>
              <a:t>Mode</a:t>
            </a:r>
            <a:r>
              <a:rPr lang="en-US" sz="800" dirty="0">
                <a:solidFill>
                  <a:srgbClr val="333F70"/>
                </a:solidFill>
                <a:latin typeface="Open Sans" pitchFamily="34" charset="0"/>
                <a:ea typeface="Open Sans" pitchFamily="34" charset="-122"/>
                <a:cs typeface="Open Sans" pitchFamily="34" charset="-120"/>
              </a:rPr>
              <a:t> — Control bit: 0 = Add, 1 = Subtract</a:t>
            </a:r>
            <a:endParaRPr lang="en-US" sz="800" dirty="0"/>
          </a:p>
          <a:p>
            <a:pPr marL="0" indent="0" algn="l">
              <a:lnSpc>
                <a:spcPct val="100000"/>
              </a:lnSpc>
              <a:buNone/>
            </a:pPr>
            <a:r>
              <a:rPr lang="en-US" sz="800" dirty="0">
                <a:solidFill>
                  <a:srgbClr val="333F70"/>
                </a:solidFill>
                <a:latin typeface="Open Sans" pitchFamily="34" charset="0"/>
                <a:ea typeface="Open Sans" pitchFamily="34" charset="-122"/>
                <a:cs typeface="Open Sans" pitchFamily="34" charset="-120"/>
              </a:rPr>
              <a:t>Signed range: </a:t>
            </a:r>
            <a:r>
              <a:rPr lang="en-US" sz="800" b="1" dirty="0">
                <a:solidFill>
                  <a:srgbClr val="333F70"/>
                </a:solidFill>
                <a:latin typeface="Open Sans Bold" pitchFamily="34" charset="0"/>
                <a:ea typeface="Open Sans Bold" pitchFamily="34" charset="-122"/>
                <a:cs typeface="Open Sans Bold" pitchFamily="34" charset="-120"/>
              </a:rPr>
              <a:t>−8 to +7</a:t>
            </a:r>
            <a:r>
              <a:rPr lang="en-US" sz="800" dirty="0">
                <a:solidFill>
                  <a:srgbClr val="333F70"/>
                </a:solidFill>
                <a:latin typeface="Open Sans" pitchFamily="34" charset="0"/>
                <a:ea typeface="Open Sans" pitchFamily="34" charset="-122"/>
                <a:cs typeface="Open Sans" pitchFamily="34" charset="-120"/>
              </a:rPr>
              <a:t> (two's complement)</a:t>
            </a:r>
            <a:endParaRPr lang="en-US" sz="800" dirty="0"/>
          </a:p>
        </p:txBody>
      </p:sp>
      <p:sp>
        <p:nvSpPr>
          <p:cNvPr id="10" name="Shape 8"/>
          <p:cNvSpPr/>
          <p:nvPr/>
        </p:nvSpPr>
        <p:spPr>
          <a:xfrm>
            <a:off x="6116484" y="1208682"/>
            <a:ext cx="5841836" cy="1284933"/>
          </a:xfrm>
          <a:prstGeom prst="roundRect">
            <a:avLst>
              <a:gd name="adj" fmla="val 4326"/>
            </a:avLst>
          </a:prstGeom>
          <a:solidFill>
            <a:srgbClr val="D6F5EE"/>
          </a:solidFill>
          <a:ln w="6350">
            <a:solidFill>
              <a:srgbClr val="BCDBD4"/>
            </a:solidFill>
            <a:prstDash val="solid"/>
          </a:ln>
        </p:spPr>
      </p:sp>
      <p:sp>
        <p:nvSpPr>
          <p:cNvPr id="11" name="Text 9"/>
          <p:cNvSpPr/>
          <p:nvPr/>
        </p:nvSpPr>
        <p:spPr>
          <a:xfrm>
            <a:off x="6205480" y="1297682"/>
            <a:ext cx="5649767" cy="206746"/>
          </a:xfrm>
          <a:prstGeom prst="rect">
            <a:avLst/>
          </a:prstGeom>
          <a:noFill/>
          <a:ln/>
        </p:spPr>
        <p:txBody>
          <a:bodyPr wrap="none" lIns="0" tIns="0" rIns="0" bIns="0" rtlCol="0" anchor="t"/>
          <a:lstStyle/>
          <a:p>
            <a:pPr marL="0" indent="0" algn="l">
              <a:lnSpc>
                <a:spcPct val="104000"/>
              </a:lnSpc>
              <a:buNone/>
            </a:pPr>
            <a:r>
              <a:rPr lang="en-US" sz="1000" b="1" dirty="0">
                <a:solidFill>
                  <a:srgbClr val="333F70"/>
                </a:solidFill>
                <a:latin typeface="Unbounded Bold" pitchFamily="34" charset="0"/>
                <a:ea typeface="Unbounded Bold" pitchFamily="34" charset="-122"/>
                <a:cs typeface="Unbounded Bold" pitchFamily="34" charset="-120"/>
              </a:rPr>
              <a:t>Two's Complement Core</a:t>
            </a:r>
            <a:endParaRPr lang="en-US" sz="800" dirty="0"/>
          </a:p>
        </p:txBody>
      </p:sp>
      <p:sp>
        <p:nvSpPr>
          <p:cNvPr id="12" name="Text 10"/>
          <p:cNvSpPr/>
          <p:nvPr/>
        </p:nvSpPr>
        <p:spPr>
          <a:xfrm>
            <a:off x="6205480" y="1451670"/>
            <a:ext cx="5663844" cy="513404"/>
          </a:xfrm>
          <a:prstGeom prst="rect">
            <a:avLst/>
          </a:prstGeom>
          <a:noFill/>
          <a:ln/>
        </p:spPr>
        <p:txBody>
          <a:bodyPr wrap="square" lIns="0" tIns="0" rIns="0" bIns="0" rtlCol="0" anchor="t">
            <a:normAutofit/>
          </a:bodyPr>
          <a:lstStyle/>
          <a:p>
            <a:pPr marL="0" indent="0" algn="l">
              <a:lnSpc>
                <a:spcPct val="100000"/>
              </a:lnSpc>
              <a:buNone/>
            </a:pPr>
            <a:r>
              <a:rPr lang="en-US" sz="1000" dirty="0">
                <a:solidFill>
                  <a:srgbClr val="333F70"/>
                </a:solidFill>
                <a:latin typeface="Open Sans" pitchFamily="34" charset="0"/>
                <a:ea typeface="Open Sans" pitchFamily="34" charset="-122"/>
                <a:cs typeface="Open Sans" pitchFamily="34" charset="-120"/>
              </a:rPr>
              <a:t>Subtraction is computed as </a:t>
            </a:r>
            <a:r>
              <a:rPr lang="en-US" sz="1000" b="1" dirty="0">
                <a:solidFill>
                  <a:srgbClr val="333F70"/>
                </a:solidFill>
                <a:latin typeface="Open Sans Bold" pitchFamily="34" charset="0"/>
                <a:ea typeface="Open Sans Bold" pitchFamily="34" charset="-122"/>
                <a:cs typeface="Open Sans Bold" pitchFamily="34" charset="-120"/>
              </a:rPr>
              <a:t>A − B = A + (−B)</a:t>
            </a:r>
            <a:r>
              <a:rPr lang="en-US" sz="1000" dirty="0">
                <a:solidFill>
                  <a:srgbClr val="333F70"/>
                </a:solidFill>
                <a:latin typeface="Open Sans" pitchFamily="34" charset="0"/>
                <a:ea typeface="Open Sans" pitchFamily="34" charset="-122"/>
                <a:cs typeface="Open Sans" pitchFamily="34" charset="-120"/>
              </a:rPr>
              <a:t>. Negation of B is achieved by XOR-ing each bit of B with the Mode signal, then injecting Mode as the initial carry-in — a clean one-circuit solution for both operations.</a:t>
            </a:r>
            <a:endParaRPr lang="en-US" sz="1000" dirty="0"/>
          </a:p>
        </p:txBody>
      </p:sp>
      <p:sp>
        <p:nvSpPr>
          <p:cNvPr id="13" name="Shape 11"/>
          <p:cNvSpPr/>
          <p:nvPr/>
        </p:nvSpPr>
        <p:spPr>
          <a:xfrm>
            <a:off x="661475" y="2052836"/>
            <a:ext cx="5841836" cy="1086604"/>
          </a:xfrm>
          <a:prstGeom prst="roundRect">
            <a:avLst>
              <a:gd name="adj" fmla="val 5116"/>
            </a:avLst>
          </a:prstGeom>
          <a:solidFill>
            <a:srgbClr val="D6F5EE"/>
          </a:solidFill>
          <a:ln w="6350">
            <a:solidFill>
              <a:srgbClr val="BCDBD4"/>
            </a:solidFill>
            <a:prstDash val="solid"/>
          </a:ln>
        </p:spPr>
      </p:sp>
      <p:sp>
        <p:nvSpPr>
          <p:cNvPr id="14" name="Text 12"/>
          <p:cNvSpPr/>
          <p:nvPr/>
        </p:nvSpPr>
        <p:spPr>
          <a:xfrm>
            <a:off x="750471" y="2141835"/>
            <a:ext cx="5649767" cy="206746"/>
          </a:xfrm>
          <a:prstGeom prst="rect">
            <a:avLst/>
          </a:prstGeom>
          <a:noFill/>
          <a:ln/>
        </p:spPr>
        <p:txBody>
          <a:bodyPr wrap="none" lIns="0" tIns="0" rIns="0" bIns="0" rtlCol="0" anchor="t"/>
          <a:lstStyle/>
          <a:p>
            <a:pPr marL="0" indent="0" algn="l">
              <a:lnSpc>
                <a:spcPct val="104000"/>
              </a:lnSpc>
              <a:buNone/>
            </a:pPr>
            <a:r>
              <a:rPr lang="en-US" sz="1100" b="1" dirty="0">
                <a:solidFill>
                  <a:srgbClr val="333F70"/>
                </a:solidFill>
                <a:latin typeface="Unbounded Bold" pitchFamily="34" charset="0"/>
                <a:ea typeface="Unbounded Bold" pitchFamily="34" charset="-122"/>
                <a:cs typeface="Unbounded Bold" pitchFamily="34" charset="-120"/>
              </a:rPr>
              <a:t>Overflow Detection</a:t>
            </a:r>
            <a:endParaRPr lang="en-US" sz="800" dirty="0"/>
          </a:p>
        </p:txBody>
      </p:sp>
      <p:sp>
        <p:nvSpPr>
          <p:cNvPr id="15" name="Text 13"/>
          <p:cNvSpPr/>
          <p:nvPr/>
        </p:nvSpPr>
        <p:spPr>
          <a:xfrm>
            <a:off x="704629" y="2377770"/>
            <a:ext cx="5238972" cy="584909"/>
          </a:xfrm>
          <a:prstGeom prst="rect">
            <a:avLst/>
          </a:prstGeom>
          <a:noFill/>
          <a:ln/>
        </p:spPr>
        <p:txBody>
          <a:bodyPr wrap="square" lIns="0" tIns="0" rIns="0" bIns="0" rtlCol="0" anchor="t">
            <a:noAutofit/>
          </a:bodyPr>
          <a:lstStyle/>
          <a:p>
            <a:pPr marL="0" indent="0" algn="l">
              <a:lnSpc>
                <a:spcPct val="100000"/>
              </a:lnSpc>
              <a:spcAft>
                <a:spcPts val="150"/>
              </a:spcAft>
              <a:buNone/>
            </a:pPr>
            <a:r>
              <a:rPr lang="en-US" sz="1000" dirty="0">
                <a:solidFill>
                  <a:srgbClr val="333F70"/>
                </a:solidFill>
                <a:latin typeface="Open Sans" pitchFamily="34" charset="0"/>
                <a:ea typeface="Open Sans" pitchFamily="34" charset="-122"/>
                <a:cs typeface="Open Sans" pitchFamily="34" charset="-120"/>
              </a:rPr>
              <a:t>A dedicated XOR gate compares the </a:t>
            </a:r>
            <a:r>
              <a:rPr lang="en-US" sz="1000" b="1" dirty="0">
                <a:solidFill>
                  <a:srgbClr val="333F70"/>
                </a:solidFill>
                <a:latin typeface="Open Sans Bold" pitchFamily="34" charset="0"/>
                <a:ea typeface="Open Sans Bold" pitchFamily="34" charset="-122"/>
                <a:cs typeface="Open Sans Bold" pitchFamily="34" charset="-120"/>
              </a:rPr>
              <a:t>carry-in and carry-out of the MSB</a:t>
            </a:r>
            <a:r>
              <a:rPr lang="en-US" sz="1000" dirty="0">
                <a:solidFill>
                  <a:srgbClr val="333F70"/>
                </a:solidFill>
                <a:latin typeface="Open Sans" pitchFamily="34" charset="0"/>
                <a:ea typeface="Open Sans" pitchFamily="34" charset="-122"/>
                <a:cs typeface="Open Sans" pitchFamily="34" charset="-120"/>
              </a:rPr>
              <a:t> (bit 3) stage. </a:t>
            </a:r>
          </a:p>
          <a:p>
            <a:pPr marL="0" indent="0" algn="l">
              <a:lnSpc>
                <a:spcPct val="100000"/>
              </a:lnSpc>
              <a:spcAft>
                <a:spcPts val="150"/>
              </a:spcAft>
              <a:buNone/>
            </a:pPr>
            <a:r>
              <a:rPr lang="en-US" sz="1000" dirty="0">
                <a:solidFill>
                  <a:srgbClr val="333F70"/>
                </a:solidFill>
                <a:latin typeface="Open Sans" pitchFamily="34" charset="0"/>
                <a:ea typeface="Open Sans" pitchFamily="34" charset="-122"/>
                <a:cs typeface="Open Sans" pitchFamily="34" charset="-120"/>
              </a:rPr>
              <a:t>Overflowing flag is asserted when these differ — indicating the result has exceeded the signed representable range.</a:t>
            </a:r>
            <a:endParaRPr lang="en-US" sz="1000" dirty="0"/>
          </a:p>
          <a:p>
            <a:pPr marL="0" indent="0" algn="l">
              <a:lnSpc>
                <a:spcPct val="100000"/>
              </a:lnSpc>
              <a:buNone/>
            </a:pPr>
            <a:r>
              <a:rPr lang="en-US" sz="1000" b="1" dirty="0">
                <a:solidFill>
                  <a:srgbClr val="333F70"/>
                </a:solidFill>
                <a:latin typeface="Open Sans Bold" pitchFamily="34" charset="0"/>
                <a:ea typeface="Open Sans Bold" pitchFamily="34" charset="-122"/>
                <a:cs typeface="Open Sans Bold" pitchFamily="34" charset="-120"/>
              </a:rPr>
              <a:t>OVF = Cin,MSB XOR Cout,MSB</a:t>
            </a:r>
            <a:endParaRPr lang="en-US" sz="1000" dirty="0"/>
          </a:p>
        </p:txBody>
      </p:sp>
      <p:sp>
        <p:nvSpPr>
          <p:cNvPr id="16" name="Shape 14"/>
          <p:cNvSpPr/>
          <p:nvPr/>
        </p:nvSpPr>
        <p:spPr>
          <a:xfrm>
            <a:off x="6116484" y="2052836"/>
            <a:ext cx="5841836" cy="1086604"/>
          </a:xfrm>
          <a:prstGeom prst="roundRect">
            <a:avLst>
              <a:gd name="adj" fmla="val 5116"/>
            </a:avLst>
          </a:prstGeom>
          <a:solidFill>
            <a:srgbClr val="D6F5EE"/>
          </a:solidFill>
          <a:ln w="6350">
            <a:solidFill>
              <a:srgbClr val="BCDBD4"/>
            </a:solidFill>
            <a:prstDash val="solid"/>
          </a:ln>
        </p:spPr>
        <p:txBody>
          <a:bodyPr/>
          <a:lstStyle/>
          <a:p>
            <a:endParaRPr lang="en-IN" dirty="0"/>
          </a:p>
        </p:txBody>
      </p:sp>
      <p:sp>
        <p:nvSpPr>
          <p:cNvPr id="17" name="Text 15"/>
          <p:cNvSpPr/>
          <p:nvPr/>
        </p:nvSpPr>
        <p:spPr>
          <a:xfrm>
            <a:off x="6205480" y="2141835"/>
            <a:ext cx="5649767" cy="206746"/>
          </a:xfrm>
          <a:prstGeom prst="rect">
            <a:avLst/>
          </a:prstGeom>
          <a:noFill/>
          <a:ln/>
        </p:spPr>
        <p:txBody>
          <a:bodyPr wrap="none" lIns="0" tIns="0" rIns="0" bIns="0" rtlCol="0" anchor="t"/>
          <a:lstStyle/>
          <a:p>
            <a:pPr marL="0" indent="0" algn="l">
              <a:lnSpc>
                <a:spcPct val="104000"/>
              </a:lnSpc>
              <a:buNone/>
            </a:pPr>
            <a:r>
              <a:rPr lang="en-US" sz="1050" b="1" dirty="0">
                <a:solidFill>
                  <a:srgbClr val="333F70"/>
                </a:solidFill>
                <a:latin typeface="Unbounded Bold" pitchFamily="34" charset="0"/>
                <a:ea typeface="Unbounded Bold" pitchFamily="34" charset="-122"/>
                <a:cs typeface="Unbounded Bold" pitchFamily="34" charset="-120"/>
              </a:rPr>
              <a:t>Output Specification</a:t>
            </a:r>
            <a:endParaRPr lang="en-US" sz="800" dirty="0"/>
          </a:p>
        </p:txBody>
      </p:sp>
      <p:sp>
        <p:nvSpPr>
          <p:cNvPr id="18" name="Text 16"/>
          <p:cNvSpPr/>
          <p:nvPr/>
        </p:nvSpPr>
        <p:spPr>
          <a:xfrm>
            <a:off x="6212518" y="2407388"/>
            <a:ext cx="5649767" cy="555291"/>
          </a:xfrm>
          <a:prstGeom prst="rect">
            <a:avLst/>
          </a:prstGeom>
          <a:noFill/>
          <a:ln/>
        </p:spPr>
        <p:txBody>
          <a:bodyPr wrap="square" lIns="0" tIns="0" rIns="0" bIns="0" rtlCol="0" anchor="t"/>
          <a:lstStyle/>
          <a:p>
            <a:pPr marL="0" indent="0" algn="l">
              <a:lnSpc>
                <a:spcPct val="100000"/>
              </a:lnSpc>
              <a:spcAft>
                <a:spcPts val="150"/>
              </a:spcAft>
              <a:buNone/>
            </a:pPr>
            <a:r>
              <a:rPr lang="en-US" sz="1000" b="1" dirty="0">
                <a:solidFill>
                  <a:srgbClr val="333F70"/>
                </a:solidFill>
                <a:latin typeface="Open Sans Bold" pitchFamily="34" charset="0"/>
                <a:ea typeface="Open Sans Bold" pitchFamily="34" charset="-122"/>
                <a:cs typeface="Open Sans Bold" pitchFamily="34" charset="-120"/>
              </a:rPr>
              <a:t>Result[3:0]</a:t>
            </a:r>
            <a:r>
              <a:rPr lang="en-US" sz="1000" dirty="0">
                <a:solidFill>
                  <a:srgbClr val="333F70"/>
                </a:solidFill>
                <a:latin typeface="Open Sans" pitchFamily="34" charset="0"/>
                <a:ea typeface="Open Sans" pitchFamily="34" charset="-122"/>
                <a:cs typeface="Open Sans" pitchFamily="34" charset="-120"/>
              </a:rPr>
              <a:t> — 4-bit arithmetic result</a:t>
            </a:r>
            <a:endParaRPr lang="en-US" sz="1000" dirty="0"/>
          </a:p>
          <a:p>
            <a:pPr marL="0" indent="0" algn="l">
              <a:lnSpc>
                <a:spcPct val="100000"/>
              </a:lnSpc>
              <a:spcAft>
                <a:spcPts val="150"/>
              </a:spcAft>
              <a:buNone/>
            </a:pPr>
            <a:r>
              <a:rPr lang="en-US" sz="1000" b="1" dirty="0">
                <a:solidFill>
                  <a:srgbClr val="333F70"/>
                </a:solidFill>
                <a:latin typeface="Open Sans Bold" pitchFamily="34" charset="0"/>
                <a:ea typeface="Open Sans Bold" pitchFamily="34" charset="-122"/>
                <a:cs typeface="Open Sans Bold" pitchFamily="34" charset="-120"/>
              </a:rPr>
              <a:t>OVF</a:t>
            </a:r>
            <a:r>
              <a:rPr lang="en-US" sz="1000" dirty="0">
                <a:solidFill>
                  <a:srgbClr val="333F70"/>
                </a:solidFill>
                <a:latin typeface="Open Sans" pitchFamily="34" charset="0"/>
                <a:ea typeface="Open Sans" pitchFamily="34" charset="-122"/>
                <a:cs typeface="Open Sans" pitchFamily="34" charset="-120"/>
              </a:rPr>
              <a:t> — 1-bit overflow </a:t>
            </a:r>
            <a:r>
              <a:rPr lang="en-US" sz="1200" dirty="0">
                <a:solidFill>
                  <a:srgbClr val="333F70"/>
                </a:solidFill>
                <a:latin typeface="Open Sans" pitchFamily="34" charset="0"/>
                <a:ea typeface="Open Sans" pitchFamily="34" charset="-122"/>
                <a:cs typeface="Open Sans" pitchFamily="34" charset="-120"/>
              </a:rPr>
              <a:t>flag</a:t>
            </a:r>
            <a:endParaRPr lang="en-US" sz="1200" dirty="0"/>
          </a:p>
          <a:p>
            <a:pPr marL="0" indent="0" algn="l">
              <a:lnSpc>
                <a:spcPct val="100000"/>
              </a:lnSpc>
              <a:buNone/>
            </a:pPr>
            <a:r>
              <a:rPr lang="en-US" sz="1000" dirty="0">
                <a:solidFill>
                  <a:srgbClr val="333F70"/>
                </a:solidFill>
                <a:latin typeface="Open Sans" pitchFamily="34" charset="0"/>
                <a:ea typeface="Open Sans" pitchFamily="34" charset="-122"/>
                <a:cs typeface="Open Sans" pitchFamily="34" charset="-120"/>
              </a:rPr>
              <a:t>Gate-level implementation using Boolean sum-of-products expressions throughout</a:t>
            </a:r>
            <a:endParaRPr lang="en-US" sz="650" dirty="0"/>
          </a:p>
        </p:txBody>
      </p:sp>
      <p:pic>
        <p:nvPicPr>
          <p:cNvPr id="19" name="Image 0" descr="preencoded.png"/>
          <p:cNvPicPr>
            <a:picLocks noChangeAspect="1"/>
          </p:cNvPicPr>
          <p:nvPr/>
        </p:nvPicPr>
        <p:blipFill>
          <a:blip r:embed="rId3"/>
          <a:stretch>
            <a:fillRect/>
          </a:stretch>
        </p:blipFill>
        <p:spPr>
          <a:xfrm>
            <a:off x="661475" y="2975794"/>
            <a:ext cx="9488365" cy="4091671"/>
          </a:xfrm>
          <a:prstGeom prst="rect">
            <a:avLst/>
          </a:prstGeom>
        </p:spPr>
      </p:pic>
      <p:sp>
        <p:nvSpPr>
          <p:cNvPr id="20" name="Text 17"/>
          <p:cNvSpPr/>
          <p:nvPr/>
        </p:nvSpPr>
        <p:spPr>
          <a:xfrm>
            <a:off x="1290320" y="6308007"/>
            <a:ext cx="2445408" cy="305684"/>
          </a:xfrm>
          <a:prstGeom prst="rect">
            <a:avLst/>
          </a:prstGeom>
          <a:noFill/>
          <a:ln/>
        </p:spPr>
        <p:txBody>
          <a:bodyPr wrap="none" lIns="0" tIns="0" rIns="0" bIns="0" rtlCol="0" anchor="t"/>
          <a:lstStyle/>
          <a:p>
            <a:pPr marL="0" indent="0" algn="l">
              <a:lnSpc>
                <a:spcPct val="104000"/>
              </a:lnSpc>
              <a:buNone/>
            </a:pPr>
            <a:r>
              <a:rPr lang="en-US" sz="1900" b="1" dirty="0">
                <a:solidFill>
                  <a:srgbClr val="FFFFFF"/>
                </a:solidFill>
                <a:latin typeface="Unbounded Bold" pitchFamily="34" charset="0"/>
                <a:ea typeface="Unbounded Bold" pitchFamily="34" charset="-122"/>
                <a:cs typeface="Unbounded Bold" pitchFamily="34" charset="-120"/>
              </a:rPr>
              <a:t>Outputs</a:t>
            </a:r>
            <a:endParaRPr lang="en-US" sz="1900" dirty="0"/>
          </a:p>
        </p:txBody>
      </p:sp>
      <p:sp>
        <p:nvSpPr>
          <p:cNvPr id="21" name="Text 18"/>
          <p:cNvSpPr/>
          <p:nvPr/>
        </p:nvSpPr>
        <p:spPr>
          <a:xfrm>
            <a:off x="1290320" y="5310263"/>
            <a:ext cx="2445408" cy="305684"/>
          </a:xfrm>
          <a:prstGeom prst="rect">
            <a:avLst/>
          </a:prstGeom>
          <a:noFill/>
          <a:ln/>
        </p:spPr>
        <p:txBody>
          <a:bodyPr wrap="none" lIns="0" tIns="0" rIns="0" bIns="0" rtlCol="0" anchor="t"/>
          <a:lstStyle/>
          <a:p>
            <a:pPr marL="0" indent="0" algn="l">
              <a:lnSpc>
                <a:spcPct val="104000"/>
              </a:lnSpc>
              <a:buNone/>
            </a:pPr>
            <a:r>
              <a:rPr lang="en-US" sz="1900" b="1" dirty="0">
                <a:solidFill>
                  <a:srgbClr val="FFFFFF"/>
                </a:solidFill>
                <a:latin typeface="Unbounded Bold" pitchFamily="34" charset="0"/>
                <a:ea typeface="Unbounded Bold" pitchFamily="34" charset="-122"/>
                <a:cs typeface="Unbounded Bold" pitchFamily="34" charset="-120"/>
              </a:rPr>
              <a:t>4-bit Adder</a:t>
            </a:r>
            <a:endParaRPr lang="en-US" sz="1900" dirty="0"/>
          </a:p>
        </p:txBody>
      </p:sp>
      <p:sp>
        <p:nvSpPr>
          <p:cNvPr id="22" name="Text 19"/>
          <p:cNvSpPr/>
          <p:nvPr/>
        </p:nvSpPr>
        <p:spPr>
          <a:xfrm>
            <a:off x="1290320" y="4312520"/>
            <a:ext cx="2445408" cy="305683"/>
          </a:xfrm>
          <a:prstGeom prst="rect">
            <a:avLst/>
          </a:prstGeom>
          <a:noFill/>
          <a:ln/>
        </p:spPr>
        <p:txBody>
          <a:bodyPr wrap="none" lIns="0" tIns="0" rIns="0" bIns="0" rtlCol="0" anchor="t"/>
          <a:lstStyle/>
          <a:p>
            <a:pPr marL="0" indent="0" algn="l">
              <a:lnSpc>
                <a:spcPct val="104000"/>
              </a:lnSpc>
              <a:buNone/>
            </a:pPr>
            <a:r>
              <a:rPr lang="en-US" sz="1900" b="1" dirty="0">
                <a:solidFill>
                  <a:srgbClr val="FFFFFF"/>
                </a:solidFill>
                <a:latin typeface="Unbounded Bold" pitchFamily="34" charset="0"/>
                <a:ea typeface="Unbounded Bold" pitchFamily="34" charset="-122"/>
                <a:cs typeface="Unbounded Bold" pitchFamily="34" charset="-120"/>
              </a:rPr>
              <a:t>Control Logic</a:t>
            </a:r>
            <a:endParaRPr lang="en-US" sz="1900" dirty="0"/>
          </a:p>
        </p:txBody>
      </p:sp>
      <p:sp>
        <p:nvSpPr>
          <p:cNvPr id="23" name="Text 20"/>
          <p:cNvSpPr/>
          <p:nvPr/>
        </p:nvSpPr>
        <p:spPr>
          <a:xfrm>
            <a:off x="1290320" y="3267344"/>
            <a:ext cx="2586671" cy="443326"/>
          </a:xfrm>
          <a:prstGeom prst="rect">
            <a:avLst/>
          </a:prstGeom>
          <a:noFill/>
          <a:ln/>
        </p:spPr>
        <p:txBody>
          <a:bodyPr wrap="none" lIns="0" tIns="0" rIns="0" bIns="0" rtlCol="0" anchor="t"/>
          <a:lstStyle/>
          <a:p>
            <a:pPr marL="0" indent="0" algn="l">
              <a:lnSpc>
                <a:spcPct val="104000"/>
              </a:lnSpc>
              <a:buNone/>
            </a:pPr>
            <a:r>
              <a:rPr lang="en-US" sz="1900" b="1" dirty="0">
                <a:solidFill>
                  <a:srgbClr val="FFFFFF"/>
                </a:solidFill>
                <a:latin typeface="Unbounded Bold" pitchFamily="34" charset="0"/>
                <a:ea typeface="Unbounded Bold" pitchFamily="34" charset="-122"/>
                <a:cs typeface="Unbounded Bold" pitchFamily="34" charset="-120"/>
              </a:rPr>
              <a:t>Inputs</a:t>
            </a:r>
            <a:endParaRPr lang="en-US" sz="1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661475" y="518716"/>
            <a:ext cx="584086" cy="172641"/>
          </a:xfrm>
          <a:prstGeom prst="roundRect">
            <a:avLst>
              <a:gd name="adj" fmla="val 22130"/>
            </a:avLst>
          </a:prstGeom>
          <a:solidFill>
            <a:srgbClr val="D6F5EE"/>
          </a:solidFill>
          <a:ln/>
        </p:spPr>
      </p:sp>
      <p:sp>
        <p:nvSpPr>
          <p:cNvPr id="3" name="Text 1"/>
          <p:cNvSpPr/>
          <p:nvPr/>
        </p:nvSpPr>
        <p:spPr>
          <a:xfrm>
            <a:off x="729636" y="552748"/>
            <a:ext cx="1057348" cy="104577"/>
          </a:xfrm>
          <a:prstGeom prst="rect">
            <a:avLst/>
          </a:prstGeom>
          <a:noFill/>
          <a:ln/>
        </p:spPr>
        <p:txBody>
          <a:bodyPr wrap="none" lIns="0" tIns="0" rIns="0" bIns="0" rtlCol="0" anchor="t"/>
          <a:lstStyle/>
          <a:p>
            <a:pPr marL="0" indent="0" algn="l">
              <a:lnSpc>
                <a:spcPct val="96000"/>
              </a:lnSpc>
              <a:buNone/>
            </a:pPr>
            <a:r>
              <a:rPr lang="en-US" sz="700" dirty="0">
                <a:solidFill>
                  <a:srgbClr val="333F70"/>
                </a:solidFill>
                <a:latin typeface="Open Sans" pitchFamily="34" charset="0"/>
                <a:ea typeface="Open Sans" pitchFamily="34" charset="-122"/>
                <a:cs typeface="Open Sans" pitchFamily="34" charset="-120"/>
              </a:rPr>
              <a:t>SECTION 6</a:t>
            </a:r>
            <a:endParaRPr lang="en-US" sz="700" dirty="0"/>
          </a:p>
        </p:txBody>
      </p:sp>
      <p:sp>
        <p:nvSpPr>
          <p:cNvPr id="4" name="Text 2"/>
          <p:cNvSpPr/>
          <p:nvPr/>
        </p:nvSpPr>
        <p:spPr>
          <a:xfrm>
            <a:off x="661475" y="722610"/>
            <a:ext cx="10868745" cy="355302"/>
          </a:xfrm>
          <a:prstGeom prst="rect">
            <a:avLst/>
          </a:prstGeom>
          <a:noFill/>
          <a:ln/>
        </p:spPr>
        <p:txBody>
          <a:bodyPr wrap="none" lIns="0" tIns="0" rIns="0" bIns="0" rtlCol="0" anchor="t"/>
          <a:lstStyle/>
          <a:p>
            <a:pPr marL="0" indent="0" algn="l">
              <a:lnSpc>
                <a:spcPct val="104000"/>
              </a:lnSpc>
              <a:buNone/>
            </a:pPr>
            <a:r>
              <a:rPr lang="en-US" sz="2200" b="1" dirty="0">
                <a:solidFill>
                  <a:srgbClr val="333F70"/>
                </a:solidFill>
                <a:latin typeface="Unbounded Bold" pitchFamily="34" charset="0"/>
                <a:ea typeface="Unbounded Bold" pitchFamily="34" charset="-122"/>
                <a:cs typeface="Unbounded Bold" pitchFamily="34" charset="-120"/>
              </a:rPr>
              <a:t>System Architecture &amp; Block Diagram</a:t>
            </a:r>
            <a:endParaRPr lang="en-US" sz="2200" dirty="0"/>
          </a:p>
        </p:txBody>
      </p:sp>
      <p:sp>
        <p:nvSpPr>
          <p:cNvPr id="5" name="Text 3"/>
          <p:cNvSpPr/>
          <p:nvPr/>
        </p:nvSpPr>
        <p:spPr>
          <a:xfrm>
            <a:off x="661475" y="1273175"/>
            <a:ext cx="4738271" cy="177701"/>
          </a:xfrm>
          <a:prstGeom prst="rect">
            <a:avLst/>
          </a:prstGeom>
          <a:noFill/>
          <a:ln/>
        </p:spPr>
        <p:txBody>
          <a:bodyPr wrap="none" lIns="0" tIns="0" rIns="0" bIns="0" rtlCol="0" anchor="t"/>
          <a:lstStyle/>
          <a:p>
            <a:pPr marL="0" indent="0" algn="l">
              <a:lnSpc>
                <a:spcPct val="104000"/>
              </a:lnSpc>
              <a:buNone/>
            </a:pPr>
            <a:r>
              <a:rPr lang="en-US" sz="1100" b="1" dirty="0">
                <a:solidFill>
                  <a:srgbClr val="333F70"/>
                </a:solidFill>
                <a:latin typeface="Unbounded Bold" pitchFamily="34" charset="0"/>
                <a:ea typeface="Unbounded Bold" pitchFamily="34" charset="-122"/>
                <a:cs typeface="Unbounded Bold" pitchFamily="34" charset="-120"/>
              </a:rPr>
              <a:t>Architectural Components</a:t>
            </a:r>
            <a:endParaRPr lang="en-US" sz="1100" dirty="0"/>
          </a:p>
        </p:txBody>
      </p:sp>
      <p:sp>
        <p:nvSpPr>
          <p:cNvPr id="6" name="Text 4"/>
          <p:cNvSpPr/>
          <p:nvPr/>
        </p:nvSpPr>
        <p:spPr>
          <a:xfrm>
            <a:off x="661475" y="1538784"/>
            <a:ext cx="227404" cy="142081"/>
          </a:xfrm>
          <a:prstGeom prst="rect">
            <a:avLst/>
          </a:prstGeom>
          <a:noFill/>
          <a:ln/>
        </p:spPr>
        <p:txBody>
          <a:bodyPr wrap="none" lIns="0" tIns="0" rIns="0" bIns="0" rtlCol="0" anchor="ctr"/>
          <a:lstStyle/>
          <a:p>
            <a:pPr marL="0" indent="0" algn="l">
              <a:lnSpc>
                <a:spcPct val="100000"/>
              </a:lnSpc>
              <a:buNone/>
            </a:pPr>
            <a:r>
              <a:rPr lang="en-US" sz="850" dirty="0">
                <a:solidFill>
                  <a:srgbClr val="333F70"/>
                </a:solidFill>
                <a:latin typeface="Unbounded Light" pitchFamily="34" charset="0"/>
                <a:ea typeface="Unbounded Light" pitchFamily="34" charset="-122"/>
                <a:cs typeface="Unbounded Light" pitchFamily="34" charset="-120"/>
              </a:rPr>
              <a:t>01</a:t>
            </a:r>
            <a:endParaRPr lang="en-US" sz="850" dirty="0"/>
          </a:p>
        </p:txBody>
      </p:sp>
      <p:sp>
        <p:nvSpPr>
          <p:cNvPr id="7" name="Shape 5"/>
          <p:cNvSpPr/>
          <p:nvPr/>
        </p:nvSpPr>
        <p:spPr>
          <a:xfrm>
            <a:off x="661475" y="1719263"/>
            <a:ext cx="4738271" cy="12700"/>
          </a:xfrm>
          <a:prstGeom prst="rect">
            <a:avLst/>
          </a:prstGeom>
          <a:solidFill>
            <a:srgbClr val="26A688"/>
          </a:solidFill>
          <a:ln/>
        </p:spPr>
      </p:sp>
      <p:sp>
        <p:nvSpPr>
          <p:cNvPr id="8" name="Text 6"/>
          <p:cNvSpPr/>
          <p:nvPr/>
        </p:nvSpPr>
        <p:spPr>
          <a:xfrm>
            <a:off x="661475" y="1801515"/>
            <a:ext cx="4738271" cy="177701"/>
          </a:xfrm>
          <a:prstGeom prst="rect">
            <a:avLst/>
          </a:prstGeom>
          <a:noFill/>
          <a:ln/>
        </p:spPr>
        <p:txBody>
          <a:bodyPr wrap="none" lIns="0" tIns="0" rIns="0" bIns="0" rtlCol="0" anchor="t"/>
          <a:lstStyle/>
          <a:p>
            <a:pPr marL="0" indent="0" algn="l">
              <a:lnSpc>
                <a:spcPct val="104000"/>
              </a:lnSpc>
              <a:buNone/>
            </a:pPr>
            <a:r>
              <a:rPr lang="en-US" sz="1100" b="1" dirty="0">
                <a:solidFill>
                  <a:srgbClr val="333F70"/>
                </a:solidFill>
                <a:latin typeface="Unbounded Bold" pitchFamily="34" charset="0"/>
                <a:ea typeface="Unbounded Bold" pitchFamily="34" charset="-122"/>
                <a:cs typeface="Unbounded Bold" pitchFamily="34" charset="-120"/>
              </a:rPr>
              <a:t>Input Stage</a:t>
            </a:r>
            <a:endParaRPr lang="en-US" sz="1100" dirty="0"/>
          </a:p>
        </p:txBody>
      </p:sp>
      <p:sp>
        <p:nvSpPr>
          <p:cNvPr id="9" name="Text 7"/>
          <p:cNvSpPr/>
          <p:nvPr/>
        </p:nvSpPr>
        <p:spPr>
          <a:xfrm>
            <a:off x="661475" y="2057301"/>
            <a:ext cx="4738271" cy="306983"/>
          </a:xfrm>
          <a:prstGeom prst="rect">
            <a:avLst/>
          </a:prstGeom>
          <a:noFill/>
          <a:ln/>
        </p:spPr>
        <p:txBody>
          <a:bodyPr wrap="square" lIns="0" tIns="0" rIns="0" bIns="0" rtlCol="0" anchor="t">
            <a:normAutofit/>
          </a:bodyPr>
          <a:lstStyle/>
          <a:p>
            <a:pPr marL="0" indent="0" algn="l">
              <a:lnSpc>
                <a:spcPct val="112000"/>
              </a:lnSpc>
              <a:buNone/>
            </a:pPr>
            <a:r>
              <a:rPr lang="en-US" sz="850" dirty="0">
                <a:solidFill>
                  <a:srgbClr val="333F70"/>
                </a:solidFill>
                <a:latin typeface="Open Sans" pitchFamily="34" charset="0"/>
                <a:ea typeface="Open Sans" pitchFamily="34" charset="-122"/>
                <a:cs typeface="Open Sans" pitchFamily="34" charset="-120"/>
              </a:rPr>
              <a:t>Two 4-bit input registers hold operands </a:t>
            </a:r>
            <a:r>
              <a:rPr lang="en-US" sz="850" b="1" dirty="0">
                <a:solidFill>
                  <a:srgbClr val="333F70"/>
                </a:solidFill>
                <a:latin typeface="Open Sans Bold" pitchFamily="34" charset="0"/>
                <a:ea typeface="Open Sans Bold" pitchFamily="34" charset="-122"/>
                <a:cs typeface="Open Sans Bold" pitchFamily="34" charset="-120"/>
              </a:rPr>
              <a:t>A[3:0]</a:t>
            </a:r>
            <a:r>
              <a:rPr lang="en-US" sz="850" dirty="0">
                <a:solidFill>
                  <a:srgbClr val="333F70"/>
                </a:solidFill>
                <a:latin typeface="Open Sans" pitchFamily="34" charset="0"/>
                <a:ea typeface="Open Sans" pitchFamily="34" charset="-122"/>
                <a:cs typeface="Open Sans" pitchFamily="34" charset="-120"/>
              </a:rPr>
              <a:t> and </a:t>
            </a:r>
            <a:r>
              <a:rPr lang="en-US" sz="850" b="1" dirty="0">
                <a:solidFill>
                  <a:srgbClr val="333F70"/>
                </a:solidFill>
                <a:latin typeface="Open Sans Bold" pitchFamily="34" charset="0"/>
                <a:ea typeface="Open Sans Bold" pitchFamily="34" charset="-122"/>
                <a:cs typeface="Open Sans Bold" pitchFamily="34" charset="-120"/>
              </a:rPr>
              <a:t>B[3:0]</a:t>
            </a:r>
            <a:r>
              <a:rPr lang="en-US" sz="850" dirty="0">
                <a:solidFill>
                  <a:srgbClr val="333F70"/>
                </a:solidFill>
                <a:latin typeface="Open Sans" pitchFamily="34" charset="0"/>
                <a:ea typeface="Open Sans" pitchFamily="34" charset="-122"/>
                <a:cs typeface="Open Sans" pitchFamily="34" charset="-120"/>
              </a:rPr>
              <a:t>. A single </a:t>
            </a:r>
            <a:r>
              <a:rPr lang="en-US" sz="850" b="1" dirty="0">
                <a:solidFill>
                  <a:srgbClr val="333F70"/>
                </a:solidFill>
                <a:latin typeface="Open Sans Bold" pitchFamily="34" charset="0"/>
                <a:ea typeface="Open Sans Bold" pitchFamily="34" charset="-122"/>
                <a:cs typeface="Open Sans Bold" pitchFamily="34" charset="-120"/>
              </a:rPr>
              <a:t>Mode</a:t>
            </a:r>
            <a:r>
              <a:rPr lang="en-US" sz="850" dirty="0">
                <a:solidFill>
                  <a:srgbClr val="333F70"/>
                </a:solidFill>
                <a:latin typeface="Open Sans" pitchFamily="34" charset="0"/>
                <a:ea typeface="Open Sans" pitchFamily="34" charset="-122"/>
                <a:cs typeface="Open Sans" pitchFamily="34" charset="-120"/>
              </a:rPr>
              <a:t> bit selects add (0) or subtract (1).</a:t>
            </a:r>
            <a:endParaRPr lang="en-US" sz="850" dirty="0"/>
          </a:p>
        </p:txBody>
      </p:sp>
      <p:sp>
        <p:nvSpPr>
          <p:cNvPr id="10" name="Text 8"/>
          <p:cNvSpPr/>
          <p:nvPr/>
        </p:nvSpPr>
        <p:spPr>
          <a:xfrm>
            <a:off x="661475" y="2527598"/>
            <a:ext cx="227404" cy="142081"/>
          </a:xfrm>
          <a:prstGeom prst="rect">
            <a:avLst/>
          </a:prstGeom>
          <a:noFill/>
          <a:ln/>
        </p:spPr>
        <p:txBody>
          <a:bodyPr wrap="none" lIns="0" tIns="0" rIns="0" bIns="0" rtlCol="0" anchor="ctr"/>
          <a:lstStyle/>
          <a:p>
            <a:pPr marL="0" indent="0" algn="l">
              <a:lnSpc>
                <a:spcPct val="100000"/>
              </a:lnSpc>
              <a:buNone/>
            </a:pPr>
            <a:r>
              <a:rPr lang="en-US" sz="850" dirty="0">
                <a:solidFill>
                  <a:srgbClr val="333F70"/>
                </a:solidFill>
                <a:latin typeface="Unbounded Light" pitchFamily="34" charset="0"/>
                <a:ea typeface="Unbounded Light" pitchFamily="34" charset="-122"/>
                <a:cs typeface="Unbounded Light" pitchFamily="34" charset="-120"/>
              </a:rPr>
              <a:t>02</a:t>
            </a:r>
            <a:endParaRPr lang="en-US" sz="850" dirty="0"/>
          </a:p>
        </p:txBody>
      </p:sp>
      <p:sp>
        <p:nvSpPr>
          <p:cNvPr id="11" name="Shape 9"/>
          <p:cNvSpPr/>
          <p:nvPr/>
        </p:nvSpPr>
        <p:spPr>
          <a:xfrm>
            <a:off x="661475" y="2708077"/>
            <a:ext cx="4738271" cy="12700"/>
          </a:xfrm>
          <a:prstGeom prst="rect">
            <a:avLst/>
          </a:prstGeom>
          <a:solidFill>
            <a:srgbClr val="26A688"/>
          </a:solidFill>
          <a:ln/>
        </p:spPr>
      </p:sp>
      <p:sp>
        <p:nvSpPr>
          <p:cNvPr id="12" name="Text 10"/>
          <p:cNvSpPr/>
          <p:nvPr/>
        </p:nvSpPr>
        <p:spPr>
          <a:xfrm>
            <a:off x="661475" y="2790329"/>
            <a:ext cx="4738271" cy="177701"/>
          </a:xfrm>
          <a:prstGeom prst="rect">
            <a:avLst/>
          </a:prstGeom>
          <a:noFill/>
          <a:ln/>
        </p:spPr>
        <p:txBody>
          <a:bodyPr wrap="none" lIns="0" tIns="0" rIns="0" bIns="0" rtlCol="0" anchor="t"/>
          <a:lstStyle/>
          <a:p>
            <a:pPr marL="0" indent="0" algn="l">
              <a:lnSpc>
                <a:spcPct val="104000"/>
              </a:lnSpc>
              <a:buNone/>
            </a:pPr>
            <a:r>
              <a:rPr lang="en-US" sz="1100" b="1" dirty="0">
                <a:solidFill>
                  <a:srgbClr val="333F70"/>
                </a:solidFill>
                <a:latin typeface="Unbounded Bold" pitchFamily="34" charset="0"/>
                <a:ea typeface="Unbounded Bold" pitchFamily="34" charset="-122"/>
                <a:cs typeface="Unbounded Bold" pitchFamily="34" charset="-120"/>
              </a:rPr>
              <a:t>B-Input XOR Array</a:t>
            </a:r>
            <a:endParaRPr lang="en-US" sz="1100" dirty="0"/>
          </a:p>
        </p:txBody>
      </p:sp>
      <p:sp>
        <p:nvSpPr>
          <p:cNvPr id="13" name="Text 11"/>
          <p:cNvSpPr/>
          <p:nvPr/>
        </p:nvSpPr>
        <p:spPr>
          <a:xfrm>
            <a:off x="661475" y="3046115"/>
            <a:ext cx="4738271" cy="306983"/>
          </a:xfrm>
          <a:prstGeom prst="rect">
            <a:avLst/>
          </a:prstGeom>
          <a:noFill/>
          <a:ln/>
        </p:spPr>
        <p:txBody>
          <a:bodyPr wrap="square" lIns="0" tIns="0" rIns="0" bIns="0" rtlCol="0" anchor="t">
            <a:normAutofit/>
          </a:bodyPr>
          <a:lstStyle/>
          <a:p>
            <a:pPr marL="0" indent="0" algn="l">
              <a:lnSpc>
                <a:spcPct val="112000"/>
              </a:lnSpc>
              <a:buNone/>
            </a:pPr>
            <a:r>
              <a:rPr lang="en-US" sz="850" dirty="0">
                <a:solidFill>
                  <a:srgbClr val="333F70"/>
                </a:solidFill>
                <a:latin typeface="Open Sans" pitchFamily="34" charset="0"/>
                <a:ea typeface="Open Sans" pitchFamily="34" charset="-122"/>
                <a:cs typeface="Open Sans" pitchFamily="34" charset="-120"/>
              </a:rPr>
              <a:t>Four XOR gates on B inputs: each </a:t>
            </a:r>
            <a:r>
              <a:rPr lang="en-US" sz="850" b="1" dirty="0">
                <a:solidFill>
                  <a:srgbClr val="333F70"/>
                </a:solidFill>
                <a:latin typeface="Open Sans Bold" pitchFamily="34" charset="0"/>
                <a:ea typeface="Open Sans Bold" pitchFamily="34" charset="-122"/>
                <a:cs typeface="Open Sans Bold" pitchFamily="34" charset="-120"/>
              </a:rPr>
              <a:t>B[i] XOR Mode</a:t>
            </a:r>
            <a:r>
              <a:rPr lang="en-US" sz="850" dirty="0">
                <a:solidFill>
                  <a:srgbClr val="333F70"/>
                </a:solidFill>
                <a:latin typeface="Open Sans" pitchFamily="34" charset="0"/>
                <a:ea typeface="Open Sans" pitchFamily="34" charset="-122"/>
                <a:cs typeface="Open Sans" pitchFamily="34" charset="-120"/>
              </a:rPr>
              <a:t> passes B unchanged for addition or inverts B for subtraction. Mode is also injected as Cin of FA-0.</a:t>
            </a:r>
            <a:endParaRPr lang="en-US" sz="850" dirty="0"/>
          </a:p>
        </p:txBody>
      </p:sp>
      <p:sp>
        <p:nvSpPr>
          <p:cNvPr id="14" name="Text 12"/>
          <p:cNvSpPr/>
          <p:nvPr/>
        </p:nvSpPr>
        <p:spPr>
          <a:xfrm>
            <a:off x="661475" y="3516412"/>
            <a:ext cx="227404" cy="142081"/>
          </a:xfrm>
          <a:prstGeom prst="rect">
            <a:avLst/>
          </a:prstGeom>
          <a:noFill/>
          <a:ln/>
        </p:spPr>
        <p:txBody>
          <a:bodyPr wrap="none" lIns="0" tIns="0" rIns="0" bIns="0" rtlCol="0" anchor="ctr"/>
          <a:lstStyle/>
          <a:p>
            <a:pPr marL="0" indent="0" algn="l">
              <a:lnSpc>
                <a:spcPct val="100000"/>
              </a:lnSpc>
              <a:buNone/>
            </a:pPr>
            <a:r>
              <a:rPr lang="en-US" sz="850" dirty="0">
                <a:solidFill>
                  <a:srgbClr val="333F70"/>
                </a:solidFill>
                <a:latin typeface="Unbounded Light" pitchFamily="34" charset="0"/>
                <a:ea typeface="Unbounded Light" pitchFamily="34" charset="-122"/>
                <a:cs typeface="Unbounded Light" pitchFamily="34" charset="-120"/>
              </a:rPr>
              <a:t>03</a:t>
            </a:r>
            <a:endParaRPr lang="en-US" sz="850" dirty="0"/>
          </a:p>
        </p:txBody>
      </p:sp>
      <p:sp>
        <p:nvSpPr>
          <p:cNvPr id="15" name="Shape 13"/>
          <p:cNvSpPr/>
          <p:nvPr/>
        </p:nvSpPr>
        <p:spPr>
          <a:xfrm>
            <a:off x="661475" y="3696891"/>
            <a:ext cx="4738271" cy="12700"/>
          </a:xfrm>
          <a:prstGeom prst="rect">
            <a:avLst/>
          </a:prstGeom>
          <a:solidFill>
            <a:srgbClr val="26A688"/>
          </a:solidFill>
          <a:ln/>
        </p:spPr>
      </p:sp>
      <p:sp>
        <p:nvSpPr>
          <p:cNvPr id="16" name="Text 14"/>
          <p:cNvSpPr/>
          <p:nvPr/>
        </p:nvSpPr>
        <p:spPr>
          <a:xfrm>
            <a:off x="661475" y="3779143"/>
            <a:ext cx="4738271" cy="177701"/>
          </a:xfrm>
          <a:prstGeom prst="rect">
            <a:avLst/>
          </a:prstGeom>
          <a:noFill/>
          <a:ln/>
        </p:spPr>
        <p:txBody>
          <a:bodyPr wrap="none" lIns="0" tIns="0" rIns="0" bIns="0" rtlCol="0" anchor="t"/>
          <a:lstStyle/>
          <a:p>
            <a:pPr marL="0" indent="0" algn="l">
              <a:lnSpc>
                <a:spcPct val="104000"/>
              </a:lnSpc>
              <a:buNone/>
            </a:pPr>
            <a:r>
              <a:rPr lang="en-US" sz="1100" b="1" dirty="0">
                <a:solidFill>
                  <a:srgbClr val="333F70"/>
                </a:solidFill>
                <a:latin typeface="Unbounded Bold" pitchFamily="34" charset="0"/>
                <a:ea typeface="Unbounded Bold" pitchFamily="34" charset="-122"/>
                <a:cs typeface="Unbounded Bold" pitchFamily="34" charset="-120"/>
              </a:rPr>
              <a:t>Ripple-Carry Adder Unit</a:t>
            </a:r>
            <a:endParaRPr lang="en-US" sz="1100" dirty="0"/>
          </a:p>
        </p:txBody>
      </p:sp>
      <p:sp>
        <p:nvSpPr>
          <p:cNvPr id="17" name="Text 15"/>
          <p:cNvSpPr/>
          <p:nvPr/>
        </p:nvSpPr>
        <p:spPr>
          <a:xfrm>
            <a:off x="661475" y="4034929"/>
            <a:ext cx="4738271" cy="306983"/>
          </a:xfrm>
          <a:prstGeom prst="rect">
            <a:avLst/>
          </a:prstGeom>
          <a:noFill/>
          <a:ln/>
        </p:spPr>
        <p:txBody>
          <a:bodyPr wrap="square" lIns="0" tIns="0" rIns="0" bIns="0" rtlCol="0" anchor="t">
            <a:normAutofit/>
          </a:bodyPr>
          <a:lstStyle/>
          <a:p>
            <a:pPr marL="0" indent="0" algn="l">
              <a:lnSpc>
                <a:spcPct val="112000"/>
              </a:lnSpc>
              <a:buNone/>
            </a:pPr>
            <a:r>
              <a:rPr lang="en-US" sz="850" dirty="0">
                <a:solidFill>
                  <a:srgbClr val="333F70"/>
                </a:solidFill>
                <a:latin typeface="Open Sans" pitchFamily="34" charset="0"/>
                <a:ea typeface="Open Sans" pitchFamily="34" charset="-122"/>
                <a:cs typeface="Open Sans" pitchFamily="34" charset="-120"/>
              </a:rPr>
              <a:t>Four full adders (FA-0 through FA-3) cascaded in sequence. Carry-out of FA-i connects to carry-in of FA-(i+1), propagating through all bit stages.</a:t>
            </a:r>
            <a:endParaRPr lang="en-US" sz="850" dirty="0"/>
          </a:p>
        </p:txBody>
      </p:sp>
      <p:sp>
        <p:nvSpPr>
          <p:cNvPr id="18" name="Text 16"/>
          <p:cNvSpPr/>
          <p:nvPr/>
        </p:nvSpPr>
        <p:spPr>
          <a:xfrm>
            <a:off x="661475" y="4505226"/>
            <a:ext cx="227404" cy="142081"/>
          </a:xfrm>
          <a:prstGeom prst="rect">
            <a:avLst/>
          </a:prstGeom>
          <a:noFill/>
          <a:ln/>
        </p:spPr>
        <p:txBody>
          <a:bodyPr wrap="none" lIns="0" tIns="0" rIns="0" bIns="0" rtlCol="0" anchor="ctr"/>
          <a:lstStyle/>
          <a:p>
            <a:pPr marL="0" indent="0" algn="l">
              <a:lnSpc>
                <a:spcPct val="100000"/>
              </a:lnSpc>
              <a:buNone/>
            </a:pPr>
            <a:r>
              <a:rPr lang="en-US" sz="850" dirty="0">
                <a:solidFill>
                  <a:srgbClr val="333F70"/>
                </a:solidFill>
                <a:latin typeface="Unbounded Light" pitchFamily="34" charset="0"/>
                <a:ea typeface="Unbounded Light" pitchFamily="34" charset="-122"/>
                <a:cs typeface="Unbounded Light" pitchFamily="34" charset="-120"/>
              </a:rPr>
              <a:t>04</a:t>
            </a:r>
            <a:endParaRPr lang="en-US" sz="850" dirty="0"/>
          </a:p>
        </p:txBody>
      </p:sp>
      <p:sp>
        <p:nvSpPr>
          <p:cNvPr id="19" name="Shape 17"/>
          <p:cNvSpPr/>
          <p:nvPr/>
        </p:nvSpPr>
        <p:spPr>
          <a:xfrm>
            <a:off x="661475" y="4685705"/>
            <a:ext cx="4738271" cy="12700"/>
          </a:xfrm>
          <a:prstGeom prst="rect">
            <a:avLst/>
          </a:prstGeom>
          <a:solidFill>
            <a:srgbClr val="26A688"/>
          </a:solidFill>
          <a:ln/>
        </p:spPr>
      </p:sp>
      <p:sp>
        <p:nvSpPr>
          <p:cNvPr id="20" name="Text 18"/>
          <p:cNvSpPr/>
          <p:nvPr/>
        </p:nvSpPr>
        <p:spPr>
          <a:xfrm>
            <a:off x="661475" y="4767957"/>
            <a:ext cx="4738271" cy="177701"/>
          </a:xfrm>
          <a:prstGeom prst="rect">
            <a:avLst/>
          </a:prstGeom>
          <a:noFill/>
          <a:ln/>
        </p:spPr>
        <p:txBody>
          <a:bodyPr wrap="none" lIns="0" tIns="0" rIns="0" bIns="0" rtlCol="0" anchor="t"/>
          <a:lstStyle/>
          <a:p>
            <a:pPr marL="0" indent="0" algn="l">
              <a:lnSpc>
                <a:spcPct val="104000"/>
              </a:lnSpc>
              <a:buNone/>
            </a:pPr>
            <a:r>
              <a:rPr lang="en-US" sz="1100" b="1" dirty="0">
                <a:solidFill>
                  <a:srgbClr val="333F70"/>
                </a:solidFill>
                <a:latin typeface="Unbounded Bold" pitchFamily="34" charset="0"/>
                <a:ea typeface="Unbounded Bold" pitchFamily="34" charset="-122"/>
                <a:cs typeface="Unbounded Bold" pitchFamily="34" charset="-120"/>
              </a:rPr>
              <a:t>Overflow Detection Logic</a:t>
            </a:r>
            <a:endParaRPr lang="en-US" sz="1100" dirty="0"/>
          </a:p>
        </p:txBody>
      </p:sp>
      <p:sp>
        <p:nvSpPr>
          <p:cNvPr id="21" name="Text 19"/>
          <p:cNvSpPr/>
          <p:nvPr/>
        </p:nvSpPr>
        <p:spPr>
          <a:xfrm>
            <a:off x="661475" y="5023743"/>
            <a:ext cx="4738271" cy="306983"/>
          </a:xfrm>
          <a:prstGeom prst="rect">
            <a:avLst/>
          </a:prstGeom>
          <a:noFill/>
          <a:ln/>
        </p:spPr>
        <p:txBody>
          <a:bodyPr wrap="square" lIns="0" tIns="0" rIns="0" bIns="0" rtlCol="0" anchor="t">
            <a:normAutofit/>
          </a:bodyPr>
          <a:lstStyle/>
          <a:p>
            <a:pPr marL="0" indent="0" algn="l">
              <a:lnSpc>
                <a:spcPct val="112000"/>
              </a:lnSpc>
              <a:buNone/>
            </a:pPr>
            <a:r>
              <a:rPr lang="en-US" sz="850" dirty="0">
                <a:solidFill>
                  <a:srgbClr val="333F70"/>
                </a:solidFill>
                <a:latin typeface="Open Sans" pitchFamily="34" charset="0"/>
                <a:ea typeface="Open Sans" pitchFamily="34" charset="-122"/>
                <a:cs typeface="Open Sans" pitchFamily="34" charset="-120"/>
              </a:rPr>
              <a:t>Single XOR gate: </a:t>
            </a:r>
            <a:r>
              <a:rPr lang="en-US" sz="850" b="1" dirty="0">
                <a:solidFill>
                  <a:srgbClr val="333F70"/>
                </a:solidFill>
                <a:latin typeface="Open Sans Bold" pitchFamily="34" charset="0"/>
                <a:ea typeface="Open Sans Bold" pitchFamily="34" charset="-122"/>
                <a:cs typeface="Open Sans Bold" pitchFamily="34" charset="-120"/>
              </a:rPr>
              <a:t>OVF = Cin,3 XOR Cout,3</a:t>
            </a:r>
            <a:r>
              <a:rPr lang="en-US" sz="850" dirty="0">
                <a:solidFill>
                  <a:srgbClr val="333F70"/>
                </a:solidFill>
                <a:latin typeface="Open Sans" pitchFamily="34" charset="0"/>
                <a:ea typeface="Open Sans" pitchFamily="34" charset="-122"/>
                <a:cs typeface="Open Sans" pitchFamily="34" charset="-120"/>
              </a:rPr>
              <a:t>. Compares MSB carry signals to detect signed overflow.</a:t>
            </a:r>
            <a:endParaRPr lang="en-US" sz="850" dirty="0"/>
          </a:p>
        </p:txBody>
      </p:sp>
      <p:sp>
        <p:nvSpPr>
          <p:cNvPr id="22" name="Text 20"/>
          <p:cNvSpPr/>
          <p:nvPr/>
        </p:nvSpPr>
        <p:spPr>
          <a:xfrm>
            <a:off x="661475" y="5494040"/>
            <a:ext cx="227404" cy="142081"/>
          </a:xfrm>
          <a:prstGeom prst="rect">
            <a:avLst/>
          </a:prstGeom>
          <a:noFill/>
          <a:ln/>
        </p:spPr>
        <p:txBody>
          <a:bodyPr wrap="none" lIns="0" tIns="0" rIns="0" bIns="0" rtlCol="0" anchor="ctr"/>
          <a:lstStyle/>
          <a:p>
            <a:pPr marL="0" indent="0" algn="l">
              <a:lnSpc>
                <a:spcPct val="100000"/>
              </a:lnSpc>
              <a:buNone/>
            </a:pPr>
            <a:r>
              <a:rPr lang="en-US" sz="850" dirty="0">
                <a:solidFill>
                  <a:srgbClr val="333F70"/>
                </a:solidFill>
                <a:latin typeface="Unbounded Light" pitchFamily="34" charset="0"/>
                <a:ea typeface="Unbounded Light" pitchFamily="34" charset="-122"/>
                <a:cs typeface="Unbounded Light" pitchFamily="34" charset="-120"/>
              </a:rPr>
              <a:t>05</a:t>
            </a:r>
            <a:endParaRPr lang="en-US" sz="850" dirty="0"/>
          </a:p>
        </p:txBody>
      </p:sp>
      <p:sp>
        <p:nvSpPr>
          <p:cNvPr id="23" name="Shape 21"/>
          <p:cNvSpPr/>
          <p:nvPr/>
        </p:nvSpPr>
        <p:spPr>
          <a:xfrm>
            <a:off x="661475" y="5674519"/>
            <a:ext cx="4738271" cy="12700"/>
          </a:xfrm>
          <a:prstGeom prst="rect">
            <a:avLst/>
          </a:prstGeom>
          <a:solidFill>
            <a:srgbClr val="26A688"/>
          </a:solidFill>
          <a:ln/>
        </p:spPr>
      </p:sp>
      <p:sp>
        <p:nvSpPr>
          <p:cNvPr id="24" name="Text 22"/>
          <p:cNvSpPr/>
          <p:nvPr/>
        </p:nvSpPr>
        <p:spPr>
          <a:xfrm>
            <a:off x="661475" y="5756771"/>
            <a:ext cx="4738271" cy="177701"/>
          </a:xfrm>
          <a:prstGeom prst="rect">
            <a:avLst/>
          </a:prstGeom>
          <a:noFill/>
          <a:ln/>
        </p:spPr>
        <p:txBody>
          <a:bodyPr wrap="none" lIns="0" tIns="0" rIns="0" bIns="0" rtlCol="0" anchor="t"/>
          <a:lstStyle/>
          <a:p>
            <a:pPr marL="0" indent="0" algn="l">
              <a:lnSpc>
                <a:spcPct val="104000"/>
              </a:lnSpc>
              <a:buNone/>
            </a:pPr>
            <a:r>
              <a:rPr lang="en-US" sz="1100" b="1" dirty="0">
                <a:solidFill>
                  <a:srgbClr val="333F70"/>
                </a:solidFill>
                <a:latin typeface="Unbounded Bold" pitchFamily="34" charset="0"/>
                <a:ea typeface="Unbounded Bold" pitchFamily="34" charset="-122"/>
                <a:cs typeface="Unbounded Bold" pitchFamily="34" charset="-120"/>
              </a:rPr>
              <a:t>Output Stage</a:t>
            </a:r>
            <a:endParaRPr lang="en-US" sz="1100" dirty="0"/>
          </a:p>
        </p:txBody>
      </p:sp>
      <p:sp>
        <p:nvSpPr>
          <p:cNvPr id="25" name="Text 23"/>
          <p:cNvSpPr/>
          <p:nvPr/>
        </p:nvSpPr>
        <p:spPr>
          <a:xfrm>
            <a:off x="661475" y="6012557"/>
            <a:ext cx="4738271" cy="153491"/>
          </a:xfrm>
          <a:prstGeom prst="rect">
            <a:avLst/>
          </a:prstGeom>
          <a:noFill/>
          <a:ln/>
        </p:spPr>
        <p:txBody>
          <a:bodyPr wrap="none" lIns="0" tIns="0" rIns="0" bIns="0" rtlCol="0" anchor="t"/>
          <a:lstStyle/>
          <a:p>
            <a:pPr marL="0" indent="0" algn="l">
              <a:lnSpc>
                <a:spcPct val="112000"/>
              </a:lnSpc>
              <a:buNone/>
            </a:pPr>
            <a:r>
              <a:rPr lang="en-US" sz="850" dirty="0">
                <a:solidFill>
                  <a:srgbClr val="333F70"/>
                </a:solidFill>
                <a:latin typeface="Open Sans" pitchFamily="34" charset="0"/>
                <a:ea typeface="Open Sans" pitchFamily="34" charset="-122"/>
                <a:cs typeface="Open Sans" pitchFamily="34" charset="-120"/>
              </a:rPr>
              <a:t>4-bit result </a:t>
            </a:r>
            <a:r>
              <a:rPr lang="en-US" sz="850" b="1" dirty="0">
                <a:solidFill>
                  <a:srgbClr val="333F70"/>
                </a:solidFill>
                <a:latin typeface="Open Sans Bold" pitchFamily="34" charset="0"/>
                <a:ea typeface="Open Sans Bold" pitchFamily="34" charset="-122"/>
                <a:cs typeface="Open Sans Bold" pitchFamily="34" charset="-120"/>
              </a:rPr>
              <a:t>S[3:0]</a:t>
            </a:r>
            <a:r>
              <a:rPr lang="en-US" sz="850" dirty="0">
                <a:solidFill>
                  <a:srgbClr val="333F70"/>
                </a:solidFill>
                <a:latin typeface="Open Sans" pitchFamily="34" charset="0"/>
                <a:ea typeface="Open Sans" pitchFamily="34" charset="-122"/>
                <a:cs typeface="Open Sans" pitchFamily="34" charset="-120"/>
              </a:rPr>
              <a:t> and 1-bit overflow flag </a:t>
            </a:r>
            <a:r>
              <a:rPr lang="en-US" sz="850" b="1" dirty="0">
                <a:solidFill>
                  <a:srgbClr val="333F70"/>
                </a:solidFill>
                <a:latin typeface="Open Sans Bold" pitchFamily="34" charset="0"/>
                <a:ea typeface="Open Sans Bold" pitchFamily="34" charset="-122"/>
                <a:cs typeface="Open Sans Bold" pitchFamily="34" charset="-120"/>
              </a:rPr>
              <a:t>OVF</a:t>
            </a:r>
            <a:r>
              <a:rPr lang="en-US" sz="850" dirty="0">
                <a:solidFill>
                  <a:srgbClr val="333F70"/>
                </a:solidFill>
                <a:latin typeface="Open Sans" pitchFamily="34" charset="0"/>
                <a:ea typeface="Open Sans" pitchFamily="34" charset="-122"/>
                <a:cs typeface="Open Sans" pitchFamily="34" charset="-120"/>
              </a:rPr>
              <a:t> are produced as final circuit outputs.</a:t>
            </a:r>
            <a:endParaRPr lang="en-US" sz="850" dirty="0"/>
          </a:p>
        </p:txBody>
      </p:sp>
      <p:sp>
        <p:nvSpPr>
          <p:cNvPr id="26" name="Text 24"/>
          <p:cNvSpPr/>
          <p:nvPr/>
        </p:nvSpPr>
        <p:spPr>
          <a:xfrm>
            <a:off x="5683505" y="1273175"/>
            <a:ext cx="5852966" cy="177701"/>
          </a:xfrm>
          <a:prstGeom prst="rect">
            <a:avLst/>
          </a:prstGeom>
          <a:noFill/>
          <a:ln/>
        </p:spPr>
        <p:txBody>
          <a:bodyPr wrap="none" lIns="0" tIns="0" rIns="0" bIns="0" rtlCol="0" anchor="t"/>
          <a:lstStyle/>
          <a:p>
            <a:pPr marL="0" indent="0" algn="l">
              <a:lnSpc>
                <a:spcPct val="104000"/>
              </a:lnSpc>
              <a:buNone/>
            </a:pPr>
            <a:r>
              <a:rPr lang="en-US" sz="1100" b="1" dirty="0">
                <a:solidFill>
                  <a:srgbClr val="333F70"/>
                </a:solidFill>
                <a:latin typeface="Unbounded Bold" pitchFamily="34" charset="0"/>
                <a:ea typeface="Unbounded Bold" pitchFamily="34" charset="-122"/>
                <a:cs typeface="Unbounded Bold" pitchFamily="34" charset="-120"/>
              </a:rPr>
              <a:t>Data Flow Summary</a:t>
            </a:r>
            <a:endParaRPr lang="en-US" sz="11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683505" y="1538784"/>
          <a:ext cx="5852967" cy="2430202"/>
        </p:xfrm>
        <a:graphic>
          <a:graphicData uri="http://schemas.openxmlformats.org/drawingml/2006/table">
            <a:tbl>
              <a:tblPr/>
              <a:tblGrid>
                <a:gridCol w="1950989">
                  <a:extLst>
                    <a:ext uri="{9D8B030D-6E8A-4147-A177-3AD203B41FA5}">
                      <a16:colId xmlns:a16="http://schemas.microsoft.com/office/drawing/2014/main" val="20000"/>
                    </a:ext>
                  </a:extLst>
                </a:gridCol>
                <a:gridCol w="1950989">
                  <a:extLst>
                    <a:ext uri="{9D8B030D-6E8A-4147-A177-3AD203B41FA5}">
                      <a16:colId xmlns:a16="http://schemas.microsoft.com/office/drawing/2014/main" val="20001"/>
                    </a:ext>
                  </a:extLst>
                </a:gridCol>
                <a:gridCol w="1950989">
                  <a:extLst>
                    <a:ext uri="{9D8B030D-6E8A-4147-A177-3AD203B41FA5}">
                      <a16:colId xmlns:a16="http://schemas.microsoft.com/office/drawing/2014/main" val="20002"/>
                    </a:ext>
                  </a:extLst>
                </a:gridCol>
              </a:tblGrid>
              <a:tr h="263022">
                <a:tc>
                  <a:txBody>
                    <a:bodyPr/>
                    <a:lstStyle/>
                    <a:p>
                      <a:pPr marL="0" indent="0">
                        <a:buNone/>
                      </a:pPr>
                      <a:r>
                        <a:rPr lang="en-US" sz="850" b="1" dirty="0">
                          <a:solidFill>
                            <a:srgbClr val="272525"/>
                          </a:solidFill>
                          <a:latin typeface="Open Sans" pitchFamily="34" charset="0"/>
                          <a:ea typeface="Open Sans" pitchFamily="34" charset="-122"/>
                          <a:cs typeface="Open Sans" pitchFamily="34" charset="-120"/>
                        </a:rPr>
                        <a:t>Signal</a:t>
                      </a:r>
                      <a:endParaRPr lang="en-US" sz="850" dirty="0">
                        <a:latin typeface="Open Sans" charset="0"/>
                        <a:ea typeface="Open Sans" charset="0"/>
                        <a:cs typeface="Open Sans" charset="0"/>
                      </a:endParaRPr>
                    </a:p>
                  </a:txBody>
                  <a:tcPr marL="113707" marR="113707"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solidFill>
                      <a:srgbClr val="26A688"/>
                    </a:solidFill>
                  </a:tcPr>
                </a:tc>
                <a:tc>
                  <a:txBody>
                    <a:bodyPr/>
                    <a:lstStyle/>
                    <a:p>
                      <a:pPr marL="0" indent="0">
                        <a:buNone/>
                      </a:pPr>
                      <a:r>
                        <a:rPr lang="en-US" sz="850" b="1" dirty="0">
                          <a:solidFill>
                            <a:srgbClr val="272525"/>
                          </a:solidFill>
                          <a:latin typeface="Open Sans" pitchFamily="34" charset="0"/>
                          <a:ea typeface="Open Sans" pitchFamily="34" charset="-122"/>
                          <a:cs typeface="Open Sans" pitchFamily="34" charset="-120"/>
                        </a:rPr>
                        <a:t>Width</a:t>
                      </a:r>
                      <a:endParaRPr lang="en-US" sz="850" dirty="0">
                        <a:latin typeface="Open Sans" charset="0"/>
                        <a:ea typeface="Open Sans" charset="0"/>
                        <a:cs typeface="Open Sans" charset="0"/>
                      </a:endParaRPr>
                    </a:p>
                  </a:txBody>
                  <a:tcPr marL="113707" marR="113707"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solidFill>
                      <a:srgbClr val="26A688"/>
                    </a:solidFill>
                  </a:tcPr>
                </a:tc>
                <a:tc>
                  <a:txBody>
                    <a:bodyPr/>
                    <a:lstStyle/>
                    <a:p>
                      <a:pPr marL="0" indent="0">
                        <a:buNone/>
                      </a:pPr>
                      <a:r>
                        <a:rPr lang="en-US" sz="850" b="1" dirty="0">
                          <a:solidFill>
                            <a:srgbClr val="272525"/>
                          </a:solidFill>
                          <a:latin typeface="Open Sans" pitchFamily="34" charset="0"/>
                          <a:ea typeface="Open Sans" pitchFamily="34" charset="-122"/>
                          <a:cs typeface="Open Sans" pitchFamily="34" charset="-120"/>
                        </a:rPr>
                        <a:t>Description</a:t>
                      </a:r>
                      <a:endParaRPr lang="en-US" sz="850" dirty="0">
                        <a:latin typeface="Open Sans" charset="0"/>
                        <a:ea typeface="Open Sans" charset="0"/>
                        <a:cs typeface="Open Sans" charset="0"/>
                      </a:endParaRPr>
                    </a:p>
                  </a:txBody>
                  <a:tcPr marL="113707" marR="113707"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solidFill>
                      <a:srgbClr val="26A688"/>
                    </a:solidFill>
                  </a:tcPr>
                </a:tc>
                <a:extLst>
                  <a:ext uri="{0D108BD9-81ED-4DB2-BD59-A6C34878D82A}">
                    <a16:rowId xmlns:a16="http://schemas.microsoft.com/office/drawing/2014/main" val="10000"/>
                  </a:ext>
                </a:extLst>
              </a:tr>
              <a:tr h="266197">
                <a:tc>
                  <a:txBody>
                    <a:bodyPr/>
                    <a:lstStyle/>
                    <a:p>
                      <a:pPr marL="0" indent="0">
                        <a:buNone/>
                      </a:pPr>
                      <a:r>
                        <a:rPr lang="en-US" sz="850" dirty="0">
                          <a:solidFill>
                            <a:srgbClr val="333F70"/>
                          </a:solidFill>
                          <a:latin typeface="Open Sans" pitchFamily="34" charset="0"/>
                          <a:ea typeface="Open Sans" pitchFamily="34" charset="-122"/>
                          <a:cs typeface="Open Sans" pitchFamily="34" charset="-120"/>
                        </a:rPr>
                        <a:t>A[3:0]</a:t>
                      </a:r>
                      <a:endParaRPr lang="en-US" sz="850" dirty="0">
                        <a:latin typeface="Open Sans" charset="0"/>
                        <a:ea typeface="Open Sans" charset="0"/>
                        <a:cs typeface="Open Sans" charset="0"/>
                      </a:endParaRPr>
                    </a:p>
                  </a:txBody>
                  <a:tcPr marL="113707" marR="113707"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tc>
                  <a:txBody>
                    <a:bodyPr/>
                    <a:lstStyle/>
                    <a:p>
                      <a:pPr marL="0" indent="0">
                        <a:buNone/>
                      </a:pPr>
                      <a:r>
                        <a:rPr lang="en-US" sz="850" dirty="0">
                          <a:solidFill>
                            <a:srgbClr val="333F70"/>
                          </a:solidFill>
                          <a:latin typeface="Open Sans" pitchFamily="34" charset="0"/>
                          <a:ea typeface="Open Sans" pitchFamily="34" charset="-122"/>
                          <a:cs typeface="Open Sans" pitchFamily="34" charset="-120"/>
                        </a:rPr>
                        <a:t>4-bit</a:t>
                      </a:r>
                      <a:endParaRPr lang="en-US" sz="850" dirty="0">
                        <a:latin typeface="Open Sans" charset="0"/>
                        <a:ea typeface="Open Sans" charset="0"/>
                        <a:cs typeface="Open Sans" charset="0"/>
                      </a:endParaRPr>
                    </a:p>
                  </a:txBody>
                  <a:tcPr marL="113707" marR="113707"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tc>
                  <a:txBody>
                    <a:bodyPr/>
                    <a:lstStyle/>
                    <a:p>
                      <a:pPr marL="0" indent="0">
                        <a:buNone/>
                      </a:pPr>
                      <a:r>
                        <a:rPr lang="en-US" sz="850" dirty="0">
                          <a:solidFill>
                            <a:srgbClr val="333F70"/>
                          </a:solidFill>
                          <a:latin typeface="Open Sans" pitchFamily="34" charset="0"/>
                          <a:ea typeface="Open Sans" pitchFamily="34" charset="-122"/>
                          <a:cs typeface="Open Sans" pitchFamily="34" charset="-120"/>
                        </a:rPr>
                        <a:t>First operand (signed)</a:t>
                      </a:r>
                      <a:endParaRPr lang="en-US" sz="850" dirty="0">
                        <a:latin typeface="Open Sans" charset="0"/>
                        <a:ea typeface="Open Sans" charset="0"/>
                        <a:cs typeface="Open Sans" charset="0"/>
                      </a:endParaRPr>
                    </a:p>
                  </a:txBody>
                  <a:tcPr marL="113707" marR="113707"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extLst>
                  <a:ext uri="{0D108BD9-81ED-4DB2-BD59-A6C34878D82A}">
                    <a16:rowId xmlns:a16="http://schemas.microsoft.com/office/drawing/2014/main" val="10001"/>
                  </a:ext>
                </a:extLst>
              </a:tr>
              <a:tr h="266197">
                <a:tc>
                  <a:txBody>
                    <a:bodyPr/>
                    <a:lstStyle/>
                    <a:p>
                      <a:pPr marL="0" indent="0">
                        <a:buNone/>
                      </a:pPr>
                      <a:r>
                        <a:rPr lang="en-US" sz="850" dirty="0">
                          <a:solidFill>
                            <a:srgbClr val="333F70"/>
                          </a:solidFill>
                          <a:latin typeface="Open Sans" pitchFamily="34" charset="0"/>
                          <a:ea typeface="Open Sans" pitchFamily="34" charset="-122"/>
                          <a:cs typeface="Open Sans" pitchFamily="34" charset="-120"/>
                        </a:rPr>
                        <a:t>B[3:0]</a:t>
                      </a:r>
                      <a:endParaRPr lang="en-US" sz="850" dirty="0">
                        <a:latin typeface="Open Sans" charset="0"/>
                        <a:ea typeface="Open Sans" charset="0"/>
                        <a:cs typeface="Open Sans" charset="0"/>
                      </a:endParaRPr>
                    </a:p>
                  </a:txBody>
                  <a:tcPr marL="113707" marR="113707"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tc>
                  <a:txBody>
                    <a:bodyPr/>
                    <a:lstStyle/>
                    <a:p>
                      <a:pPr marL="0" indent="0">
                        <a:buNone/>
                      </a:pPr>
                      <a:r>
                        <a:rPr lang="en-US" sz="850" dirty="0">
                          <a:solidFill>
                            <a:srgbClr val="333F70"/>
                          </a:solidFill>
                          <a:latin typeface="Open Sans" pitchFamily="34" charset="0"/>
                          <a:ea typeface="Open Sans" pitchFamily="34" charset="-122"/>
                          <a:cs typeface="Open Sans" pitchFamily="34" charset="-120"/>
                        </a:rPr>
                        <a:t>4-bit</a:t>
                      </a:r>
                      <a:endParaRPr lang="en-US" sz="850" dirty="0">
                        <a:latin typeface="Open Sans" charset="0"/>
                        <a:ea typeface="Open Sans" charset="0"/>
                        <a:cs typeface="Open Sans" charset="0"/>
                      </a:endParaRPr>
                    </a:p>
                  </a:txBody>
                  <a:tcPr marL="113707" marR="113707"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tc>
                  <a:txBody>
                    <a:bodyPr/>
                    <a:lstStyle/>
                    <a:p>
                      <a:pPr marL="0" indent="0">
                        <a:buNone/>
                      </a:pPr>
                      <a:r>
                        <a:rPr lang="en-US" sz="850" dirty="0">
                          <a:solidFill>
                            <a:srgbClr val="333F70"/>
                          </a:solidFill>
                          <a:latin typeface="Open Sans" pitchFamily="34" charset="0"/>
                          <a:ea typeface="Open Sans" pitchFamily="34" charset="-122"/>
                          <a:cs typeface="Open Sans" pitchFamily="34" charset="-120"/>
                        </a:rPr>
                        <a:t>Second operand (signed)</a:t>
                      </a:r>
                      <a:endParaRPr lang="en-US" sz="850" dirty="0">
                        <a:latin typeface="Open Sans" charset="0"/>
                        <a:ea typeface="Open Sans" charset="0"/>
                        <a:cs typeface="Open Sans" charset="0"/>
                      </a:endParaRPr>
                    </a:p>
                  </a:txBody>
                  <a:tcPr marL="113707" marR="113707"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extLst>
                  <a:ext uri="{0D108BD9-81ED-4DB2-BD59-A6C34878D82A}">
                    <a16:rowId xmlns:a16="http://schemas.microsoft.com/office/drawing/2014/main" val="10002"/>
                  </a:ext>
                </a:extLst>
              </a:tr>
              <a:tr h="266197">
                <a:tc>
                  <a:txBody>
                    <a:bodyPr/>
                    <a:lstStyle/>
                    <a:p>
                      <a:pPr marL="0" indent="0">
                        <a:buNone/>
                      </a:pPr>
                      <a:r>
                        <a:rPr lang="en-US" sz="850" dirty="0">
                          <a:solidFill>
                            <a:srgbClr val="333F70"/>
                          </a:solidFill>
                          <a:latin typeface="Open Sans" pitchFamily="34" charset="0"/>
                          <a:ea typeface="Open Sans" pitchFamily="34" charset="-122"/>
                          <a:cs typeface="Open Sans" pitchFamily="34" charset="-120"/>
                        </a:rPr>
                        <a:t>Mode</a:t>
                      </a:r>
                      <a:endParaRPr lang="en-US" sz="850" dirty="0">
                        <a:latin typeface="Open Sans" charset="0"/>
                        <a:ea typeface="Open Sans" charset="0"/>
                        <a:cs typeface="Open Sans" charset="0"/>
                      </a:endParaRPr>
                    </a:p>
                  </a:txBody>
                  <a:tcPr marL="113707" marR="113707"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tc>
                  <a:txBody>
                    <a:bodyPr/>
                    <a:lstStyle/>
                    <a:p>
                      <a:pPr marL="0" indent="0">
                        <a:buNone/>
                      </a:pPr>
                      <a:r>
                        <a:rPr lang="en-US" sz="850" dirty="0">
                          <a:solidFill>
                            <a:srgbClr val="333F70"/>
                          </a:solidFill>
                          <a:latin typeface="Open Sans" pitchFamily="34" charset="0"/>
                          <a:ea typeface="Open Sans" pitchFamily="34" charset="-122"/>
                          <a:cs typeface="Open Sans" pitchFamily="34" charset="-120"/>
                        </a:rPr>
                        <a:t>1-bit</a:t>
                      </a:r>
                      <a:endParaRPr lang="en-US" sz="850" dirty="0">
                        <a:latin typeface="Open Sans" charset="0"/>
                        <a:ea typeface="Open Sans" charset="0"/>
                        <a:cs typeface="Open Sans" charset="0"/>
                      </a:endParaRPr>
                    </a:p>
                  </a:txBody>
                  <a:tcPr marL="113707" marR="113707"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tc>
                  <a:txBody>
                    <a:bodyPr/>
                    <a:lstStyle/>
                    <a:p>
                      <a:pPr marL="0" indent="0">
                        <a:buNone/>
                      </a:pPr>
                      <a:r>
                        <a:rPr lang="en-US" sz="850" dirty="0">
                          <a:solidFill>
                            <a:srgbClr val="333F70"/>
                          </a:solidFill>
                          <a:latin typeface="Open Sans" pitchFamily="34" charset="0"/>
                          <a:ea typeface="Open Sans" pitchFamily="34" charset="-122"/>
                          <a:cs typeface="Open Sans" pitchFamily="34" charset="-120"/>
                        </a:rPr>
                        <a:t>0 = Add, 1 = Subtract</a:t>
                      </a:r>
                      <a:endParaRPr lang="en-US" sz="850" dirty="0">
                        <a:latin typeface="Open Sans" charset="0"/>
                        <a:ea typeface="Open Sans" charset="0"/>
                        <a:cs typeface="Open Sans" charset="0"/>
                      </a:endParaRPr>
                    </a:p>
                  </a:txBody>
                  <a:tcPr marL="113707" marR="113707"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extLst>
                  <a:ext uri="{0D108BD9-81ED-4DB2-BD59-A6C34878D82A}">
                    <a16:rowId xmlns:a16="http://schemas.microsoft.com/office/drawing/2014/main" val="10003"/>
                  </a:ext>
                </a:extLst>
              </a:tr>
              <a:tr h="419685">
                <a:tc>
                  <a:txBody>
                    <a:bodyPr/>
                    <a:lstStyle/>
                    <a:p>
                      <a:pPr marL="0" indent="0">
                        <a:buNone/>
                      </a:pPr>
                      <a:r>
                        <a:rPr lang="en-US" sz="850" dirty="0">
                          <a:solidFill>
                            <a:srgbClr val="333F70"/>
                          </a:solidFill>
                          <a:latin typeface="Open Sans" pitchFamily="34" charset="0"/>
                          <a:ea typeface="Open Sans" pitchFamily="34" charset="-122"/>
                          <a:cs typeface="Open Sans" pitchFamily="34" charset="-120"/>
                        </a:rPr>
                        <a:t>B'[3:0]</a:t>
                      </a:r>
                      <a:endParaRPr lang="en-US" sz="850" dirty="0">
                        <a:latin typeface="Open Sans" charset="0"/>
                        <a:ea typeface="Open Sans" charset="0"/>
                        <a:cs typeface="Open Sans" charset="0"/>
                      </a:endParaRPr>
                    </a:p>
                  </a:txBody>
                  <a:tcPr marL="113707" marR="113707"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tc>
                  <a:txBody>
                    <a:bodyPr/>
                    <a:lstStyle/>
                    <a:p>
                      <a:pPr marL="0" indent="0">
                        <a:buNone/>
                      </a:pPr>
                      <a:r>
                        <a:rPr lang="en-US" sz="850" dirty="0">
                          <a:solidFill>
                            <a:srgbClr val="333F70"/>
                          </a:solidFill>
                          <a:latin typeface="Open Sans" pitchFamily="34" charset="0"/>
                          <a:ea typeface="Open Sans" pitchFamily="34" charset="-122"/>
                          <a:cs typeface="Open Sans" pitchFamily="34" charset="-120"/>
                        </a:rPr>
                        <a:t>4-bit</a:t>
                      </a:r>
                      <a:endParaRPr lang="en-US" sz="850" dirty="0">
                        <a:latin typeface="Open Sans" charset="0"/>
                        <a:ea typeface="Open Sans" charset="0"/>
                        <a:cs typeface="Open Sans" charset="0"/>
                      </a:endParaRPr>
                    </a:p>
                  </a:txBody>
                  <a:tcPr marL="113707" marR="113707"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tc>
                  <a:txBody>
                    <a:bodyPr/>
                    <a:lstStyle/>
                    <a:p>
                      <a:pPr marL="0" indent="0">
                        <a:buNone/>
                      </a:pPr>
                      <a:r>
                        <a:rPr lang="en-US" sz="850" dirty="0">
                          <a:solidFill>
                            <a:srgbClr val="333F70"/>
                          </a:solidFill>
                          <a:latin typeface="Open Sans" pitchFamily="34" charset="0"/>
                          <a:ea typeface="Open Sans" pitchFamily="34" charset="-122"/>
                          <a:cs typeface="Open Sans" pitchFamily="34" charset="-120"/>
                        </a:rPr>
                        <a:t>B XOR Mode (conditional inversion)</a:t>
                      </a:r>
                      <a:endParaRPr lang="en-US" sz="850" dirty="0">
                        <a:latin typeface="Open Sans" charset="0"/>
                        <a:ea typeface="Open Sans" charset="0"/>
                        <a:cs typeface="Open Sans" charset="0"/>
                      </a:endParaRPr>
                    </a:p>
                  </a:txBody>
                  <a:tcPr marL="113707" marR="113707"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extLst>
                  <a:ext uri="{0D108BD9-81ED-4DB2-BD59-A6C34878D82A}">
                    <a16:rowId xmlns:a16="http://schemas.microsoft.com/office/drawing/2014/main" val="10004"/>
                  </a:ext>
                </a:extLst>
              </a:tr>
              <a:tr h="419685">
                <a:tc>
                  <a:txBody>
                    <a:bodyPr/>
                    <a:lstStyle/>
                    <a:p>
                      <a:pPr marL="0" indent="0">
                        <a:buNone/>
                      </a:pPr>
                      <a:r>
                        <a:rPr lang="en-US" sz="850" dirty="0">
                          <a:solidFill>
                            <a:srgbClr val="333F70"/>
                          </a:solidFill>
                          <a:latin typeface="Open Sans" pitchFamily="34" charset="0"/>
                          <a:ea typeface="Open Sans" pitchFamily="34" charset="-122"/>
                          <a:cs typeface="Open Sans" pitchFamily="34" charset="-120"/>
                        </a:rPr>
                        <a:t>Cin,0</a:t>
                      </a:r>
                      <a:endParaRPr lang="en-US" sz="850" dirty="0">
                        <a:latin typeface="Open Sans" charset="0"/>
                        <a:ea typeface="Open Sans" charset="0"/>
                        <a:cs typeface="Open Sans" charset="0"/>
                      </a:endParaRPr>
                    </a:p>
                  </a:txBody>
                  <a:tcPr marL="113707" marR="113707"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tc>
                  <a:txBody>
                    <a:bodyPr/>
                    <a:lstStyle/>
                    <a:p>
                      <a:pPr marL="0" indent="0">
                        <a:buNone/>
                      </a:pPr>
                      <a:r>
                        <a:rPr lang="en-US" sz="850" dirty="0">
                          <a:solidFill>
                            <a:srgbClr val="333F70"/>
                          </a:solidFill>
                          <a:latin typeface="Open Sans" pitchFamily="34" charset="0"/>
                          <a:ea typeface="Open Sans" pitchFamily="34" charset="-122"/>
                          <a:cs typeface="Open Sans" pitchFamily="34" charset="-120"/>
                        </a:rPr>
                        <a:t>1-bit</a:t>
                      </a:r>
                      <a:endParaRPr lang="en-US" sz="850" dirty="0">
                        <a:latin typeface="Open Sans" charset="0"/>
                        <a:ea typeface="Open Sans" charset="0"/>
                        <a:cs typeface="Open Sans" charset="0"/>
                      </a:endParaRPr>
                    </a:p>
                  </a:txBody>
                  <a:tcPr marL="113707" marR="113707"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tc>
                  <a:txBody>
                    <a:bodyPr/>
                    <a:lstStyle/>
                    <a:p>
                      <a:pPr marL="0" indent="0">
                        <a:buNone/>
                      </a:pPr>
                      <a:r>
                        <a:rPr lang="en-US" sz="850" dirty="0">
                          <a:solidFill>
                            <a:srgbClr val="333F70"/>
                          </a:solidFill>
                          <a:latin typeface="Open Sans" pitchFamily="34" charset="0"/>
                          <a:ea typeface="Open Sans" pitchFamily="34" charset="-122"/>
                          <a:cs typeface="Open Sans" pitchFamily="34" charset="-120"/>
                        </a:rPr>
                        <a:t>Mode (carry seed for two's complement)</a:t>
                      </a:r>
                      <a:endParaRPr lang="en-US" sz="850" dirty="0">
                        <a:latin typeface="Open Sans" charset="0"/>
                        <a:ea typeface="Open Sans" charset="0"/>
                        <a:cs typeface="Open Sans" charset="0"/>
                      </a:endParaRPr>
                    </a:p>
                  </a:txBody>
                  <a:tcPr marL="113707" marR="113707"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extLst>
                  <a:ext uri="{0D108BD9-81ED-4DB2-BD59-A6C34878D82A}">
                    <a16:rowId xmlns:a16="http://schemas.microsoft.com/office/drawing/2014/main" val="10005"/>
                  </a:ext>
                </a:extLst>
              </a:tr>
              <a:tr h="266197">
                <a:tc>
                  <a:txBody>
                    <a:bodyPr/>
                    <a:lstStyle/>
                    <a:p>
                      <a:pPr marL="0" indent="0">
                        <a:buNone/>
                      </a:pPr>
                      <a:r>
                        <a:rPr lang="en-US" sz="850" dirty="0">
                          <a:solidFill>
                            <a:srgbClr val="333F70"/>
                          </a:solidFill>
                          <a:latin typeface="Open Sans" pitchFamily="34" charset="0"/>
                          <a:ea typeface="Open Sans" pitchFamily="34" charset="-122"/>
                          <a:cs typeface="Open Sans" pitchFamily="34" charset="-120"/>
                        </a:rPr>
                        <a:t>S[3:0]</a:t>
                      </a:r>
                      <a:endParaRPr lang="en-US" sz="850" dirty="0">
                        <a:latin typeface="Open Sans" charset="0"/>
                        <a:ea typeface="Open Sans" charset="0"/>
                        <a:cs typeface="Open Sans" charset="0"/>
                      </a:endParaRPr>
                    </a:p>
                  </a:txBody>
                  <a:tcPr marL="113707" marR="113707"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tc>
                  <a:txBody>
                    <a:bodyPr/>
                    <a:lstStyle/>
                    <a:p>
                      <a:pPr marL="0" indent="0">
                        <a:buNone/>
                      </a:pPr>
                      <a:r>
                        <a:rPr lang="en-US" sz="850" dirty="0">
                          <a:solidFill>
                            <a:srgbClr val="333F70"/>
                          </a:solidFill>
                          <a:latin typeface="Open Sans" pitchFamily="34" charset="0"/>
                          <a:ea typeface="Open Sans" pitchFamily="34" charset="-122"/>
                          <a:cs typeface="Open Sans" pitchFamily="34" charset="-120"/>
                        </a:rPr>
                        <a:t>4-bit</a:t>
                      </a:r>
                      <a:endParaRPr lang="en-US" sz="850" dirty="0">
                        <a:latin typeface="Open Sans" charset="0"/>
                        <a:ea typeface="Open Sans" charset="0"/>
                        <a:cs typeface="Open Sans" charset="0"/>
                      </a:endParaRPr>
                    </a:p>
                  </a:txBody>
                  <a:tcPr marL="113707" marR="113707"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tc>
                  <a:txBody>
                    <a:bodyPr/>
                    <a:lstStyle/>
                    <a:p>
                      <a:pPr marL="0" indent="0">
                        <a:buNone/>
                      </a:pPr>
                      <a:r>
                        <a:rPr lang="en-US" sz="850" dirty="0">
                          <a:solidFill>
                            <a:srgbClr val="333F70"/>
                          </a:solidFill>
                          <a:latin typeface="Open Sans" pitchFamily="34" charset="0"/>
                          <a:ea typeface="Open Sans" pitchFamily="34" charset="-122"/>
                          <a:cs typeface="Open Sans" pitchFamily="34" charset="-120"/>
                        </a:rPr>
                        <a:t>Arithmetic result output</a:t>
                      </a:r>
                      <a:endParaRPr lang="en-US" sz="850" dirty="0">
                        <a:latin typeface="Open Sans" charset="0"/>
                        <a:ea typeface="Open Sans" charset="0"/>
                        <a:cs typeface="Open Sans" charset="0"/>
                      </a:endParaRPr>
                    </a:p>
                  </a:txBody>
                  <a:tcPr marL="113707" marR="113707"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extLst>
                  <a:ext uri="{0D108BD9-81ED-4DB2-BD59-A6C34878D82A}">
                    <a16:rowId xmlns:a16="http://schemas.microsoft.com/office/drawing/2014/main" val="10006"/>
                  </a:ext>
                </a:extLst>
              </a:tr>
              <a:tr h="263022">
                <a:tc>
                  <a:txBody>
                    <a:bodyPr/>
                    <a:lstStyle/>
                    <a:p>
                      <a:pPr marL="0" indent="0">
                        <a:buNone/>
                      </a:pPr>
                      <a:r>
                        <a:rPr lang="en-US" sz="850" dirty="0">
                          <a:solidFill>
                            <a:srgbClr val="333F70"/>
                          </a:solidFill>
                          <a:latin typeface="Open Sans" pitchFamily="34" charset="0"/>
                          <a:ea typeface="Open Sans" pitchFamily="34" charset="-122"/>
                          <a:cs typeface="Open Sans" pitchFamily="34" charset="-120"/>
                        </a:rPr>
                        <a:t>OVF</a:t>
                      </a:r>
                      <a:endParaRPr lang="en-US" sz="850" dirty="0">
                        <a:latin typeface="Open Sans" charset="0"/>
                        <a:ea typeface="Open Sans" charset="0"/>
                        <a:cs typeface="Open Sans" charset="0"/>
                      </a:endParaRPr>
                    </a:p>
                  </a:txBody>
                  <a:tcPr marL="113707" marR="113707"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tc>
                  <a:txBody>
                    <a:bodyPr/>
                    <a:lstStyle/>
                    <a:p>
                      <a:pPr marL="0" indent="0">
                        <a:buNone/>
                      </a:pPr>
                      <a:r>
                        <a:rPr lang="en-US" sz="850" dirty="0">
                          <a:solidFill>
                            <a:srgbClr val="333F70"/>
                          </a:solidFill>
                          <a:latin typeface="Open Sans" pitchFamily="34" charset="0"/>
                          <a:ea typeface="Open Sans" pitchFamily="34" charset="-122"/>
                          <a:cs typeface="Open Sans" pitchFamily="34" charset="-120"/>
                        </a:rPr>
                        <a:t>1-bit</a:t>
                      </a:r>
                      <a:endParaRPr lang="en-US" sz="850" dirty="0">
                        <a:latin typeface="Open Sans" charset="0"/>
                        <a:ea typeface="Open Sans" charset="0"/>
                        <a:cs typeface="Open Sans" charset="0"/>
                      </a:endParaRPr>
                    </a:p>
                  </a:txBody>
                  <a:tcPr marL="113707" marR="113707"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tc>
                  <a:txBody>
                    <a:bodyPr/>
                    <a:lstStyle/>
                    <a:p>
                      <a:pPr marL="0" indent="0">
                        <a:buNone/>
                      </a:pPr>
                      <a:r>
                        <a:rPr lang="en-US" sz="850" dirty="0">
                          <a:solidFill>
                            <a:srgbClr val="333F70"/>
                          </a:solidFill>
                          <a:latin typeface="Open Sans" pitchFamily="34" charset="0"/>
                          <a:ea typeface="Open Sans" pitchFamily="34" charset="-122"/>
                          <a:cs typeface="Open Sans" pitchFamily="34" charset="-120"/>
                        </a:rPr>
                        <a:t>Signed overflow flag</a:t>
                      </a:r>
                      <a:endParaRPr lang="en-US" sz="850" dirty="0">
                        <a:latin typeface="Open Sans" charset="0"/>
                        <a:ea typeface="Open Sans" charset="0"/>
                        <a:cs typeface="Open Sans" charset="0"/>
                      </a:endParaRPr>
                    </a:p>
                  </a:txBody>
                  <a:tcPr marL="113707" marR="113707"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28" name="Shape 25"/>
          <p:cNvSpPr/>
          <p:nvPr/>
        </p:nvSpPr>
        <p:spPr>
          <a:xfrm>
            <a:off x="5683505" y="4069655"/>
            <a:ext cx="5852966" cy="504428"/>
          </a:xfrm>
          <a:prstGeom prst="roundRect">
            <a:avLst>
              <a:gd name="adj" fmla="val 9467"/>
            </a:avLst>
          </a:prstGeom>
          <a:solidFill>
            <a:srgbClr val="D6F5EE"/>
          </a:solidFill>
          <a:ln/>
        </p:spPr>
      </p:sp>
      <p:pic>
        <p:nvPicPr>
          <p:cNvPr id="29" name="Image 0" descr="preencoded.png"/>
          <p:cNvPicPr>
            <a:picLocks noChangeAspect="1"/>
          </p:cNvPicPr>
          <p:nvPr/>
        </p:nvPicPr>
        <p:blipFill>
          <a:blip r:embed="rId3"/>
          <a:stretch>
            <a:fillRect/>
          </a:stretch>
        </p:blipFill>
        <p:spPr>
          <a:xfrm>
            <a:off x="5797207" y="4197251"/>
            <a:ext cx="142078" cy="113705"/>
          </a:xfrm>
          <a:prstGeom prst="rect">
            <a:avLst/>
          </a:prstGeom>
        </p:spPr>
      </p:pic>
      <p:sp>
        <p:nvSpPr>
          <p:cNvPr id="30" name="Text 26"/>
          <p:cNvSpPr/>
          <p:nvPr/>
        </p:nvSpPr>
        <p:spPr>
          <a:xfrm>
            <a:off x="6052986" y="4168378"/>
            <a:ext cx="5369783" cy="306983"/>
          </a:xfrm>
          <a:prstGeom prst="rect">
            <a:avLst/>
          </a:prstGeom>
          <a:noFill/>
          <a:ln/>
        </p:spPr>
        <p:txBody>
          <a:bodyPr wrap="square" lIns="0" tIns="0" rIns="0" bIns="0" rtlCol="0" anchor="t">
            <a:normAutofit/>
          </a:bodyPr>
          <a:lstStyle/>
          <a:p>
            <a:pPr marL="0" indent="0" algn="l">
              <a:lnSpc>
                <a:spcPct val="112000"/>
              </a:lnSpc>
              <a:buNone/>
            </a:pPr>
            <a:r>
              <a:rPr lang="en-US" sz="850" dirty="0">
                <a:solidFill>
                  <a:srgbClr val="000000"/>
                </a:solidFill>
                <a:latin typeface="Open Sans" pitchFamily="34" charset="0"/>
                <a:ea typeface="Open Sans" pitchFamily="34" charset="-122"/>
                <a:cs typeface="Open Sans" pitchFamily="34" charset="-120"/>
              </a:rPr>
              <a:t>The XOR trick — feeding Mode into both the B input gates and carry-in — is what allows a single cascaded adder to serve as both an adder and a two's complement subtractor.</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661475" y="508893"/>
            <a:ext cx="504316" cy="149027"/>
          </a:xfrm>
          <a:prstGeom prst="roundRect">
            <a:avLst>
              <a:gd name="adj" fmla="val 22141"/>
            </a:avLst>
          </a:prstGeom>
          <a:solidFill>
            <a:srgbClr val="D6F5EE"/>
          </a:solidFill>
          <a:ln/>
        </p:spPr>
      </p:sp>
      <p:sp>
        <p:nvSpPr>
          <p:cNvPr id="3" name="Text 1"/>
          <p:cNvSpPr/>
          <p:nvPr/>
        </p:nvSpPr>
        <p:spPr>
          <a:xfrm>
            <a:off x="720310" y="538262"/>
            <a:ext cx="996231" cy="90289"/>
          </a:xfrm>
          <a:prstGeom prst="rect">
            <a:avLst/>
          </a:prstGeom>
          <a:noFill/>
          <a:ln/>
        </p:spPr>
        <p:txBody>
          <a:bodyPr wrap="none" lIns="0" tIns="0" rIns="0" bIns="0" rtlCol="0" anchor="t"/>
          <a:lstStyle/>
          <a:p>
            <a:pPr marL="0" indent="0" algn="l">
              <a:lnSpc>
                <a:spcPct val="96000"/>
              </a:lnSpc>
              <a:buNone/>
            </a:pPr>
            <a:r>
              <a:rPr lang="en-US" sz="600" dirty="0">
                <a:solidFill>
                  <a:srgbClr val="333F70"/>
                </a:solidFill>
                <a:latin typeface="Open Sans" pitchFamily="34" charset="0"/>
                <a:ea typeface="Open Sans" pitchFamily="34" charset="-122"/>
                <a:cs typeface="Open Sans" pitchFamily="34" charset="-120"/>
              </a:rPr>
              <a:t>SECTION 7</a:t>
            </a:r>
            <a:endParaRPr lang="en-US" sz="600" dirty="0"/>
          </a:p>
        </p:txBody>
      </p:sp>
      <p:sp>
        <p:nvSpPr>
          <p:cNvPr id="4" name="Text 2"/>
          <p:cNvSpPr/>
          <p:nvPr/>
        </p:nvSpPr>
        <p:spPr>
          <a:xfrm>
            <a:off x="661475" y="681236"/>
            <a:ext cx="10868745" cy="306784"/>
          </a:xfrm>
          <a:prstGeom prst="rect">
            <a:avLst/>
          </a:prstGeom>
          <a:noFill/>
          <a:ln/>
        </p:spPr>
        <p:txBody>
          <a:bodyPr wrap="none" lIns="0" tIns="0" rIns="0" bIns="0" rtlCol="0" anchor="t"/>
          <a:lstStyle/>
          <a:p>
            <a:pPr marL="0" indent="0" algn="l">
              <a:lnSpc>
                <a:spcPct val="104000"/>
              </a:lnSpc>
              <a:buNone/>
            </a:pPr>
            <a:r>
              <a:rPr lang="en-US" sz="1900" b="1" dirty="0">
                <a:solidFill>
                  <a:srgbClr val="333F70"/>
                </a:solidFill>
                <a:latin typeface="Unbounded Bold" pitchFamily="34" charset="0"/>
                <a:ea typeface="Unbounded Bold" pitchFamily="34" charset="-122"/>
                <a:cs typeface="Unbounded Bold" pitchFamily="34" charset="-120"/>
              </a:rPr>
              <a:t>Methodology &amp; Implementation</a:t>
            </a:r>
            <a:endParaRPr lang="en-US" sz="1900" dirty="0"/>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1141016"/>
            <a:ext cx="2628140" cy="1063625"/>
          </a:xfrm>
          <a:prstGeom prst="rect">
            <a:avLst/>
          </a:prstGeom>
        </p:spPr>
      </p:pic>
      <p:sp>
        <p:nvSpPr>
          <p:cNvPr id="6" name="Text 3"/>
          <p:cNvSpPr/>
          <p:nvPr/>
        </p:nvSpPr>
        <p:spPr>
          <a:xfrm>
            <a:off x="1901877" y="1205805"/>
            <a:ext cx="147237" cy="184051"/>
          </a:xfrm>
          <a:prstGeom prst="rect">
            <a:avLst/>
          </a:prstGeom>
          <a:noFill/>
          <a:ln/>
        </p:spPr>
        <p:txBody>
          <a:bodyPr wrap="none" lIns="0" tIns="0" rIns="0" bIns="0" rtlCol="0" anchor="ctr"/>
          <a:lstStyle/>
          <a:p>
            <a:pPr marL="0" indent="0" algn="ctr">
              <a:lnSpc>
                <a:spcPct val="100000"/>
              </a:lnSpc>
              <a:buNone/>
            </a:pPr>
            <a:r>
              <a:rPr lang="en-US" sz="1150" b="1" dirty="0">
                <a:solidFill>
                  <a:srgbClr val="333F70"/>
                </a:solidFill>
                <a:latin typeface="Unbounded Bold" pitchFamily="34" charset="0"/>
                <a:ea typeface="Unbounded Bold" pitchFamily="34" charset="-122"/>
                <a:cs typeface="Unbounded Bold" pitchFamily="34" charset="-120"/>
              </a:rPr>
              <a:t>1</a:t>
            </a:r>
            <a:endParaRPr lang="en-US" sz="1150" dirty="0"/>
          </a:p>
        </p:txBody>
      </p:sp>
      <p:sp>
        <p:nvSpPr>
          <p:cNvPr id="7" name="Text 4"/>
          <p:cNvSpPr/>
          <p:nvPr/>
        </p:nvSpPr>
        <p:spPr>
          <a:xfrm>
            <a:off x="772299" y="1506538"/>
            <a:ext cx="2406491" cy="153392"/>
          </a:xfrm>
          <a:prstGeom prst="rect">
            <a:avLst/>
          </a:prstGeom>
          <a:noFill/>
          <a:ln/>
        </p:spPr>
        <p:txBody>
          <a:bodyPr wrap="none" lIns="0" tIns="0" rIns="0" bIns="0" rtlCol="0" anchor="t"/>
          <a:lstStyle/>
          <a:p>
            <a:pPr marL="0" indent="0" algn="l">
              <a:lnSpc>
                <a:spcPct val="104000"/>
              </a:lnSpc>
              <a:buNone/>
            </a:pPr>
            <a:r>
              <a:rPr lang="en-US" sz="950" b="1" dirty="0">
                <a:solidFill>
                  <a:srgbClr val="333F70"/>
                </a:solidFill>
                <a:latin typeface="Unbounded Bold" pitchFamily="34" charset="0"/>
                <a:ea typeface="Unbounded Bold" pitchFamily="34" charset="-122"/>
                <a:cs typeface="Unbounded Bold" pitchFamily="34" charset="-120"/>
              </a:rPr>
              <a:t>Number Representation</a:t>
            </a:r>
            <a:endParaRPr lang="en-US" sz="950" dirty="0"/>
          </a:p>
        </p:txBody>
      </p:sp>
      <p:sp>
        <p:nvSpPr>
          <p:cNvPr id="8" name="Text 5"/>
          <p:cNvSpPr/>
          <p:nvPr/>
        </p:nvSpPr>
        <p:spPr>
          <a:xfrm>
            <a:off x="772299" y="1718171"/>
            <a:ext cx="2406491" cy="375642"/>
          </a:xfrm>
          <a:prstGeom prst="rect">
            <a:avLst/>
          </a:prstGeom>
          <a:noFill/>
          <a:ln/>
        </p:spPr>
        <p:txBody>
          <a:bodyPr wrap="square" lIns="0" tIns="0" rIns="0" bIns="0" rtlCol="0" anchor="t">
            <a:normAutofit/>
          </a:bodyPr>
          <a:lstStyle/>
          <a:p>
            <a:pPr marL="0" indent="0" algn="l">
              <a:lnSpc>
                <a:spcPct val="106000"/>
              </a:lnSpc>
              <a:buNone/>
            </a:pPr>
            <a:r>
              <a:rPr lang="en-US" sz="750" dirty="0">
                <a:solidFill>
                  <a:srgbClr val="333F70"/>
                </a:solidFill>
                <a:latin typeface="Open Sans" pitchFamily="34" charset="0"/>
                <a:ea typeface="Open Sans" pitchFamily="34" charset="-122"/>
                <a:cs typeface="Open Sans" pitchFamily="34" charset="-120"/>
              </a:rPr>
              <a:t>Define binary, hexadecimal, and two's complement encoding for 4-bit signed integers. Signed range: −8 (1000) to +7 (0111).</a:t>
            </a:r>
            <a:endParaRPr lang="en-US" sz="750" dirty="0"/>
          </a:p>
        </p:txBody>
      </p:sp>
      <p:pic>
        <p:nvPicPr>
          <p:cNvPr id="9"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7855" y="1141016"/>
            <a:ext cx="2628239" cy="1063625"/>
          </a:xfrm>
          <a:prstGeom prst="rect">
            <a:avLst/>
          </a:prstGeom>
        </p:spPr>
      </p:pic>
      <p:sp>
        <p:nvSpPr>
          <p:cNvPr id="10" name="Text 6"/>
          <p:cNvSpPr/>
          <p:nvPr/>
        </p:nvSpPr>
        <p:spPr>
          <a:xfrm>
            <a:off x="4588356" y="1205805"/>
            <a:ext cx="147237" cy="184051"/>
          </a:xfrm>
          <a:prstGeom prst="rect">
            <a:avLst/>
          </a:prstGeom>
          <a:noFill/>
          <a:ln/>
        </p:spPr>
        <p:txBody>
          <a:bodyPr wrap="none" lIns="0" tIns="0" rIns="0" bIns="0" rtlCol="0" anchor="ctr"/>
          <a:lstStyle/>
          <a:p>
            <a:pPr marL="0" indent="0" algn="ctr">
              <a:lnSpc>
                <a:spcPct val="100000"/>
              </a:lnSpc>
              <a:buNone/>
            </a:pPr>
            <a:r>
              <a:rPr lang="en-US" sz="1150" b="1" dirty="0">
                <a:solidFill>
                  <a:srgbClr val="333F70"/>
                </a:solidFill>
                <a:latin typeface="Unbounded Bold" pitchFamily="34" charset="0"/>
                <a:ea typeface="Unbounded Bold" pitchFamily="34" charset="-122"/>
                <a:cs typeface="Unbounded Bold" pitchFamily="34" charset="-120"/>
              </a:rPr>
              <a:t>2</a:t>
            </a:r>
            <a:endParaRPr lang="en-US" sz="1150" dirty="0"/>
          </a:p>
        </p:txBody>
      </p:sp>
      <p:sp>
        <p:nvSpPr>
          <p:cNvPr id="11" name="Text 7"/>
          <p:cNvSpPr/>
          <p:nvPr/>
        </p:nvSpPr>
        <p:spPr>
          <a:xfrm>
            <a:off x="3458679" y="1506538"/>
            <a:ext cx="2406590" cy="153392"/>
          </a:xfrm>
          <a:prstGeom prst="rect">
            <a:avLst/>
          </a:prstGeom>
          <a:noFill/>
          <a:ln/>
        </p:spPr>
        <p:txBody>
          <a:bodyPr wrap="none" lIns="0" tIns="0" rIns="0" bIns="0" rtlCol="0" anchor="t"/>
          <a:lstStyle/>
          <a:p>
            <a:pPr marL="0" indent="0" algn="l">
              <a:lnSpc>
                <a:spcPct val="104000"/>
              </a:lnSpc>
              <a:buNone/>
            </a:pPr>
            <a:r>
              <a:rPr lang="en-US" sz="950" b="1" dirty="0">
                <a:solidFill>
                  <a:srgbClr val="333F70"/>
                </a:solidFill>
                <a:latin typeface="Unbounded Bold" pitchFamily="34" charset="0"/>
                <a:ea typeface="Unbounded Bold" pitchFamily="34" charset="-122"/>
                <a:cs typeface="Unbounded Bold" pitchFamily="34" charset="-120"/>
              </a:rPr>
              <a:t>Truth Tables</a:t>
            </a:r>
            <a:endParaRPr lang="en-US" sz="950" dirty="0"/>
          </a:p>
        </p:txBody>
      </p:sp>
      <p:sp>
        <p:nvSpPr>
          <p:cNvPr id="12" name="Text 8"/>
          <p:cNvSpPr/>
          <p:nvPr/>
        </p:nvSpPr>
        <p:spPr>
          <a:xfrm>
            <a:off x="3458679" y="1718171"/>
            <a:ext cx="2406590" cy="375642"/>
          </a:xfrm>
          <a:prstGeom prst="rect">
            <a:avLst/>
          </a:prstGeom>
          <a:noFill/>
          <a:ln/>
        </p:spPr>
        <p:txBody>
          <a:bodyPr wrap="square" lIns="0" tIns="0" rIns="0" bIns="0" rtlCol="0" anchor="t">
            <a:normAutofit/>
          </a:bodyPr>
          <a:lstStyle/>
          <a:p>
            <a:pPr marL="0" indent="0" algn="l">
              <a:lnSpc>
                <a:spcPct val="106000"/>
              </a:lnSpc>
              <a:buNone/>
            </a:pPr>
            <a:r>
              <a:rPr lang="en-US" sz="750" dirty="0">
                <a:solidFill>
                  <a:srgbClr val="333F70"/>
                </a:solidFill>
                <a:latin typeface="Open Sans" pitchFamily="34" charset="0"/>
                <a:ea typeface="Open Sans" pitchFamily="34" charset="-122"/>
                <a:cs typeface="Open Sans" pitchFamily="34" charset="-120"/>
              </a:rPr>
              <a:t>Derive truth tables for the half adder (2 inputs → Sum, Carry) and full adder (3 inputs: A, B, Cin → Sum, Cout). Full adder: 2³ = </a:t>
            </a:r>
            <a:r>
              <a:rPr lang="en-US" sz="750" b="1" dirty="0">
                <a:solidFill>
                  <a:srgbClr val="333F70"/>
                </a:solidFill>
                <a:latin typeface="Open Sans Bold" pitchFamily="34" charset="0"/>
                <a:ea typeface="Open Sans Bold" pitchFamily="34" charset="-122"/>
                <a:cs typeface="Open Sans Bold" pitchFamily="34" charset="-120"/>
              </a:rPr>
              <a:t>8 rows</a:t>
            </a:r>
            <a:r>
              <a:rPr lang="en-US" sz="750" dirty="0">
                <a:solidFill>
                  <a:srgbClr val="333F70"/>
                </a:solidFill>
                <a:latin typeface="Open Sans" pitchFamily="34" charset="0"/>
                <a:ea typeface="Open Sans" pitchFamily="34" charset="-122"/>
                <a:cs typeface="Open Sans" pitchFamily="34" charset="-120"/>
              </a:rPr>
              <a:t>.</a:t>
            </a:r>
            <a:endParaRPr lang="en-US" sz="750" dirty="0"/>
          </a:p>
        </p:txBody>
      </p:sp>
      <p:pic>
        <p:nvPicPr>
          <p:cNvPr id="13"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1475" y="2262882"/>
            <a:ext cx="2628140" cy="1188839"/>
          </a:xfrm>
          <a:prstGeom prst="rect">
            <a:avLst/>
          </a:prstGeom>
        </p:spPr>
      </p:pic>
      <p:sp>
        <p:nvSpPr>
          <p:cNvPr id="14" name="Text 9"/>
          <p:cNvSpPr/>
          <p:nvPr/>
        </p:nvSpPr>
        <p:spPr>
          <a:xfrm>
            <a:off x="1901877" y="2327672"/>
            <a:ext cx="147237" cy="184051"/>
          </a:xfrm>
          <a:prstGeom prst="rect">
            <a:avLst/>
          </a:prstGeom>
          <a:noFill/>
          <a:ln/>
        </p:spPr>
        <p:txBody>
          <a:bodyPr wrap="none" lIns="0" tIns="0" rIns="0" bIns="0" rtlCol="0" anchor="ctr"/>
          <a:lstStyle/>
          <a:p>
            <a:pPr marL="0" indent="0" algn="ctr">
              <a:lnSpc>
                <a:spcPct val="100000"/>
              </a:lnSpc>
              <a:buNone/>
            </a:pPr>
            <a:r>
              <a:rPr lang="en-US" sz="1150" b="1" dirty="0">
                <a:solidFill>
                  <a:srgbClr val="333F70"/>
                </a:solidFill>
                <a:latin typeface="Unbounded Bold" pitchFamily="34" charset="0"/>
                <a:ea typeface="Unbounded Bold" pitchFamily="34" charset="-122"/>
                <a:cs typeface="Unbounded Bold" pitchFamily="34" charset="-120"/>
              </a:rPr>
              <a:t>3</a:t>
            </a:r>
            <a:endParaRPr lang="en-US" sz="1150" dirty="0"/>
          </a:p>
        </p:txBody>
      </p:sp>
      <p:sp>
        <p:nvSpPr>
          <p:cNvPr id="15" name="Text 10"/>
          <p:cNvSpPr/>
          <p:nvPr/>
        </p:nvSpPr>
        <p:spPr>
          <a:xfrm>
            <a:off x="772299" y="2628404"/>
            <a:ext cx="2406491" cy="153392"/>
          </a:xfrm>
          <a:prstGeom prst="rect">
            <a:avLst/>
          </a:prstGeom>
          <a:noFill/>
          <a:ln/>
        </p:spPr>
        <p:txBody>
          <a:bodyPr wrap="none" lIns="0" tIns="0" rIns="0" bIns="0" rtlCol="0" anchor="t"/>
          <a:lstStyle/>
          <a:p>
            <a:pPr marL="0" indent="0" algn="l">
              <a:lnSpc>
                <a:spcPct val="104000"/>
              </a:lnSpc>
              <a:buNone/>
            </a:pPr>
            <a:r>
              <a:rPr lang="en-US" sz="950" b="1" dirty="0">
                <a:solidFill>
                  <a:srgbClr val="333F70"/>
                </a:solidFill>
                <a:latin typeface="Unbounded Bold" pitchFamily="34" charset="0"/>
                <a:ea typeface="Unbounded Bold" pitchFamily="34" charset="-122"/>
                <a:cs typeface="Unbounded Bold" pitchFamily="34" charset="-120"/>
              </a:rPr>
              <a:t>Boolean Expressions</a:t>
            </a:r>
            <a:endParaRPr lang="en-US" sz="950" dirty="0"/>
          </a:p>
        </p:txBody>
      </p:sp>
      <p:sp>
        <p:nvSpPr>
          <p:cNvPr id="16" name="Text 11"/>
          <p:cNvSpPr/>
          <p:nvPr/>
        </p:nvSpPr>
        <p:spPr>
          <a:xfrm>
            <a:off x="772299" y="2840038"/>
            <a:ext cx="2406491" cy="375642"/>
          </a:xfrm>
          <a:prstGeom prst="rect">
            <a:avLst/>
          </a:prstGeom>
          <a:noFill/>
          <a:ln/>
        </p:spPr>
        <p:txBody>
          <a:bodyPr wrap="square" lIns="0" tIns="0" rIns="0" bIns="0" rtlCol="0" anchor="t">
            <a:normAutofit/>
          </a:bodyPr>
          <a:lstStyle/>
          <a:p>
            <a:pPr marL="0" indent="0" algn="l">
              <a:lnSpc>
                <a:spcPct val="106000"/>
              </a:lnSpc>
              <a:buNone/>
            </a:pPr>
            <a:r>
              <a:rPr lang="en-US" sz="750" dirty="0">
                <a:solidFill>
                  <a:srgbClr val="333F70"/>
                </a:solidFill>
                <a:latin typeface="Open Sans" pitchFamily="34" charset="0"/>
                <a:ea typeface="Open Sans" pitchFamily="34" charset="-122"/>
                <a:cs typeface="Open Sans" pitchFamily="34" charset="-120"/>
              </a:rPr>
              <a:t>Convert truth tables to </a:t>
            </a:r>
            <a:r>
              <a:rPr lang="en-US" sz="750" b="1" dirty="0">
                <a:solidFill>
                  <a:srgbClr val="333F70"/>
                </a:solidFill>
                <a:latin typeface="Open Sans Bold" pitchFamily="34" charset="0"/>
                <a:ea typeface="Open Sans Bold" pitchFamily="34" charset="-122"/>
                <a:cs typeface="Open Sans Bold" pitchFamily="34" charset="-120"/>
              </a:rPr>
              <a:t>sum-of-products (SOP)</a:t>
            </a:r>
            <a:r>
              <a:rPr lang="en-US" sz="750" dirty="0">
                <a:solidFill>
                  <a:srgbClr val="333F70"/>
                </a:solidFill>
                <a:latin typeface="Open Sans" pitchFamily="34" charset="0"/>
                <a:ea typeface="Open Sans" pitchFamily="34" charset="-122"/>
                <a:cs typeface="Open Sans" pitchFamily="34" charset="-120"/>
              </a:rPr>
              <a:t> expressions. Full adder: Sum = A⊕B⊕Cin; Cout = AB + BCin + ACin.</a:t>
            </a:r>
            <a:endParaRPr lang="en-US" sz="750" dirty="0"/>
          </a:p>
        </p:txBody>
      </p:sp>
      <p:pic>
        <p:nvPicPr>
          <p:cNvPr id="17"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47855" y="2262882"/>
            <a:ext cx="2628239" cy="1188839"/>
          </a:xfrm>
          <a:prstGeom prst="rect">
            <a:avLst/>
          </a:prstGeom>
        </p:spPr>
      </p:pic>
      <p:sp>
        <p:nvSpPr>
          <p:cNvPr id="18" name="Text 12"/>
          <p:cNvSpPr/>
          <p:nvPr/>
        </p:nvSpPr>
        <p:spPr>
          <a:xfrm>
            <a:off x="4588356" y="2327672"/>
            <a:ext cx="147237" cy="184051"/>
          </a:xfrm>
          <a:prstGeom prst="rect">
            <a:avLst/>
          </a:prstGeom>
          <a:noFill/>
          <a:ln/>
        </p:spPr>
        <p:txBody>
          <a:bodyPr wrap="none" lIns="0" tIns="0" rIns="0" bIns="0" rtlCol="0" anchor="ctr"/>
          <a:lstStyle/>
          <a:p>
            <a:pPr marL="0" indent="0" algn="ctr">
              <a:lnSpc>
                <a:spcPct val="100000"/>
              </a:lnSpc>
              <a:buNone/>
            </a:pPr>
            <a:r>
              <a:rPr lang="en-US" sz="1150" b="1" dirty="0">
                <a:solidFill>
                  <a:srgbClr val="333F70"/>
                </a:solidFill>
                <a:latin typeface="Unbounded Bold" pitchFamily="34" charset="0"/>
                <a:ea typeface="Unbounded Bold" pitchFamily="34" charset="-122"/>
                <a:cs typeface="Unbounded Bold" pitchFamily="34" charset="-120"/>
              </a:rPr>
              <a:t>4</a:t>
            </a:r>
            <a:endParaRPr lang="en-US" sz="1150" dirty="0"/>
          </a:p>
        </p:txBody>
      </p:sp>
      <p:sp>
        <p:nvSpPr>
          <p:cNvPr id="19" name="Text 13"/>
          <p:cNvSpPr/>
          <p:nvPr/>
        </p:nvSpPr>
        <p:spPr>
          <a:xfrm>
            <a:off x="3458679" y="2628404"/>
            <a:ext cx="2406590" cy="153392"/>
          </a:xfrm>
          <a:prstGeom prst="rect">
            <a:avLst/>
          </a:prstGeom>
          <a:noFill/>
          <a:ln/>
        </p:spPr>
        <p:txBody>
          <a:bodyPr wrap="none" lIns="0" tIns="0" rIns="0" bIns="0" rtlCol="0" anchor="t"/>
          <a:lstStyle/>
          <a:p>
            <a:pPr marL="0" indent="0" algn="l">
              <a:lnSpc>
                <a:spcPct val="104000"/>
              </a:lnSpc>
              <a:buNone/>
            </a:pPr>
            <a:r>
              <a:rPr lang="en-US" sz="950" b="1" dirty="0">
                <a:solidFill>
                  <a:srgbClr val="333F70"/>
                </a:solidFill>
                <a:latin typeface="Unbounded Bold" pitchFamily="34" charset="0"/>
                <a:ea typeface="Unbounded Bold" pitchFamily="34" charset="-122"/>
                <a:cs typeface="Unbounded Bold" pitchFamily="34" charset="-120"/>
              </a:rPr>
              <a:t>Gate-Level Circuits</a:t>
            </a:r>
            <a:endParaRPr lang="en-US" sz="950" dirty="0"/>
          </a:p>
        </p:txBody>
      </p:sp>
      <p:sp>
        <p:nvSpPr>
          <p:cNvPr id="20" name="Text 14"/>
          <p:cNvSpPr/>
          <p:nvPr/>
        </p:nvSpPr>
        <p:spPr>
          <a:xfrm>
            <a:off x="3458679" y="2840038"/>
            <a:ext cx="2406590" cy="500856"/>
          </a:xfrm>
          <a:prstGeom prst="rect">
            <a:avLst/>
          </a:prstGeom>
          <a:noFill/>
          <a:ln/>
        </p:spPr>
        <p:txBody>
          <a:bodyPr wrap="square" lIns="0" tIns="0" rIns="0" bIns="0" rtlCol="0" anchor="t">
            <a:normAutofit/>
          </a:bodyPr>
          <a:lstStyle/>
          <a:p>
            <a:pPr marL="0" indent="0" algn="l">
              <a:lnSpc>
                <a:spcPct val="106000"/>
              </a:lnSpc>
              <a:buNone/>
            </a:pPr>
            <a:r>
              <a:rPr lang="en-US" sz="750" dirty="0">
                <a:solidFill>
                  <a:srgbClr val="333F70"/>
                </a:solidFill>
                <a:latin typeface="Open Sans" pitchFamily="34" charset="0"/>
                <a:ea typeface="Open Sans" pitchFamily="34" charset="-122"/>
                <a:cs typeface="Open Sans" pitchFamily="34" charset="-120"/>
              </a:rPr>
              <a:t>Implement SOP expressions using AND, OR, and NOT gates. Recognize XOR gate patterns to simplify the sum output. Draw schematic for each sub-circuit.</a:t>
            </a:r>
            <a:endParaRPr lang="en-US" sz="750" dirty="0"/>
          </a:p>
        </p:txBody>
      </p:sp>
      <p:pic>
        <p:nvPicPr>
          <p:cNvPr id="21" name="Image 4"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221951" y="1141016"/>
            <a:ext cx="5314619" cy="938411"/>
          </a:xfrm>
          <a:prstGeom prst="rect">
            <a:avLst/>
          </a:prstGeom>
        </p:spPr>
      </p:pic>
      <p:sp>
        <p:nvSpPr>
          <p:cNvPr id="22" name="Text 15"/>
          <p:cNvSpPr/>
          <p:nvPr/>
        </p:nvSpPr>
        <p:spPr>
          <a:xfrm>
            <a:off x="8805642" y="1205805"/>
            <a:ext cx="147237" cy="184051"/>
          </a:xfrm>
          <a:prstGeom prst="rect">
            <a:avLst/>
          </a:prstGeom>
          <a:noFill/>
          <a:ln/>
        </p:spPr>
        <p:txBody>
          <a:bodyPr wrap="none" lIns="0" tIns="0" rIns="0" bIns="0" rtlCol="0" anchor="ctr"/>
          <a:lstStyle/>
          <a:p>
            <a:pPr marL="0" indent="0" algn="ctr">
              <a:lnSpc>
                <a:spcPct val="100000"/>
              </a:lnSpc>
              <a:buNone/>
            </a:pPr>
            <a:r>
              <a:rPr lang="en-US" sz="1150" b="1" dirty="0">
                <a:solidFill>
                  <a:srgbClr val="333F70"/>
                </a:solidFill>
                <a:latin typeface="Unbounded Bold" pitchFamily="34" charset="0"/>
                <a:ea typeface="Unbounded Bold" pitchFamily="34" charset="-122"/>
                <a:cs typeface="Unbounded Bold" pitchFamily="34" charset="-120"/>
              </a:rPr>
              <a:t>1</a:t>
            </a:r>
            <a:endParaRPr lang="en-US" sz="1150" dirty="0"/>
          </a:p>
        </p:txBody>
      </p:sp>
      <p:sp>
        <p:nvSpPr>
          <p:cNvPr id="23" name="Text 16"/>
          <p:cNvSpPr/>
          <p:nvPr/>
        </p:nvSpPr>
        <p:spPr>
          <a:xfrm>
            <a:off x="6332776" y="1506538"/>
            <a:ext cx="5092969" cy="153392"/>
          </a:xfrm>
          <a:prstGeom prst="rect">
            <a:avLst/>
          </a:prstGeom>
          <a:noFill/>
          <a:ln/>
        </p:spPr>
        <p:txBody>
          <a:bodyPr wrap="none" lIns="0" tIns="0" rIns="0" bIns="0" rtlCol="0" anchor="t"/>
          <a:lstStyle/>
          <a:p>
            <a:pPr marL="0" indent="0" algn="l">
              <a:lnSpc>
                <a:spcPct val="104000"/>
              </a:lnSpc>
              <a:buNone/>
            </a:pPr>
            <a:r>
              <a:rPr lang="en-US" sz="950" b="1" dirty="0">
                <a:solidFill>
                  <a:srgbClr val="333F70"/>
                </a:solidFill>
                <a:latin typeface="Unbounded Bold" pitchFamily="34" charset="0"/>
                <a:ea typeface="Unbounded Bold" pitchFamily="34" charset="-122"/>
                <a:cs typeface="Unbounded Bold" pitchFamily="34" charset="-120"/>
              </a:rPr>
              <a:t>4-Bit Adder Construction</a:t>
            </a:r>
            <a:endParaRPr lang="en-US" sz="950" dirty="0"/>
          </a:p>
        </p:txBody>
      </p:sp>
      <p:sp>
        <p:nvSpPr>
          <p:cNvPr id="24" name="Text 17"/>
          <p:cNvSpPr/>
          <p:nvPr/>
        </p:nvSpPr>
        <p:spPr>
          <a:xfrm>
            <a:off x="6332776" y="1718171"/>
            <a:ext cx="5092969" cy="250428"/>
          </a:xfrm>
          <a:prstGeom prst="rect">
            <a:avLst/>
          </a:prstGeom>
          <a:noFill/>
          <a:ln/>
        </p:spPr>
        <p:txBody>
          <a:bodyPr wrap="square" lIns="0" tIns="0" rIns="0" bIns="0" rtlCol="0" anchor="t">
            <a:normAutofit/>
          </a:bodyPr>
          <a:lstStyle/>
          <a:p>
            <a:pPr marL="0" indent="0" algn="l">
              <a:lnSpc>
                <a:spcPct val="106000"/>
              </a:lnSpc>
              <a:buNone/>
            </a:pPr>
            <a:r>
              <a:rPr lang="en-US" sz="750" dirty="0">
                <a:solidFill>
                  <a:srgbClr val="333F70"/>
                </a:solidFill>
                <a:latin typeface="Open Sans" pitchFamily="34" charset="0"/>
                <a:ea typeface="Open Sans" pitchFamily="34" charset="-122"/>
                <a:cs typeface="Open Sans" pitchFamily="34" charset="-120"/>
              </a:rPr>
              <a:t>Cascade four full adders (FA-0 to FA-3). Insert XOR gates on all B inputs: B'[i] = B[i] XOR Mode. Feed Mode into Cin of FA-0.</a:t>
            </a:r>
            <a:endParaRPr lang="en-US" sz="750" dirty="0"/>
          </a:p>
        </p:txBody>
      </p:sp>
      <p:pic>
        <p:nvPicPr>
          <p:cNvPr id="25" name="Image 5"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221951" y="2137668"/>
            <a:ext cx="5314619" cy="938411"/>
          </a:xfrm>
          <a:prstGeom prst="rect">
            <a:avLst/>
          </a:prstGeom>
        </p:spPr>
      </p:pic>
      <p:sp>
        <p:nvSpPr>
          <p:cNvPr id="26" name="Text 18"/>
          <p:cNvSpPr/>
          <p:nvPr/>
        </p:nvSpPr>
        <p:spPr>
          <a:xfrm>
            <a:off x="8805642" y="2202458"/>
            <a:ext cx="147237" cy="184051"/>
          </a:xfrm>
          <a:prstGeom prst="rect">
            <a:avLst/>
          </a:prstGeom>
          <a:noFill/>
          <a:ln/>
        </p:spPr>
        <p:txBody>
          <a:bodyPr wrap="none" lIns="0" tIns="0" rIns="0" bIns="0" rtlCol="0" anchor="ctr"/>
          <a:lstStyle/>
          <a:p>
            <a:pPr marL="0" indent="0" algn="ctr">
              <a:lnSpc>
                <a:spcPct val="100000"/>
              </a:lnSpc>
              <a:buNone/>
            </a:pPr>
            <a:r>
              <a:rPr lang="en-US" sz="1150" b="1" dirty="0">
                <a:solidFill>
                  <a:srgbClr val="333F70"/>
                </a:solidFill>
                <a:latin typeface="Unbounded Bold" pitchFamily="34" charset="0"/>
                <a:ea typeface="Unbounded Bold" pitchFamily="34" charset="-122"/>
                <a:cs typeface="Unbounded Bold" pitchFamily="34" charset="-120"/>
              </a:rPr>
              <a:t>2</a:t>
            </a:r>
            <a:endParaRPr lang="en-US" sz="1150" dirty="0"/>
          </a:p>
        </p:txBody>
      </p:sp>
      <p:sp>
        <p:nvSpPr>
          <p:cNvPr id="27" name="Text 19"/>
          <p:cNvSpPr/>
          <p:nvPr/>
        </p:nvSpPr>
        <p:spPr>
          <a:xfrm>
            <a:off x="6332776" y="2503190"/>
            <a:ext cx="5092969" cy="153392"/>
          </a:xfrm>
          <a:prstGeom prst="rect">
            <a:avLst/>
          </a:prstGeom>
          <a:noFill/>
          <a:ln/>
        </p:spPr>
        <p:txBody>
          <a:bodyPr wrap="none" lIns="0" tIns="0" rIns="0" bIns="0" rtlCol="0" anchor="t"/>
          <a:lstStyle/>
          <a:p>
            <a:pPr marL="0" indent="0" algn="l">
              <a:lnSpc>
                <a:spcPct val="104000"/>
              </a:lnSpc>
              <a:buNone/>
            </a:pPr>
            <a:r>
              <a:rPr lang="en-US" sz="950" b="1" dirty="0">
                <a:solidFill>
                  <a:srgbClr val="333F70"/>
                </a:solidFill>
                <a:latin typeface="Unbounded Bold" pitchFamily="34" charset="0"/>
                <a:ea typeface="Unbounded Bold" pitchFamily="34" charset="-122"/>
                <a:cs typeface="Unbounded Bold" pitchFamily="34" charset="-120"/>
              </a:rPr>
              <a:t>Overflow Detection Addition</a:t>
            </a:r>
            <a:endParaRPr lang="en-US" sz="950" dirty="0"/>
          </a:p>
        </p:txBody>
      </p:sp>
      <p:sp>
        <p:nvSpPr>
          <p:cNvPr id="28" name="Text 20"/>
          <p:cNvSpPr/>
          <p:nvPr/>
        </p:nvSpPr>
        <p:spPr>
          <a:xfrm>
            <a:off x="6332776" y="2714823"/>
            <a:ext cx="5092969" cy="250428"/>
          </a:xfrm>
          <a:prstGeom prst="rect">
            <a:avLst/>
          </a:prstGeom>
          <a:noFill/>
          <a:ln/>
        </p:spPr>
        <p:txBody>
          <a:bodyPr wrap="square" lIns="0" tIns="0" rIns="0" bIns="0" rtlCol="0" anchor="t">
            <a:normAutofit/>
          </a:bodyPr>
          <a:lstStyle/>
          <a:p>
            <a:pPr marL="0" indent="0" algn="l">
              <a:lnSpc>
                <a:spcPct val="106000"/>
              </a:lnSpc>
              <a:buNone/>
            </a:pPr>
            <a:r>
              <a:rPr lang="en-US" sz="750" dirty="0">
                <a:solidFill>
                  <a:srgbClr val="333F70"/>
                </a:solidFill>
                <a:latin typeface="Open Sans" pitchFamily="34" charset="0"/>
                <a:ea typeface="Open Sans" pitchFamily="34" charset="-122"/>
                <a:cs typeface="Open Sans" pitchFamily="34" charset="-120"/>
              </a:rPr>
              <a:t>Connect a single XOR gate: OVF = Cin,3 XOR Cout,3. Wire carry signals from FA-2 output and FA-3 output to this gate.</a:t>
            </a:r>
            <a:endParaRPr lang="en-US" sz="750" dirty="0"/>
          </a:p>
        </p:txBody>
      </p:sp>
      <p:pic>
        <p:nvPicPr>
          <p:cNvPr id="29" name="Image 6"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221951" y="3134320"/>
            <a:ext cx="5314619" cy="938411"/>
          </a:xfrm>
          <a:prstGeom prst="rect">
            <a:avLst/>
          </a:prstGeom>
        </p:spPr>
      </p:pic>
      <p:sp>
        <p:nvSpPr>
          <p:cNvPr id="30" name="Text 21"/>
          <p:cNvSpPr/>
          <p:nvPr/>
        </p:nvSpPr>
        <p:spPr>
          <a:xfrm>
            <a:off x="8805642" y="3199110"/>
            <a:ext cx="147237" cy="184051"/>
          </a:xfrm>
          <a:prstGeom prst="rect">
            <a:avLst/>
          </a:prstGeom>
          <a:noFill/>
          <a:ln/>
        </p:spPr>
        <p:txBody>
          <a:bodyPr wrap="none" lIns="0" tIns="0" rIns="0" bIns="0" rtlCol="0" anchor="ctr"/>
          <a:lstStyle/>
          <a:p>
            <a:pPr marL="0" indent="0" algn="ctr">
              <a:lnSpc>
                <a:spcPct val="100000"/>
              </a:lnSpc>
              <a:buNone/>
            </a:pPr>
            <a:r>
              <a:rPr lang="en-US" sz="1150" b="1" dirty="0">
                <a:solidFill>
                  <a:srgbClr val="333F70"/>
                </a:solidFill>
                <a:latin typeface="Unbounded Bold" pitchFamily="34" charset="0"/>
                <a:ea typeface="Unbounded Bold" pitchFamily="34" charset="-122"/>
                <a:cs typeface="Unbounded Bold" pitchFamily="34" charset="-120"/>
              </a:rPr>
              <a:t>3</a:t>
            </a:r>
            <a:endParaRPr lang="en-US" sz="1150" dirty="0"/>
          </a:p>
        </p:txBody>
      </p:sp>
      <p:sp>
        <p:nvSpPr>
          <p:cNvPr id="31" name="Text 22"/>
          <p:cNvSpPr/>
          <p:nvPr/>
        </p:nvSpPr>
        <p:spPr>
          <a:xfrm>
            <a:off x="6332776" y="3499842"/>
            <a:ext cx="5092969" cy="153392"/>
          </a:xfrm>
          <a:prstGeom prst="rect">
            <a:avLst/>
          </a:prstGeom>
          <a:noFill/>
          <a:ln/>
        </p:spPr>
        <p:txBody>
          <a:bodyPr wrap="none" lIns="0" tIns="0" rIns="0" bIns="0" rtlCol="0" anchor="t"/>
          <a:lstStyle/>
          <a:p>
            <a:pPr marL="0" indent="0" algn="l">
              <a:lnSpc>
                <a:spcPct val="104000"/>
              </a:lnSpc>
              <a:buNone/>
            </a:pPr>
            <a:r>
              <a:rPr lang="en-US" sz="950" b="1" dirty="0">
                <a:solidFill>
                  <a:srgbClr val="333F70"/>
                </a:solidFill>
                <a:latin typeface="Unbounded Bold" pitchFamily="34" charset="0"/>
                <a:ea typeface="Unbounded Bold" pitchFamily="34" charset="-122"/>
                <a:cs typeface="Unbounded Bold" pitchFamily="34" charset="-120"/>
              </a:rPr>
              <a:t>Simulation &amp; Testing</a:t>
            </a:r>
            <a:endParaRPr lang="en-US" sz="950" dirty="0"/>
          </a:p>
        </p:txBody>
      </p:sp>
      <p:sp>
        <p:nvSpPr>
          <p:cNvPr id="32" name="Text 23"/>
          <p:cNvSpPr/>
          <p:nvPr/>
        </p:nvSpPr>
        <p:spPr>
          <a:xfrm>
            <a:off x="6332776" y="3711476"/>
            <a:ext cx="5092969" cy="250428"/>
          </a:xfrm>
          <a:prstGeom prst="rect">
            <a:avLst/>
          </a:prstGeom>
          <a:noFill/>
          <a:ln/>
        </p:spPr>
        <p:txBody>
          <a:bodyPr wrap="square" lIns="0" tIns="0" rIns="0" bIns="0" rtlCol="0" anchor="t">
            <a:normAutofit/>
          </a:bodyPr>
          <a:lstStyle/>
          <a:p>
            <a:pPr marL="0" indent="0" algn="l">
              <a:lnSpc>
                <a:spcPct val="106000"/>
              </a:lnSpc>
              <a:buNone/>
            </a:pPr>
            <a:r>
              <a:rPr lang="en-US" sz="750" dirty="0">
                <a:solidFill>
                  <a:srgbClr val="333F70"/>
                </a:solidFill>
                <a:latin typeface="Open Sans" pitchFamily="34" charset="0"/>
                <a:ea typeface="Open Sans" pitchFamily="34" charset="-122"/>
                <a:cs typeface="Open Sans" pitchFamily="34" charset="-120"/>
              </a:rPr>
              <a:t>Build the full circuit in </a:t>
            </a:r>
            <a:r>
              <a:rPr lang="en-US" sz="750" b="1" dirty="0">
                <a:solidFill>
                  <a:srgbClr val="333F70"/>
                </a:solidFill>
                <a:latin typeface="Open Sans Bold" pitchFamily="34" charset="0"/>
                <a:ea typeface="Open Sans Bold" pitchFamily="34" charset="-122"/>
                <a:cs typeface="Open Sans Bold" pitchFamily="34" charset="-120"/>
              </a:rPr>
              <a:t>Logisim / Digital</a:t>
            </a:r>
            <a:r>
              <a:rPr lang="en-US" sz="750" dirty="0">
                <a:solidFill>
                  <a:srgbClr val="333F70"/>
                </a:solidFill>
                <a:latin typeface="Open Sans" pitchFamily="34" charset="0"/>
                <a:ea typeface="Open Sans" pitchFamily="34" charset="-122"/>
                <a:cs typeface="Open Sans" pitchFamily="34" charset="-120"/>
              </a:rPr>
              <a:t>. Apply a comprehensive set of test vectors covering addition, subtraction, boundary values, and overflow cases. Record all outputs.</a:t>
            </a:r>
            <a:endParaRPr lang="en-US" sz="750" dirty="0"/>
          </a:p>
        </p:txBody>
      </p:sp>
      <p:sp>
        <p:nvSpPr>
          <p:cNvPr id="33" name="Text 24"/>
          <p:cNvSpPr/>
          <p:nvPr/>
        </p:nvSpPr>
        <p:spPr>
          <a:xfrm>
            <a:off x="661475" y="4225727"/>
            <a:ext cx="10868745" cy="153392"/>
          </a:xfrm>
          <a:prstGeom prst="rect">
            <a:avLst/>
          </a:prstGeom>
          <a:noFill/>
          <a:ln/>
        </p:spPr>
        <p:txBody>
          <a:bodyPr wrap="none" lIns="0" tIns="0" rIns="0" bIns="0" rtlCol="0" anchor="t"/>
          <a:lstStyle/>
          <a:p>
            <a:pPr marL="0" indent="0" algn="l">
              <a:lnSpc>
                <a:spcPct val="104000"/>
              </a:lnSpc>
              <a:buNone/>
            </a:pPr>
            <a:r>
              <a:rPr lang="en-US" sz="950" b="1" dirty="0">
                <a:solidFill>
                  <a:srgbClr val="333F70"/>
                </a:solidFill>
                <a:latin typeface="Unbounded Bold" pitchFamily="34" charset="0"/>
                <a:ea typeface="Unbounded Bold" pitchFamily="34" charset="-122"/>
                <a:cs typeface="Unbounded Bold" pitchFamily="34" charset="-120"/>
              </a:rPr>
              <a:t>Full Adder Truth Table</a:t>
            </a:r>
            <a:endParaRPr lang="en-US" sz="95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661475" y="4466530"/>
          <a:ext cx="10868745" cy="1869831"/>
        </p:xfrm>
        <a:graphic>
          <a:graphicData uri="http://schemas.openxmlformats.org/drawingml/2006/table">
            <a:tbl>
              <a:tblPr/>
              <a:tblGrid>
                <a:gridCol w="2173749">
                  <a:extLst>
                    <a:ext uri="{9D8B030D-6E8A-4147-A177-3AD203B41FA5}">
                      <a16:colId xmlns:a16="http://schemas.microsoft.com/office/drawing/2014/main" val="20000"/>
                    </a:ext>
                  </a:extLst>
                </a:gridCol>
                <a:gridCol w="2173749">
                  <a:extLst>
                    <a:ext uri="{9D8B030D-6E8A-4147-A177-3AD203B41FA5}">
                      <a16:colId xmlns:a16="http://schemas.microsoft.com/office/drawing/2014/main" val="20001"/>
                    </a:ext>
                  </a:extLst>
                </a:gridCol>
                <a:gridCol w="2173749">
                  <a:extLst>
                    <a:ext uri="{9D8B030D-6E8A-4147-A177-3AD203B41FA5}">
                      <a16:colId xmlns:a16="http://schemas.microsoft.com/office/drawing/2014/main" val="20002"/>
                    </a:ext>
                  </a:extLst>
                </a:gridCol>
                <a:gridCol w="2173749">
                  <a:extLst>
                    <a:ext uri="{9D8B030D-6E8A-4147-A177-3AD203B41FA5}">
                      <a16:colId xmlns:a16="http://schemas.microsoft.com/office/drawing/2014/main" val="20003"/>
                    </a:ext>
                  </a:extLst>
                </a:gridCol>
                <a:gridCol w="2173749">
                  <a:extLst>
                    <a:ext uri="{9D8B030D-6E8A-4147-A177-3AD203B41FA5}">
                      <a16:colId xmlns:a16="http://schemas.microsoft.com/office/drawing/2014/main" val="20004"/>
                    </a:ext>
                  </a:extLst>
                </a:gridCol>
              </a:tblGrid>
              <a:tr h="207759">
                <a:tc>
                  <a:txBody>
                    <a:bodyPr/>
                    <a:lstStyle/>
                    <a:p>
                      <a:pPr marL="0" indent="0">
                        <a:buNone/>
                      </a:pPr>
                      <a:r>
                        <a:rPr lang="en-US" sz="800" b="1" dirty="0">
                          <a:solidFill>
                            <a:srgbClr val="272525"/>
                          </a:solidFill>
                          <a:latin typeface="Open Sans" pitchFamily="34" charset="0"/>
                          <a:ea typeface="Open Sans" pitchFamily="34" charset="-122"/>
                          <a:cs typeface="Open Sans" pitchFamily="34" charset="-120"/>
                        </a:rPr>
                        <a:t>A</a:t>
                      </a:r>
                      <a:endParaRPr lang="en-US" sz="800" dirty="0">
                        <a:latin typeface="Open Sans" charset="0"/>
                        <a:ea typeface="Open Sans" charset="0"/>
                        <a:cs typeface="Open Sans" charset="0"/>
                      </a:endParaRPr>
                    </a:p>
                  </a:txBody>
                  <a:tcPr marL="98201" marR="98201" marT="6350" marB="6350" anchor="ctr">
                    <a:lnL w="12700" cap="flat" cmpd="sng" algn="ctr">
                      <a:solidFill>
                        <a:srgbClr val="BCDBD4"/>
                      </a:solidFill>
                      <a:prstDash val="solid"/>
                      <a:round/>
                      <a:headEnd type="none" w="med" len="med"/>
                      <a:tailEnd type="none" w="med" len="med"/>
                    </a:lnL>
                    <a:lnR w="12700" cap="flat" cmpd="sng" algn="ctr">
                      <a:solidFill>
                        <a:srgbClr val="26A688"/>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26A688"/>
                      </a:solidFill>
                      <a:prstDash val="solid"/>
                      <a:round/>
                      <a:headEnd type="none" w="med" len="med"/>
                      <a:tailEnd type="none" w="med" len="med"/>
                    </a:lnB>
                    <a:solidFill>
                      <a:srgbClr val="26A688"/>
                    </a:solidFill>
                  </a:tcPr>
                </a:tc>
                <a:tc>
                  <a:txBody>
                    <a:bodyPr/>
                    <a:lstStyle/>
                    <a:p>
                      <a:pPr marL="0" indent="0">
                        <a:buNone/>
                      </a:pPr>
                      <a:r>
                        <a:rPr lang="en-US" sz="800" b="1" dirty="0">
                          <a:solidFill>
                            <a:srgbClr val="272525"/>
                          </a:solidFill>
                          <a:latin typeface="Open Sans" pitchFamily="34" charset="0"/>
                          <a:ea typeface="Open Sans" pitchFamily="34" charset="-122"/>
                          <a:cs typeface="Open Sans" pitchFamily="34" charset="-120"/>
                        </a:rPr>
                        <a:t>B</a:t>
                      </a:r>
                      <a:endParaRPr lang="en-US" sz="800" dirty="0">
                        <a:latin typeface="Open Sans" charset="0"/>
                        <a:ea typeface="Open Sans" charset="0"/>
                        <a:cs typeface="Open Sans" charset="0"/>
                      </a:endParaRPr>
                    </a:p>
                  </a:txBody>
                  <a:tcPr marL="98201" marR="98201" marT="6350" marB="6350" anchor="ctr">
                    <a:lnL w="12700" cap="flat" cmpd="sng" algn="ctr">
                      <a:solidFill>
                        <a:srgbClr val="26A688"/>
                      </a:solidFill>
                      <a:prstDash val="solid"/>
                      <a:round/>
                      <a:headEnd type="none" w="med" len="med"/>
                      <a:tailEnd type="none" w="med" len="med"/>
                    </a:lnL>
                    <a:lnR w="12700" cap="flat" cmpd="sng" algn="ctr">
                      <a:solidFill>
                        <a:srgbClr val="26A688"/>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26A688"/>
                      </a:solidFill>
                      <a:prstDash val="solid"/>
                      <a:round/>
                      <a:headEnd type="none" w="med" len="med"/>
                      <a:tailEnd type="none" w="med" len="med"/>
                    </a:lnB>
                    <a:solidFill>
                      <a:srgbClr val="26A688"/>
                    </a:solidFill>
                  </a:tcPr>
                </a:tc>
                <a:tc>
                  <a:txBody>
                    <a:bodyPr/>
                    <a:lstStyle/>
                    <a:p>
                      <a:pPr marL="0" indent="0">
                        <a:buNone/>
                      </a:pPr>
                      <a:r>
                        <a:rPr lang="en-US" sz="800" b="1" dirty="0">
                          <a:solidFill>
                            <a:srgbClr val="272525"/>
                          </a:solidFill>
                          <a:latin typeface="Open Sans" pitchFamily="34" charset="0"/>
                          <a:ea typeface="Open Sans" pitchFamily="34" charset="-122"/>
                          <a:cs typeface="Open Sans" pitchFamily="34" charset="-120"/>
                        </a:rPr>
                        <a:t>Cin</a:t>
                      </a:r>
                      <a:endParaRPr lang="en-US" sz="800" dirty="0">
                        <a:latin typeface="Open Sans" charset="0"/>
                        <a:ea typeface="Open Sans" charset="0"/>
                        <a:cs typeface="Open Sans" charset="0"/>
                      </a:endParaRPr>
                    </a:p>
                  </a:txBody>
                  <a:tcPr marL="98201" marR="98201" marT="6350" marB="6350" anchor="ctr">
                    <a:lnL w="12700" cap="flat" cmpd="sng" algn="ctr">
                      <a:solidFill>
                        <a:srgbClr val="26A688"/>
                      </a:solidFill>
                      <a:prstDash val="solid"/>
                      <a:round/>
                      <a:headEnd type="none" w="med" len="med"/>
                      <a:tailEnd type="none" w="med" len="med"/>
                    </a:lnL>
                    <a:lnR w="12700" cap="flat" cmpd="sng" algn="ctr">
                      <a:solidFill>
                        <a:srgbClr val="26A688"/>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26A688"/>
                      </a:solidFill>
                      <a:prstDash val="solid"/>
                      <a:round/>
                      <a:headEnd type="none" w="med" len="med"/>
                      <a:tailEnd type="none" w="med" len="med"/>
                    </a:lnB>
                    <a:solidFill>
                      <a:srgbClr val="26A688"/>
                    </a:solidFill>
                  </a:tcPr>
                </a:tc>
                <a:tc>
                  <a:txBody>
                    <a:bodyPr/>
                    <a:lstStyle/>
                    <a:p>
                      <a:pPr marL="0" indent="0">
                        <a:buNone/>
                      </a:pPr>
                      <a:r>
                        <a:rPr lang="en-US" sz="800" b="1" dirty="0">
                          <a:solidFill>
                            <a:srgbClr val="272525"/>
                          </a:solidFill>
                          <a:latin typeface="Open Sans" pitchFamily="34" charset="0"/>
                          <a:ea typeface="Open Sans" pitchFamily="34" charset="-122"/>
                          <a:cs typeface="Open Sans" pitchFamily="34" charset="-120"/>
                        </a:rPr>
                        <a:t>Sum</a:t>
                      </a:r>
                      <a:endParaRPr lang="en-US" sz="800" dirty="0">
                        <a:latin typeface="Open Sans" charset="0"/>
                        <a:ea typeface="Open Sans" charset="0"/>
                        <a:cs typeface="Open Sans" charset="0"/>
                      </a:endParaRPr>
                    </a:p>
                  </a:txBody>
                  <a:tcPr marL="98201" marR="98201" marT="6350" marB="6350" anchor="ctr">
                    <a:lnL w="12700" cap="flat" cmpd="sng" algn="ctr">
                      <a:solidFill>
                        <a:srgbClr val="26A688"/>
                      </a:solidFill>
                      <a:prstDash val="solid"/>
                      <a:round/>
                      <a:headEnd type="none" w="med" len="med"/>
                      <a:tailEnd type="none" w="med" len="med"/>
                    </a:lnL>
                    <a:lnR w="12700" cap="flat" cmpd="sng" algn="ctr">
                      <a:solidFill>
                        <a:srgbClr val="26A688"/>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26A688"/>
                      </a:solidFill>
                      <a:prstDash val="solid"/>
                      <a:round/>
                      <a:headEnd type="none" w="med" len="med"/>
                      <a:tailEnd type="none" w="med" len="med"/>
                    </a:lnB>
                    <a:solidFill>
                      <a:srgbClr val="26A688"/>
                    </a:solidFill>
                  </a:tcPr>
                </a:tc>
                <a:tc>
                  <a:txBody>
                    <a:bodyPr/>
                    <a:lstStyle/>
                    <a:p>
                      <a:pPr marL="0" indent="0">
                        <a:buNone/>
                      </a:pPr>
                      <a:r>
                        <a:rPr lang="en-US" sz="800" b="1" dirty="0">
                          <a:solidFill>
                            <a:srgbClr val="272525"/>
                          </a:solidFill>
                          <a:latin typeface="Open Sans" pitchFamily="34" charset="0"/>
                          <a:ea typeface="Open Sans" pitchFamily="34" charset="-122"/>
                          <a:cs typeface="Open Sans" pitchFamily="34" charset="-120"/>
                        </a:rPr>
                        <a:t>Cout</a:t>
                      </a:r>
                      <a:endParaRPr lang="en-US" sz="800" dirty="0">
                        <a:latin typeface="Open Sans" charset="0"/>
                        <a:ea typeface="Open Sans" charset="0"/>
                        <a:cs typeface="Open Sans" charset="0"/>
                      </a:endParaRPr>
                    </a:p>
                  </a:txBody>
                  <a:tcPr marL="98201" marR="98201" marT="6350" marB="6350" anchor="ctr">
                    <a:lnL w="12700" cap="flat" cmpd="sng" algn="ctr">
                      <a:solidFill>
                        <a:srgbClr val="26A688"/>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26A688"/>
                      </a:solidFill>
                      <a:prstDash val="solid"/>
                      <a:round/>
                      <a:headEnd type="none" w="med" len="med"/>
                      <a:tailEnd type="none" w="med" len="med"/>
                    </a:lnB>
                    <a:solidFill>
                      <a:srgbClr val="26A688"/>
                    </a:solidFill>
                  </a:tcPr>
                </a:tc>
                <a:extLst>
                  <a:ext uri="{0D108BD9-81ED-4DB2-BD59-A6C34878D82A}">
                    <a16:rowId xmlns:a16="http://schemas.microsoft.com/office/drawing/2014/main" val="10000"/>
                  </a:ext>
                </a:extLst>
              </a:tr>
              <a:tr h="207759">
                <a:tc>
                  <a:txBody>
                    <a:bodyPr/>
                    <a:lstStyle/>
                    <a:p>
                      <a:pPr marL="0" indent="0">
                        <a:buNone/>
                      </a:pPr>
                      <a:r>
                        <a:rPr lang="en-US" sz="800" dirty="0">
                          <a:solidFill>
                            <a:srgbClr val="333F70"/>
                          </a:solidFill>
                          <a:latin typeface="Open Sans" pitchFamily="34" charset="0"/>
                          <a:ea typeface="Open Sans" pitchFamily="34" charset="-122"/>
                          <a:cs typeface="Open Sans" pitchFamily="34" charset="-120"/>
                        </a:rPr>
                        <a:t>0</a:t>
                      </a:r>
                      <a:endParaRPr lang="en-US" sz="800" dirty="0">
                        <a:latin typeface="Open Sans" charset="0"/>
                        <a:ea typeface="Open Sans" charset="0"/>
                        <a:cs typeface="Open Sans" charset="0"/>
                      </a:endParaRPr>
                    </a:p>
                  </a:txBody>
                  <a:tcPr marL="98201" marR="98201" marT="6350" marB="6350" anchor="ctr">
                    <a:lnL w="12700" cap="flat" cmpd="sng" algn="ctr">
                      <a:solidFill>
                        <a:srgbClr val="BCDBD4"/>
                      </a:solidFill>
                      <a:prstDash val="solid"/>
                      <a:round/>
                      <a:headEnd type="none" w="med" len="med"/>
                      <a:tailEnd type="none" w="med" len="med"/>
                    </a:lnL>
                    <a:lnR w="12700" cap="flat" cmpd="sng" algn="ctr">
                      <a:solidFill>
                        <a:srgbClr val="F5F5F5"/>
                      </a:solidFill>
                      <a:prstDash val="solid"/>
                      <a:round/>
                      <a:headEnd type="none" w="med" len="med"/>
                      <a:tailEnd type="none" w="med" len="med"/>
                    </a:lnR>
                    <a:lnT w="12700" cap="flat" cmpd="sng" algn="ctr">
                      <a:solidFill>
                        <a:srgbClr val="26A688"/>
                      </a:solidFill>
                      <a:prstDash val="solid"/>
                      <a:round/>
                      <a:headEnd type="none" w="med" len="med"/>
                      <a:tailEnd type="none" w="med" len="med"/>
                    </a:lnT>
                    <a:lnB w="12700" cap="flat" cmpd="sng" algn="ctr">
                      <a:solidFill>
                        <a:srgbClr val="F5F5F5"/>
                      </a:solidFill>
                      <a:prstDash val="solid"/>
                      <a:round/>
                      <a:headEnd type="none" w="med" len="med"/>
                      <a:tailEnd type="none" w="med" len="med"/>
                    </a:lnB>
                    <a:solidFill>
                      <a:srgbClr val="000000">
                        <a:alpha val="4000"/>
                      </a:srgbClr>
                    </a:solidFill>
                  </a:tcPr>
                </a:tc>
                <a:tc>
                  <a:txBody>
                    <a:bodyPr/>
                    <a:lstStyle/>
                    <a:p>
                      <a:pPr marL="0" indent="0">
                        <a:buNone/>
                      </a:pPr>
                      <a:r>
                        <a:rPr lang="en-US" sz="800" dirty="0">
                          <a:solidFill>
                            <a:srgbClr val="333F70"/>
                          </a:solidFill>
                          <a:latin typeface="Open Sans" pitchFamily="34" charset="0"/>
                          <a:ea typeface="Open Sans" pitchFamily="34" charset="-122"/>
                          <a:cs typeface="Open Sans" pitchFamily="34" charset="-120"/>
                        </a:rPr>
                        <a:t>0</a:t>
                      </a:r>
                      <a:endParaRPr lang="en-US" sz="800" dirty="0">
                        <a:latin typeface="Open Sans" charset="0"/>
                        <a:ea typeface="Open Sans" charset="0"/>
                        <a:cs typeface="Open Sans" charset="0"/>
                      </a:endParaRPr>
                    </a:p>
                  </a:txBody>
                  <a:tcPr marL="98201" marR="98201" marT="6350" marB="6350" anchor="ctr">
                    <a:lnL w="12700" cap="flat" cmpd="sng" algn="ctr">
                      <a:solidFill>
                        <a:srgbClr val="F5F5F5"/>
                      </a:solidFill>
                      <a:prstDash val="solid"/>
                      <a:round/>
                      <a:headEnd type="none" w="med" len="med"/>
                      <a:tailEnd type="none" w="med" len="med"/>
                    </a:lnL>
                    <a:lnR w="12700" cap="flat" cmpd="sng" algn="ctr">
                      <a:solidFill>
                        <a:srgbClr val="F5F5F5"/>
                      </a:solidFill>
                      <a:prstDash val="solid"/>
                      <a:round/>
                      <a:headEnd type="none" w="med" len="med"/>
                      <a:tailEnd type="none" w="med" len="med"/>
                    </a:lnR>
                    <a:lnT w="12700" cap="flat" cmpd="sng" algn="ctr">
                      <a:solidFill>
                        <a:srgbClr val="26A688"/>
                      </a:solidFill>
                      <a:prstDash val="solid"/>
                      <a:round/>
                      <a:headEnd type="none" w="med" len="med"/>
                      <a:tailEnd type="none" w="med" len="med"/>
                    </a:lnT>
                    <a:lnB w="12700" cap="flat" cmpd="sng" algn="ctr">
                      <a:solidFill>
                        <a:srgbClr val="F5F5F5"/>
                      </a:solidFill>
                      <a:prstDash val="solid"/>
                      <a:round/>
                      <a:headEnd type="none" w="med" len="med"/>
                      <a:tailEnd type="none" w="med" len="med"/>
                    </a:lnB>
                    <a:solidFill>
                      <a:srgbClr val="000000">
                        <a:alpha val="4000"/>
                      </a:srgbClr>
                    </a:solidFill>
                  </a:tcPr>
                </a:tc>
                <a:tc>
                  <a:txBody>
                    <a:bodyPr/>
                    <a:lstStyle/>
                    <a:p>
                      <a:pPr marL="0" indent="0">
                        <a:buNone/>
                      </a:pPr>
                      <a:r>
                        <a:rPr lang="en-US" sz="800" dirty="0">
                          <a:solidFill>
                            <a:srgbClr val="333F70"/>
                          </a:solidFill>
                          <a:latin typeface="Open Sans" pitchFamily="34" charset="0"/>
                          <a:ea typeface="Open Sans" pitchFamily="34" charset="-122"/>
                          <a:cs typeface="Open Sans" pitchFamily="34" charset="-120"/>
                        </a:rPr>
                        <a:t>0</a:t>
                      </a:r>
                      <a:endParaRPr lang="en-US" sz="800" dirty="0">
                        <a:latin typeface="Open Sans" charset="0"/>
                        <a:ea typeface="Open Sans" charset="0"/>
                        <a:cs typeface="Open Sans" charset="0"/>
                      </a:endParaRPr>
                    </a:p>
                  </a:txBody>
                  <a:tcPr marL="98201" marR="98201" marT="6350" marB="6350" anchor="ctr">
                    <a:lnL w="12700" cap="flat" cmpd="sng" algn="ctr">
                      <a:solidFill>
                        <a:srgbClr val="F5F5F5"/>
                      </a:solidFill>
                      <a:prstDash val="solid"/>
                      <a:round/>
                      <a:headEnd type="none" w="med" len="med"/>
                      <a:tailEnd type="none" w="med" len="med"/>
                    </a:lnL>
                    <a:lnR w="12700" cap="flat" cmpd="sng" algn="ctr">
                      <a:solidFill>
                        <a:srgbClr val="F5F5F5"/>
                      </a:solidFill>
                      <a:prstDash val="solid"/>
                      <a:round/>
                      <a:headEnd type="none" w="med" len="med"/>
                      <a:tailEnd type="none" w="med" len="med"/>
                    </a:lnR>
                    <a:lnT w="12700" cap="flat" cmpd="sng" algn="ctr">
                      <a:solidFill>
                        <a:srgbClr val="26A688"/>
                      </a:solidFill>
                      <a:prstDash val="solid"/>
                      <a:round/>
                      <a:headEnd type="none" w="med" len="med"/>
                      <a:tailEnd type="none" w="med" len="med"/>
                    </a:lnT>
                    <a:lnB w="12700" cap="flat" cmpd="sng" algn="ctr">
                      <a:solidFill>
                        <a:srgbClr val="F5F5F5"/>
                      </a:solidFill>
                      <a:prstDash val="solid"/>
                      <a:round/>
                      <a:headEnd type="none" w="med" len="med"/>
                      <a:tailEnd type="none" w="med" len="med"/>
                    </a:lnB>
                    <a:solidFill>
                      <a:srgbClr val="000000">
                        <a:alpha val="4000"/>
                      </a:srgbClr>
                    </a:solidFill>
                  </a:tcPr>
                </a:tc>
                <a:tc>
                  <a:txBody>
                    <a:bodyPr/>
                    <a:lstStyle/>
                    <a:p>
                      <a:pPr marL="0" indent="0">
                        <a:buNone/>
                      </a:pPr>
                      <a:r>
                        <a:rPr lang="en-US" sz="800" dirty="0">
                          <a:solidFill>
                            <a:srgbClr val="333F70"/>
                          </a:solidFill>
                          <a:latin typeface="Open Sans" pitchFamily="34" charset="0"/>
                          <a:ea typeface="Open Sans" pitchFamily="34" charset="-122"/>
                          <a:cs typeface="Open Sans" pitchFamily="34" charset="-120"/>
                        </a:rPr>
                        <a:t>0</a:t>
                      </a:r>
                      <a:endParaRPr lang="en-US" sz="800" dirty="0">
                        <a:latin typeface="Open Sans" charset="0"/>
                        <a:ea typeface="Open Sans" charset="0"/>
                        <a:cs typeface="Open Sans" charset="0"/>
                      </a:endParaRPr>
                    </a:p>
                  </a:txBody>
                  <a:tcPr marL="98201" marR="98201" marT="6350" marB="6350" anchor="ctr">
                    <a:lnL w="12700" cap="flat" cmpd="sng" algn="ctr">
                      <a:solidFill>
                        <a:srgbClr val="F5F5F5"/>
                      </a:solidFill>
                      <a:prstDash val="solid"/>
                      <a:round/>
                      <a:headEnd type="none" w="med" len="med"/>
                      <a:tailEnd type="none" w="med" len="med"/>
                    </a:lnL>
                    <a:lnR w="12700" cap="flat" cmpd="sng" algn="ctr">
                      <a:solidFill>
                        <a:srgbClr val="F5F5F5"/>
                      </a:solidFill>
                      <a:prstDash val="solid"/>
                      <a:round/>
                      <a:headEnd type="none" w="med" len="med"/>
                      <a:tailEnd type="none" w="med" len="med"/>
                    </a:lnR>
                    <a:lnT w="12700" cap="flat" cmpd="sng" algn="ctr">
                      <a:solidFill>
                        <a:srgbClr val="26A688"/>
                      </a:solidFill>
                      <a:prstDash val="solid"/>
                      <a:round/>
                      <a:headEnd type="none" w="med" len="med"/>
                      <a:tailEnd type="none" w="med" len="med"/>
                    </a:lnT>
                    <a:lnB w="12700" cap="flat" cmpd="sng" algn="ctr">
                      <a:solidFill>
                        <a:srgbClr val="F5F5F5"/>
                      </a:solidFill>
                      <a:prstDash val="solid"/>
                      <a:round/>
                      <a:headEnd type="none" w="med" len="med"/>
                      <a:tailEnd type="none" w="med" len="med"/>
                    </a:lnB>
                    <a:solidFill>
                      <a:srgbClr val="000000">
                        <a:alpha val="4000"/>
                      </a:srgbClr>
                    </a:solidFill>
                  </a:tcPr>
                </a:tc>
                <a:tc>
                  <a:txBody>
                    <a:bodyPr/>
                    <a:lstStyle/>
                    <a:p>
                      <a:pPr marL="0" indent="0">
                        <a:buNone/>
                      </a:pPr>
                      <a:r>
                        <a:rPr lang="en-US" sz="800" dirty="0">
                          <a:solidFill>
                            <a:srgbClr val="333F70"/>
                          </a:solidFill>
                          <a:latin typeface="Open Sans" pitchFamily="34" charset="0"/>
                          <a:ea typeface="Open Sans" pitchFamily="34" charset="-122"/>
                          <a:cs typeface="Open Sans" pitchFamily="34" charset="-120"/>
                        </a:rPr>
                        <a:t>0</a:t>
                      </a:r>
                      <a:endParaRPr lang="en-US" sz="800" dirty="0">
                        <a:latin typeface="Open Sans" charset="0"/>
                        <a:ea typeface="Open Sans" charset="0"/>
                        <a:cs typeface="Open Sans" charset="0"/>
                      </a:endParaRPr>
                    </a:p>
                  </a:txBody>
                  <a:tcPr marL="98201" marR="98201" marT="6350" marB="6350" anchor="ctr">
                    <a:lnL w="12700" cap="flat" cmpd="sng" algn="ctr">
                      <a:solidFill>
                        <a:srgbClr val="F5F5F5"/>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26A688"/>
                      </a:solidFill>
                      <a:prstDash val="solid"/>
                      <a:round/>
                      <a:headEnd type="none" w="med" len="med"/>
                      <a:tailEnd type="none" w="med" len="med"/>
                    </a:lnT>
                    <a:lnB w="12700" cap="flat" cmpd="sng" algn="ctr">
                      <a:solidFill>
                        <a:srgbClr val="F5F5F5"/>
                      </a:solidFill>
                      <a:prstDash val="solid"/>
                      <a:round/>
                      <a:headEnd type="none" w="med" len="med"/>
                      <a:tailEnd type="none" w="med" len="med"/>
                    </a:lnB>
                    <a:solidFill>
                      <a:srgbClr val="000000">
                        <a:alpha val="4000"/>
                      </a:srgbClr>
                    </a:solidFill>
                  </a:tcPr>
                </a:tc>
                <a:extLst>
                  <a:ext uri="{0D108BD9-81ED-4DB2-BD59-A6C34878D82A}">
                    <a16:rowId xmlns:a16="http://schemas.microsoft.com/office/drawing/2014/main" val="10001"/>
                  </a:ext>
                </a:extLst>
              </a:tr>
              <a:tr h="207759">
                <a:tc>
                  <a:txBody>
                    <a:bodyPr/>
                    <a:lstStyle/>
                    <a:p>
                      <a:pPr marL="0" indent="0">
                        <a:buNone/>
                      </a:pPr>
                      <a:r>
                        <a:rPr lang="en-US" sz="800" dirty="0">
                          <a:solidFill>
                            <a:srgbClr val="333F70"/>
                          </a:solidFill>
                          <a:latin typeface="Open Sans" pitchFamily="34" charset="0"/>
                          <a:ea typeface="Open Sans" pitchFamily="34" charset="-122"/>
                          <a:cs typeface="Open Sans" pitchFamily="34" charset="-120"/>
                        </a:rPr>
                        <a:t>0</a:t>
                      </a:r>
                      <a:endParaRPr lang="en-US" sz="800" dirty="0">
                        <a:latin typeface="Open Sans" charset="0"/>
                        <a:ea typeface="Open Sans" charset="0"/>
                        <a:cs typeface="Open Sans" charset="0"/>
                      </a:endParaRPr>
                    </a:p>
                  </a:txBody>
                  <a:tcPr marL="98201" marR="98201" marT="6350" marB="6350" anchor="ctr">
                    <a:lnL w="12700" cap="flat" cmpd="sng" algn="ctr">
                      <a:solidFill>
                        <a:srgbClr val="BCDBD4"/>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5F5F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4000"/>
                      </a:srgbClr>
                    </a:solidFill>
                  </a:tcPr>
                </a:tc>
                <a:tc>
                  <a:txBody>
                    <a:bodyPr/>
                    <a:lstStyle/>
                    <a:p>
                      <a:pPr marL="0" indent="0">
                        <a:buNone/>
                      </a:pPr>
                      <a:r>
                        <a:rPr lang="en-US" sz="800" dirty="0">
                          <a:solidFill>
                            <a:srgbClr val="333F70"/>
                          </a:solidFill>
                          <a:latin typeface="Open Sans" pitchFamily="34" charset="0"/>
                          <a:ea typeface="Open Sans" pitchFamily="34" charset="-122"/>
                          <a:cs typeface="Open Sans" pitchFamily="34" charset="-120"/>
                        </a:rPr>
                        <a:t>0</a:t>
                      </a:r>
                      <a:endParaRPr lang="en-US" sz="800" dirty="0">
                        <a:latin typeface="Open Sans" charset="0"/>
                        <a:ea typeface="Open Sans" charset="0"/>
                        <a:cs typeface="Open Sans" charset="0"/>
                      </a:endParaRPr>
                    </a:p>
                  </a:txBody>
                  <a:tcPr marL="98201" marR="98201"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5F5F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4000"/>
                      </a:srgbClr>
                    </a:solidFill>
                  </a:tcPr>
                </a:tc>
                <a:tc>
                  <a:txBody>
                    <a:bodyPr/>
                    <a:lstStyle/>
                    <a:p>
                      <a:pPr marL="0" indent="0">
                        <a:buNone/>
                      </a:pPr>
                      <a:r>
                        <a:rPr lang="en-US" sz="800" dirty="0">
                          <a:solidFill>
                            <a:srgbClr val="333F70"/>
                          </a:solidFill>
                          <a:latin typeface="Open Sans" pitchFamily="34" charset="0"/>
                          <a:ea typeface="Open Sans" pitchFamily="34" charset="-122"/>
                          <a:cs typeface="Open Sans" pitchFamily="34" charset="-120"/>
                        </a:rPr>
                        <a:t>1</a:t>
                      </a:r>
                      <a:endParaRPr lang="en-US" sz="800" dirty="0">
                        <a:latin typeface="Open Sans" charset="0"/>
                        <a:ea typeface="Open Sans" charset="0"/>
                        <a:cs typeface="Open Sans" charset="0"/>
                      </a:endParaRPr>
                    </a:p>
                  </a:txBody>
                  <a:tcPr marL="98201" marR="98201"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5F5F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4000"/>
                      </a:srgbClr>
                    </a:solidFill>
                  </a:tcPr>
                </a:tc>
                <a:tc>
                  <a:txBody>
                    <a:bodyPr/>
                    <a:lstStyle/>
                    <a:p>
                      <a:pPr marL="0" indent="0">
                        <a:buNone/>
                      </a:pPr>
                      <a:r>
                        <a:rPr lang="en-US" sz="800" dirty="0">
                          <a:solidFill>
                            <a:srgbClr val="333F70"/>
                          </a:solidFill>
                          <a:latin typeface="Open Sans" pitchFamily="34" charset="0"/>
                          <a:ea typeface="Open Sans" pitchFamily="34" charset="-122"/>
                          <a:cs typeface="Open Sans" pitchFamily="34" charset="-120"/>
                        </a:rPr>
                        <a:t>1</a:t>
                      </a:r>
                      <a:endParaRPr lang="en-US" sz="800" dirty="0">
                        <a:latin typeface="Open Sans" charset="0"/>
                        <a:ea typeface="Open Sans" charset="0"/>
                        <a:cs typeface="Open Sans" charset="0"/>
                      </a:endParaRPr>
                    </a:p>
                  </a:txBody>
                  <a:tcPr marL="98201" marR="98201"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5F5F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4000"/>
                      </a:srgbClr>
                    </a:solidFill>
                  </a:tcPr>
                </a:tc>
                <a:tc>
                  <a:txBody>
                    <a:bodyPr/>
                    <a:lstStyle/>
                    <a:p>
                      <a:pPr marL="0" indent="0">
                        <a:buNone/>
                      </a:pPr>
                      <a:r>
                        <a:rPr lang="en-US" sz="800" dirty="0">
                          <a:solidFill>
                            <a:srgbClr val="333F70"/>
                          </a:solidFill>
                          <a:latin typeface="Open Sans" pitchFamily="34" charset="0"/>
                          <a:ea typeface="Open Sans" pitchFamily="34" charset="-122"/>
                          <a:cs typeface="Open Sans" pitchFamily="34" charset="-120"/>
                        </a:rPr>
                        <a:t>0</a:t>
                      </a:r>
                      <a:endParaRPr lang="en-US" sz="800" dirty="0">
                        <a:latin typeface="Open Sans" charset="0"/>
                        <a:ea typeface="Open Sans" charset="0"/>
                        <a:cs typeface="Open Sans" charset="0"/>
                      </a:endParaRPr>
                    </a:p>
                  </a:txBody>
                  <a:tcPr marL="98201" marR="98201" marT="6350" marB="6350" anchor="ctr">
                    <a:lnL w="12700" cap="flat" cmpd="sng" algn="ctr">
                      <a:solidFill>
                        <a:srgbClr val="FFFFFF"/>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F5F5F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4000"/>
                      </a:srgbClr>
                    </a:solidFill>
                  </a:tcPr>
                </a:tc>
                <a:extLst>
                  <a:ext uri="{0D108BD9-81ED-4DB2-BD59-A6C34878D82A}">
                    <a16:rowId xmlns:a16="http://schemas.microsoft.com/office/drawing/2014/main" val="10002"/>
                  </a:ext>
                </a:extLst>
              </a:tr>
              <a:tr h="207759">
                <a:tc>
                  <a:txBody>
                    <a:bodyPr/>
                    <a:lstStyle/>
                    <a:p>
                      <a:pPr marL="0" indent="0">
                        <a:buNone/>
                      </a:pPr>
                      <a:r>
                        <a:rPr lang="en-US" sz="800" dirty="0">
                          <a:solidFill>
                            <a:srgbClr val="333F70"/>
                          </a:solidFill>
                          <a:latin typeface="Open Sans" pitchFamily="34" charset="0"/>
                          <a:ea typeface="Open Sans" pitchFamily="34" charset="-122"/>
                          <a:cs typeface="Open Sans" pitchFamily="34" charset="-120"/>
                        </a:rPr>
                        <a:t>0</a:t>
                      </a:r>
                      <a:endParaRPr lang="en-US" sz="800" dirty="0">
                        <a:latin typeface="Open Sans" charset="0"/>
                        <a:ea typeface="Open Sans" charset="0"/>
                        <a:cs typeface="Open Sans" charset="0"/>
                      </a:endParaRPr>
                    </a:p>
                  </a:txBody>
                  <a:tcPr marL="98201" marR="98201" marT="6350" marB="6350" anchor="ctr">
                    <a:lnL w="12700" cap="flat" cmpd="sng" algn="ctr">
                      <a:solidFill>
                        <a:srgbClr val="BCDBD4"/>
                      </a:solidFill>
                      <a:prstDash val="solid"/>
                      <a:round/>
                      <a:headEnd type="none" w="med" len="med"/>
                      <a:tailEnd type="none" w="med" len="med"/>
                    </a:lnL>
                    <a:lnR w="12700" cap="flat" cmpd="sng" algn="ctr">
                      <a:solidFill>
                        <a:srgbClr val="F5F5F5"/>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5F5F5"/>
                      </a:solidFill>
                      <a:prstDash val="solid"/>
                      <a:round/>
                      <a:headEnd type="none" w="med" len="med"/>
                      <a:tailEnd type="none" w="med" len="med"/>
                    </a:lnB>
                    <a:solidFill>
                      <a:srgbClr val="000000">
                        <a:alpha val="4000"/>
                      </a:srgbClr>
                    </a:solidFill>
                  </a:tcPr>
                </a:tc>
                <a:tc>
                  <a:txBody>
                    <a:bodyPr/>
                    <a:lstStyle/>
                    <a:p>
                      <a:pPr marL="0" indent="0">
                        <a:buNone/>
                      </a:pPr>
                      <a:r>
                        <a:rPr lang="en-US" sz="800" dirty="0">
                          <a:solidFill>
                            <a:srgbClr val="333F70"/>
                          </a:solidFill>
                          <a:latin typeface="Open Sans" pitchFamily="34" charset="0"/>
                          <a:ea typeface="Open Sans" pitchFamily="34" charset="-122"/>
                          <a:cs typeface="Open Sans" pitchFamily="34" charset="-120"/>
                        </a:rPr>
                        <a:t>1</a:t>
                      </a:r>
                      <a:endParaRPr lang="en-US" sz="800" dirty="0">
                        <a:latin typeface="Open Sans" charset="0"/>
                        <a:ea typeface="Open Sans" charset="0"/>
                        <a:cs typeface="Open Sans" charset="0"/>
                      </a:endParaRPr>
                    </a:p>
                  </a:txBody>
                  <a:tcPr marL="98201" marR="98201" marT="6350" marB="6350" anchor="ctr">
                    <a:lnL w="12700" cap="flat" cmpd="sng" algn="ctr">
                      <a:solidFill>
                        <a:srgbClr val="F5F5F5"/>
                      </a:solidFill>
                      <a:prstDash val="solid"/>
                      <a:round/>
                      <a:headEnd type="none" w="med" len="med"/>
                      <a:tailEnd type="none" w="med" len="med"/>
                    </a:lnL>
                    <a:lnR w="12700" cap="flat" cmpd="sng" algn="ctr">
                      <a:solidFill>
                        <a:srgbClr val="F5F5F5"/>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5F5F5"/>
                      </a:solidFill>
                      <a:prstDash val="solid"/>
                      <a:round/>
                      <a:headEnd type="none" w="med" len="med"/>
                      <a:tailEnd type="none" w="med" len="med"/>
                    </a:lnB>
                    <a:solidFill>
                      <a:srgbClr val="000000">
                        <a:alpha val="4000"/>
                      </a:srgbClr>
                    </a:solidFill>
                  </a:tcPr>
                </a:tc>
                <a:tc>
                  <a:txBody>
                    <a:bodyPr/>
                    <a:lstStyle/>
                    <a:p>
                      <a:pPr marL="0" indent="0">
                        <a:buNone/>
                      </a:pPr>
                      <a:r>
                        <a:rPr lang="en-US" sz="800" dirty="0">
                          <a:solidFill>
                            <a:srgbClr val="333F70"/>
                          </a:solidFill>
                          <a:latin typeface="Open Sans" pitchFamily="34" charset="0"/>
                          <a:ea typeface="Open Sans" pitchFamily="34" charset="-122"/>
                          <a:cs typeface="Open Sans" pitchFamily="34" charset="-120"/>
                        </a:rPr>
                        <a:t>0</a:t>
                      </a:r>
                      <a:endParaRPr lang="en-US" sz="800" dirty="0">
                        <a:latin typeface="Open Sans" charset="0"/>
                        <a:ea typeface="Open Sans" charset="0"/>
                        <a:cs typeface="Open Sans" charset="0"/>
                      </a:endParaRPr>
                    </a:p>
                  </a:txBody>
                  <a:tcPr marL="98201" marR="98201" marT="6350" marB="6350" anchor="ctr">
                    <a:lnL w="12700" cap="flat" cmpd="sng" algn="ctr">
                      <a:solidFill>
                        <a:srgbClr val="F5F5F5"/>
                      </a:solidFill>
                      <a:prstDash val="solid"/>
                      <a:round/>
                      <a:headEnd type="none" w="med" len="med"/>
                      <a:tailEnd type="none" w="med" len="med"/>
                    </a:lnL>
                    <a:lnR w="12700" cap="flat" cmpd="sng" algn="ctr">
                      <a:solidFill>
                        <a:srgbClr val="F5F5F5"/>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5F5F5"/>
                      </a:solidFill>
                      <a:prstDash val="solid"/>
                      <a:round/>
                      <a:headEnd type="none" w="med" len="med"/>
                      <a:tailEnd type="none" w="med" len="med"/>
                    </a:lnB>
                    <a:solidFill>
                      <a:srgbClr val="000000">
                        <a:alpha val="4000"/>
                      </a:srgbClr>
                    </a:solidFill>
                  </a:tcPr>
                </a:tc>
                <a:tc>
                  <a:txBody>
                    <a:bodyPr/>
                    <a:lstStyle/>
                    <a:p>
                      <a:pPr marL="0" indent="0">
                        <a:buNone/>
                      </a:pPr>
                      <a:r>
                        <a:rPr lang="en-US" sz="800" dirty="0">
                          <a:solidFill>
                            <a:srgbClr val="333F70"/>
                          </a:solidFill>
                          <a:latin typeface="Open Sans" pitchFamily="34" charset="0"/>
                          <a:ea typeface="Open Sans" pitchFamily="34" charset="-122"/>
                          <a:cs typeface="Open Sans" pitchFamily="34" charset="-120"/>
                        </a:rPr>
                        <a:t>1</a:t>
                      </a:r>
                      <a:endParaRPr lang="en-US" sz="800" dirty="0">
                        <a:latin typeface="Open Sans" charset="0"/>
                        <a:ea typeface="Open Sans" charset="0"/>
                        <a:cs typeface="Open Sans" charset="0"/>
                      </a:endParaRPr>
                    </a:p>
                  </a:txBody>
                  <a:tcPr marL="98201" marR="98201" marT="6350" marB="6350" anchor="ctr">
                    <a:lnL w="12700" cap="flat" cmpd="sng" algn="ctr">
                      <a:solidFill>
                        <a:srgbClr val="F5F5F5"/>
                      </a:solidFill>
                      <a:prstDash val="solid"/>
                      <a:round/>
                      <a:headEnd type="none" w="med" len="med"/>
                      <a:tailEnd type="none" w="med" len="med"/>
                    </a:lnL>
                    <a:lnR w="12700" cap="flat" cmpd="sng" algn="ctr">
                      <a:solidFill>
                        <a:srgbClr val="F5F5F5"/>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5F5F5"/>
                      </a:solidFill>
                      <a:prstDash val="solid"/>
                      <a:round/>
                      <a:headEnd type="none" w="med" len="med"/>
                      <a:tailEnd type="none" w="med" len="med"/>
                    </a:lnB>
                    <a:solidFill>
                      <a:srgbClr val="000000">
                        <a:alpha val="4000"/>
                      </a:srgbClr>
                    </a:solidFill>
                  </a:tcPr>
                </a:tc>
                <a:tc>
                  <a:txBody>
                    <a:bodyPr/>
                    <a:lstStyle/>
                    <a:p>
                      <a:pPr marL="0" indent="0">
                        <a:buNone/>
                      </a:pPr>
                      <a:r>
                        <a:rPr lang="en-US" sz="800" dirty="0">
                          <a:solidFill>
                            <a:srgbClr val="333F70"/>
                          </a:solidFill>
                          <a:latin typeface="Open Sans" pitchFamily="34" charset="0"/>
                          <a:ea typeface="Open Sans" pitchFamily="34" charset="-122"/>
                          <a:cs typeface="Open Sans" pitchFamily="34" charset="-120"/>
                        </a:rPr>
                        <a:t>0</a:t>
                      </a:r>
                      <a:endParaRPr lang="en-US" sz="800" dirty="0">
                        <a:latin typeface="Open Sans" charset="0"/>
                        <a:ea typeface="Open Sans" charset="0"/>
                        <a:cs typeface="Open Sans" charset="0"/>
                      </a:endParaRPr>
                    </a:p>
                  </a:txBody>
                  <a:tcPr marL="98201" marR="98201" marT="6350" marB="6350" anchor="ctr">
                    <a:lnL w="12700" cap="flat" cmpd="sng" algn="ctr">
                      <a:solidFill>
                        <a:srgbClr val="F5F5F5"/>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5F5F5"/>
                      </a:solidFill>
                      <a:prstDash val="solid"/>
                      <a:round/>
                      <a:headEnd type="none" w="med" len="med"/>
                      <a:tailEnd type="none" w="med" len="med"/>
                    </a:lnB>
                    <a:solidFill>
                      <a:srgbClr val="000000">
                        <a:alpha val="4000"/>
                      </a:srgbClr>
                    </a:solidFill>
                  </a:tcPr>
                </a:tc>
                <a:extLst>
                  <a:ext uri="{0D108BD9-81ED-4DB2-BD59-A6C34878D82A}">
                    <a16:rowId xmlns:a16="http://schemas.microsoft.com/office/drawing/2014/main" val="10003"/>
                  </a:ext>
                </a:extLst>
              </a:tr>
              <a:tr h="207759">
                <a:tc>
                  <a:txBody>
                    <a:bodyPr/>
                    <a:lstStyle/>
                    <a:p>
                      <a:pPr marL="0" indent="0">
                        <a:buNone/>
                      </a:pPr>
                      <a:r>
                        <a:rPr lang="en-US" sz="800" dirty="0">
                          <a:solidFill>
                            <a:srgbClr val="333F70"/>
                          </a:solidFill>
                          <a:latin typeface="Open Sans" pitchFamily="34" charset="0"/>
                          <a:ea typeface="Open Sans" pitchFamily="34" charset="-122"/>
                          <a:cs typeface="Open Sans" pitchFamily="34" charset="-120"/>
                        </a:rPr>
                        <a:t>0</a:t>
                      </a:r>
                      <a:endParaRPr lang="en-US" sz="800" dirty="0">
                        <a:latin typeface="Open Sans" charset="0"/>
                        <a:ea typeface="Open Sans" charset="0"/>
                        <a:cs typeface="Open Sans" charset="0"/>
                      </a:endParaRPr>
                    </a:p>
                  </a:txBody>
                  <a:tcPr marL="98201" marR="98201" marT="6350" marB="6350" anchor="ctr">
                    <a:lnL w="12700" cap="flat" cmpd="sng" algn="ctr">
                      <a:solidFill>
                        <a:srgbClr val="BCDBD4"/>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5F5F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4000"/>
                      </a:srgbClr>
                    </a:solidFill>
                  </a:tcPr>
                </a:tc>
                <a:tc>
                  <a:txBody>
                    <a:bodyPr/>
                    <a:lstStyle/>
                    <a:p>
                      <a:pPr marL="0" indent="0">
                        <a:buNone/>
                      </a:pPr>
                      <a:r>
                        <a:rPr lang="en-US" sz="800" dirty="0">
                          <a:solidFill>
                            <a:srgbClr val="333F70"/>
                          </a:solidFill>
                          <a:latin typeface="Open Sans" pitchFamily="34" charset="0"/>
                          <a:ea typeface="Open Sans" pitchFamily="34" charset="-122"/>
                          <a:cs typeface="Open Sans" pitchFamily="34" charset="-120"/>
                        </a:rPr>
                        <a:t>1</a:t>
                      </a:r>
                      <a:endParaRPr lang="en-US" sz="800" dirty="0">
                        <a:latin typeface="Open Sans" charset="0"/>
                        <a:ea typeface="Open Sans" charset="0"/>
                        <a:cs typeface="Open Sans" charset="0"/>
                      </a:endParaRPr>
                    </a:p>
                  </a:txBody>
                  <a:tcPr marL="98201" marR="98201"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5F5F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4000"/>
                      </a:srgbClr>
                    </a:solidFill>
                  </a:tcPr>
                </a:tc>
                <a:tc>
                  <a:txBody>
                    <a:bodyPr/>
                    <a:lstStyle/>
                    <a:p>
                      <a:pPr marL="0" indent="0">
                        <a:buNone/>
                      </a:pPr>
                      <a:r>
                        <a:rPr lang="en-US" sz="800" dirty="0">
                          <a:solidFill>
                            <a:srgbClr val="333F70"/>
                          </a:solidFill>
                          <a:latin typeface="Open Sans" pitchFamily="34" charset="0"/>
                          <a:ea typeface="Open Sans" pitchFamily="34" charset="-122"/>
                          <a:cs typeface="Open Sans" pitchFamily="34" charset="-120"/>
                        </a:rPr>
                        <a:t>1</a:t>
                      </a:r>
                      <a:endParaRPr lang="en-US" sz="800" dirty="0">
                        <a:latin typeface="Open Sans" charset="0"/>
                        <a:ea typeface="Open Sans" charset="0"/>
                        <a:cs typeface="Open Sans" charset="0"/>
                      </a:endParaRPr>
                    </a:p>
                  </a:txBody>
                  <a:tcPr marL="98201" marR="98201"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5F5F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4000"/>
                      </a:srgbClr>
                    </a:solidFill>
                  </a:tcPr>
                </a:tc>
                <a:tc>
                  <a:txBody>
                    <a:bodyPr/>
                    <a:lstStyle/>
                    <a:p>
                      <a:pPr marL="0" indent="0">
                        <a:buNone/>
                      </a:pPr>
                      <a:r>
                        <a:rPr lang="en-US" sz="800" dirty="0">
                          <a:solidFill>
                            <a:srgbClr val="333F70"/>
                          </a:solidFill>
                          <a:latin typeface="Open Sans" pitchFamily="34" charset="0"/>
                          <a:ea typeface="Open Sans" pitchFamily="34" charset="-122"/>
                          <a:cs typeface="Open Sans" pitchFamily="34" charset="-120"/>
                        </a:rPr>
                        <a:t>0</a:t>
                      </a:r>
                      <a:endParaRPr lang="en-US" sz="800" dirty="0">
                        <a:latin typeface="Open Sans" charset="0"/>
                        <a:ea typeface="Open Sans" charset="0"/>
                        <a:cs typeface="Open Sans" charset="0"/>
                      </a:endParaRPr>
                    </a:p>
                  </a:txBody>
                  <a:tcPr marL="98201" marR="98201"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5F5F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4000"/>
                      </a:srgbClr>
                    </a:solidFill>
                  </a:tcPr>
                </a:tc>
                <a:tc>
                  <a:txBody>
                    <a:bodyPr/>
                    <a:lstStyle/>
                    <a:p>
                      <a:pPr marL="0" indent="0">
                        <a:buNone/>
                      </a:pPr>
                      <a:r>
                        <a:rPr lang="en-US" sz="800" dirty="0">
                          <a:solidFill>
                            <a:srgbClr val="333F70"/>
                          </a:solidFill>
                          <a:latin typeface="Open Sans" pitchFamily="34" charset="0"/>
                          <a:ea typeface="Open Sans" pitchFamily="34" charset="-122"/>
                          <a:cs typeface="Open Sans" pitchFamily="34" charset="-120"/>
                        </a:rPr>
                        <a:t>1</a:t>
                      </a:r>
                      <a:endParaRPr lang="en-US" sz="800" dirty="0">
                        <a:latin typeface="Open Sans" charset="0"/>
                        <a:ea typeface="Open Sans" charset="0"/>
                        <a:cs typeface="Open Sans" charset="0"/>
                      </a:endParaRPr>
                    </a:p>
                  </a:txBody>
                  <a:tcPr marL="98201" marR="98201" marT="6350" marB="6350" anchor="ctr">
                    <a:lnL w="12700" cap="flat" cmpd="sng" algn="ctr">
                      <a:solidFill>
                        <a:srgbClr val="FFFFFF"/>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F5F5F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4000"/>
                      </a:srgbClr>
                    </a:solidFill>
                  </a:tcPr>
                </a:tc>
                <a:extLst>
                  <a:ext uri="{0D108BD9-81ED-4DB2-BD59-A6C34878D82A}">
                    <a16:rowId xmlns:a16="http://schemas.microsoft.com/office/drawing/2014/main" val="10004"/>
                  </a:ext>
                </a:extLst>
              </a:tr>
              <a:tr h="207759">
                <a:tc>
                  <a:txBody>
                    <a:bodyPr/>
                    <a:lstStyle/>
                    <a:p>
                      <a:pPr marL="0" indent="0">
                        <a:buNone/>
                      </a:pPr>
                      <a:r>
                        <a:rPr lang="en-US" sz="800" dirty="0">
                          <a:solidFill>
                            <a:srgbClr val="333F70"/>
                          </a:solidFill>
                          <a:latin typeface="Open Sans" pitchFamily="34" charset="0"/>
                          <a:ea typeface="Open Sans" pitchFamily="34" charset="-122"/>
                          <a:cs typeface="Open Sans" pitchFamily="34" charset="-120"/>
                        </a:rPr>
                        <a:t>1</a:t>
                      </a:r>
                      <a:endParaRPr lang="en-US" sz="800" dirty="0">
                        <a:latin typeface="Open Sans" charset="0"/>
                        <a:ea typeface="Open Sans" charset="0"/>
                        <a:cs typeface="Open Sans" charset="0"/>
                      </a:endParaRPr>
                    </a:p>
                  </a:txBody>
                  <a:tcPr marL="98201" marR="98201" marT="6350" marB="6350" anchor="ctr">
                    <a:lnL w="12700" cap="flat" cmpd="sng" algn="ctr">
                      <a:solidFill>
                        <a:srgbClr val="BCDBD4"/>
                      </a:solidFill>
                      <a:prstDash val="solid"/>
                      <a:round/>
                      <a:headEnd type="none" w="med" len="med"/>
                      <a:tailEnd type="none" w="med" len="med"/>
                    </a:lnL>
                    <a:lnR w="12700" cap="flat" cmpd="sng" algn="ctr">
                      <a:solidFill>
                        <a:srgbClr val="F5F5F5"/>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5F5F5"/>
                      </a:solidFill>
                      <a:prstDash val="solid"/>
                      <a:round/>
                      <a:headEnd type="none" w="med" len="med"/>
                      <a:tailEnd type="none" w="med" len="med"/>
                    </a:lnB>
                    <a:solidFill>
                      <a:srgbClr val="000000">
                        <a:alpha val="4000"/>
                      </a:srgbClr>
                    </a:solidFill>
                  </a:tcPr>
                </a:tc>
                <a:tc>
                  <a:txBody>
                    <a:bodyPr/>
                    <a:lstStyle/>
                    <a:p>
                      <a:pPr marL="0" indent="0">
                        <a:buNone/>
                      </a:pPr>
                      <a:r>
                        <a:rPr lang="en-US" sz="800" dirty="0">
                          <a:solidFill>
                            <a:srgbClr val="333F70"/>
                          </a:solidFill>
                          <a:latin typeface="Open Sans" pitchFamily="34" charset="0"/>
                          <a:ea typeface="Open Sans" pitchFamily="34" charset="-122"/>
                          <a:cs typeface="Open Sans" pitchFamily="34" charset="-120"/>
                        </a:rPr>
                        <a:t>0</a:t>
                      </a:r>
                      <a:endParaRPr lang="en-US" sz="800" dirty="0">
                        <a:latin typeface="Open Sans" charset="0"/>
                        <a:ea typeface="Open Sans" charset="0"/>
                        <a:cs typeface="Open Sans" charset="0"/>
                      </a:endParaRPr>
                    </a:p>
                  </a:txBody>
                  <a:tcPr marL="98201" marR="98201" marT="6350" marB="6350" anchor="ctr">
                    <a:lnL w="12700" cap="flat" cmpd="sng" algn="ctr">
                      <a:solidFill>
                        <a:srgbClr val="F5F5F5"/>
                      </a:solidFill>
                      <a:prstDash val="solid"/>
                      <a:round/>
                      <a:headEnd type="none" w="med" len="med"/>
                      <a:tailEnd type="none" w="med" len="med"/>
                    </a:lnL>
                    <a:lnR w="12700" cap="flat" cmpd="sng" algn="ctr">
                      <a:solidFill>
                        <a:srgbClr val="F5F5F5"/>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5F5F5"/>
                      </a:solidFill>
                      <a:prstDash val="solid"/>
                      <a:round/>
                      <a:headEnd type="none" w="med" len="med"/>
                      <a:tailEnd type="none" w="med" len="med"/>
                    </a:lnB>
                    <a:solidFill>
                      <a:srgbClr val="000000">
                        <a:alpha val="4000"/>
                      </a:srgbClr>
                    </a:solidFill>
                  </a:tcPr>
                </a:tc>
                <a:tc>
                  <a:txBody>
                    <a:bodyPr/>
                    <a:lstStyle/>
                    <a:p>
                      <a:pPr marL="0" indent="0">
                        <a:buNone/>
                      </a:pPr>
                      <a:r>
                        <a:rPr lang="en-US" sz="800" dirty="0">
                          <a:solidFill>
                            <a:srgbClr val="333F70"/>
                          </a:solidFill>
                          <a:latin typeface="Open Sans" pitchFamily="34" charset="0"/>
                          <a:ea typeface="Open Sans" pitchFamily="34" charset="-122"/>
                          <a:cs typeface="Open Sans" pitchFamily="34" charset="-120"/>
                        </a:rPr>
                        <a:t>0</a:t>
                      </a:r>
                      <a:endParaRPr lang="en-US" sz="800" dirty="0">
                        <a:latin typeface="Open Sans" charset="0"/>
                        <a:ea typeface="Open Sans" charset="0"/>
                        <a:cs typeface="Open Sans" charset="0"/>
                      </a:endParaRPr>
                    </a:p>
                  </a:txBody>
                  <a:tcPr marL="98201" marR="98201" marT="6350" marB="6350" anchor="ctr">
                    <a:lnL w="12700" cap="flat" cmpd="sng" algn="ctr">
                      <a:solidFill>
                        <a:srgbClr val="F5F5F5"/>
                      </a:solidFill>
                      <a:prstDash val="solid"/>
                      <a:round/>
                      <a:headEnd type="none" w="med" len="med"/>
                      <a:tailEnd type="none" w="med" len="med"/>
                    </a:lnL>
                    <a:lnR w="12700" cap="flat" cmpd="sng" algn="ctr">
                      <a:solidFill>
                        <a:srgbClr val="F5F5F5"/>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5F5F5"/>
                      </a:solidFill>
                      <a:prstDash val="solid"/>
                      <a:round/>
                      <a:headEnd type="none" w="med" len="med"/>
                      <a:tailEnd type="none" w="med" len="med"/>
                    </a:lnB>
                    <a:solidFill>
                      <a:srgbClr val="000000">
                        <a:alpha val="4000"/>
                      </a:srgbClr>
                    </a:solidFill>
                  </a:tcPr>
                </a:tc>
                <a:tc>
                  <a:txBody>
                    <a:bodyPr/>
                    <a:lstStyle/>
                    <a:p>
                      <a:pPr marL="0" indent="0">
                        <a:buNone/>
                      </a:pPr>
                      <a:r>
                        <a:rPr lang="en-US" sz="800" dirty="0">
                          <a:solidFill>
                            <a:srgbClr val="333F70"/>
                          </a:solidFill>
                          <a:latin typeface="Open Sans" pitchFamily="34" charset="0"/>
                          <a:ea typeface="Open Sans" pitchFamily="34" charset="-122"/>
                          <a:cs typeface="Open Sans" pitchFamily="34" charset="-120"/>
                        </a:rPr>
                        <a:t>1</a:t>
                      </a:r>
                      <a:endParaRPr lang="en-US" sz="800" dirty="0">
                        <a:latin typeface="Open Sans" charset="0"/>
                        <a:ea typeface="Open Sans" charset="0"/>
                        <a:cs typeface="Open Sans" charset="0"/>
                      </a:endParaRPr>
                    </a:p>
                  </a:txBody>
                  <a:tcPr marL="98201" marR="98201" marT="6350" marB="6350" anchor="ctr">
                    <a:lnL w="12700" cap="flat" cmpd="sng" algn="ctr">
                      <a:solidFill>
                        <a:srgbClr val="F5F5F5"/>
                      </a:solidFill>
                      <a:prstDash val="solid"/>
                      <a:round/>
                      <a:headEnd type="none" w="med" len="med"/>
                      <a:tailEnd type="none" w="med" len="med"/>
                    </a:lnL>
                    <a:lnR w="12700" cap="flat" cmpd="sng" algn="ctr">
                      <a:solidFill>
                        <a:srgbClr val="F5F5F5"/>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5F5F5"/>
                      </a:solidFill>
                      <a:prstDash val="solid"/>
                      <a:round/>
                      <a:headEnd type="none" w="med" len="med"/>
                      <a:tailEnd type="none" w="med" len="med"/>
                    </a:lnB>
                    <a:solidFill>
                      <a:srgbClr val="000000">
                        <a:alpha val="4000"/>
                      </a:srgbClr>
                    </a:solidFill>
                  </a:tcPr>
                </a:tc>
                <a:tc>
                  <a:txBody>
                    <a:bodyPr/>
                    <a:lstStyle/>
                    <a:p>
                      <a:pPr marL="0" indent="0">
                        <a:buNone/>
                      </a:pPr>
                      <a:r>
                        <a:rPr lang="en-US" sz="800" dirty="0">
                          <a:solidFill>
                            <a:srgbClr val="333F70"/>
                          </a:solidFill>
                          <a:latin typeface="Open Sans" pitchFamily="34" charset="0"/>
                          <a:ea typeface="Open Sans" pitchFamily="34" charset="-122"/>
                          <a:cs typeface="Open Sans" pitchFamily="34" charset="-120"/>
                        </a:rPr>
                        <a:t>0</a:t>
                      </a:r>
                      <a:endParaRPr lang="en-US" sz="800" dirty="0">
                        <a:latin typeface="Open Sans" charset="0"/>
                        <a:ea typeface="Open Sans" charset="0"/>
                        <a:cs typeface="Open Sans" charset="0"/>
                      </a:endParaRPr>
                    </a:p>
                  </a:txBody>
                  <a:tcPr marL="98201" marR="98201" marT="6350" marB="6350" anchor="ctr">
                    <a:lnL w="12700" cap="flat" cmpd="sng" algn="ctr">
                      <a:solidFill>
                        <a:srgbClr val="F5F5F5"/>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5F5F5"/>
                      </a:solidFill>
                      <a:prstDash val="solid"/>
                      <a:round/>
                      <a:headEnd type="none" w="med" len="med"/>
                      <a:tailEnd type="none" w="med" len="med"/>
                    </a:lnB>
                    <a:solidFill>
                      <a:srgbClr val="000000">
                        <a:alpha val="4000"/>
                      </a:srgbClr>
                    </a:solidFill>
                  </a:tcPr>
                </a:tc>
                <a:extLst>
                  <a:ext uri="{0D108BD9-81ED-4DB2-BD59-A6C34878D82A}">
                    <a16:rowId xmlns:a16="http://schemas.microsoft.com/office/drawing/2014/main" val="10005"/>
                  </a:ext>
                </a:extLst>
              </a:tr>
              <a:tr h="207759">
                <a:tc>
                  <a:txBody>
                    <a:bodyPr/>
                    <a:lstStyle/>
                    <a:p>
                      <a:pPr marL="0" indent="0">
                        <a:buNone/>
                      </a:pPr>
                      <a:r>
                        <a:rPr lang="en-US" sz="800" dirty="0">
                          <a:solidFill>
                            <a:srgbClr val="333F70"/>
                          </a:solidFill>
                          <a:latin typeface="Open Sans" pitchFamily="34" charset="0"/>
                          <a:ea typeface="Open Sans" pitchFamily="34" charset="-122"/>
                          <a:cs typeface="Open Sans" pitchFamily="34" charset="-120"/>
                        </a:rPr>
                        <a:t>1</a:t>
                      </a:r>
                      <a:endParaRPr lang="en-US" sz="800" dirty="0">
                        <a:latin typeface="Open Sans" charset="0"/>
                        <a:ea typeface="Open Sans" charset="0"/>
                        <a:cs typeface="Open Sans" charset="0"/>
                      </a:endParaRPr>
                    </a:p>
                  </a:txBody>
                  <a:tcPr marL="98201" marR="98201" marT="6350" marB="6350" anchor="ctr">
                    <a:lnL w="12700" cap="flat" cmpd="sng" algn="ctr">
                      <a:solidFill>
                        <a:srgbClr val="BCDBD4"/>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5F5F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4000"/>
                      </a:srgbClr>
                    </a:solidFill>
                  </a:tcPr>
                </a:tc>
                <a:tc>
                  <a:txBody>
                    <a:bodyPr/>
                    <a:lstStyle/>
                    <a:p>
                      <a:pPr marL="0" indent="0">
                        <a:buNone/>
                      </a:pPr>
                      <a:r>
                        <a:rPr lang="en-US" sz="800" dirty="0">
                          <a:solidFill>
                            <a:srgbClr val="333F70"/>
                          </a:solidFill>
                          <a:latin typeface="Open Sans" pitchFamily="34" charset="0"/>
                          <a:ea typeface="Open Sans" pitchFamily="34" charset="-122"/>
                          <a:cs typeface="Open Sans" pitchFamily="34" charset="-120"/>
                        </a:rPr>
                        <a:t>0</a:t>
                      </a:r>
                      <a:endParaRPr lang="en-US" sz="800" dirty="0">
                        <a:latin typeface="Open Sans" charset="0"/>
                        <a:ea typeface="Open Sans" charset="0"/>
                        <a:cs typeface="Open Sans" charset="0"/>
                      </a:endParaRPr>
                    </a:p>
                  </a:txBody>
                  <a:tcPr marL="98201" marR="98201"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5F5F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4000"/>
                      </a:srgbClr>
                    </a:solidFill>
                  </a:tcPr>
                </a:tc>
                <a:tc>
                  <a:txBody>
                    <a:bodyPr/>
                    <a:lstStyle/>
                    <a:p>
                      <a:pPr marL="0" indent="0">
                        <a:buNone/>
                      </a:pPr>
                      <a:r>
                        <a:rPr lang="en-US" sz="800" dirty="0">
                          <a:solidFill>
                            <a:srgbClr val="333F70"/>
                          </a:solidFill>
                          <a:latin typeface="Open Sans" pitchFamily="34" charset="0"/>
                          <a:ea typeface="Open Sans" pitchFamily="34" charset="-122"/>
                          <a:cs typeface="Open Sans" pitchFamily="34" charset="-120"/>
                        </a:rPr>
                        <a:t>1</a:t>
                      </a:r>
                      <a:endParaRPr lang="en-US" sz="800" dirty="0">
                        <a:latin typeface="Open Sans" charset="0"/>
                        <a:ea typeface="Open Sans" charset="0"/>
                        <a:cs typeface="Open Sans" charset="0"/>
                      </a:endParaRPr>
                    </a:p>
                  </a:txBody>
                  <a:tcPr marL="98201" marR="98201"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5F5F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4000"/>
                      </a:srgbClr>
                    </a:solidFill>
                  </a:tcPr>
                </a:tc>
                <a:tc>
                  <a:txBody>
                    <a:bodyPr/>
                    <a:lstStyle/>
                    <a:p>
                      <a:pPr marL="0" indent="0">
                        <a:buNone/>
                      </a:pPr>
                      <a:r>
                        <a:rPr lang="en-US" sz="800" dirty="0">
                          <a:solidFill>
                            <a:srgbClr val="333F70"/>
                          </a:solidFill>
                          <a:latin typeface="Open Sans" pitchFamily="34" charset="0"/>
                          <a:ea typeface="Open Sans" pitchFamily="34" charset="-122"/>
                          <a:cs typeface="Open Sans" pitchFamily="34" charset="-120"/>
                        </a:rPr>
                        <a:t>0</a:t>
                      </a:r>
                      <a:endParaRPr lang="en-US" sz="800" dirty="0">
                        <a:latin typeface="Open Sans" charset="0"/>
                        <a:ea typeface="Open Sans" charset="0"/>
                        <a:cs typeface="Open Sans" charset="0"/>
                      </a:endParaRPr>
                    </a:p>
                  </a:txBody>
                  <a:tcPr marL="98201" marR="98201"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5F5F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4000"/>
                      </a:srgbClr>
                    </a:solidFill>
                  </a:tcPr>
                </a:tc>
                <a:tc>
                  <a:txBody>
                    <a:bodyPr/>
                    <a:lstStyle/>
                    <a:p>
                      <a:pPr marL="0" indent="0">
                        <a:buNone/>
                      </a:pPr>
                      <a:r>
                        <a:rPr lang="en-US" sz="800" dirty="0">
                          <a:solidFill>
                            <a:srgbClr val="333F70"/>
                          </a:solidFill>
                          <a:latin typeface="Open Sans" pitchFamily="34" charset="0"/>
                          <a:ea typeface="Open Sans" pitchFamily="34" charset="-122"/>
                          <a:cs typeface="Open Sans" pitchFamily="34" charset="-120"/>
                        </a:rPr>
                        <a:t>1</a:t>
                      </a:r>
                      <a:endParaRPr lang="en-US" sz="800" dirty="0">
                        <a:latin typeface="Open Sans" charset="0"/>
                        <a:ea typeface="Open Sans" charset="0"/>
                        <a:cs typeface="Open Sans" charset="0"/>
                      </a:endParaRPr>
                    </a:p>
                  </a:txBody>
                  <a:tcPr marL="98201" marR="98201" marT="6350" marB="6350" anchor="ctr">
                    <a:lnL w="12700" cap="flat" cmpd="sng" algn="ctr">
                      <a:solidFill>
                        <a:srgbClr val="FFFFFF"/>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F5F5F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4000"/>
                      </a:srgbClr>
                    </a:solidFill>
                  </a:tcPr>
                </a:tc>
                <a:extLst>
                  <a:ext uri="{0D108BD9-81ED-4DB2-BD59-A6C34878D82A}">
                    <a16:rowId xmlns:a16="http://schemas.microsoft.com/office/drawing/2014/main" val="10006"/>
                  </a:ext>
                </a:extLst>
              </a:tr>
              <a:tr h="207759">
                <a:tc>
                  <a:txBody>
                    <a:bodyPr/>
                    <a:lstStyle/>
                    <a:p>
                      <a:pPr marL="0" indent="0">
                        <a:buNone/>
                      </a:pPr>
                      <a:r>
                        <a:rPr lang="en-US" sz="800" dirty="0">
                          <a:solidFill>
                            <a:srgbClr val="333F70"/>
                          </a:solidFill>
                          <a:latin typeface="Open Sans" pitchFamily="34" charset="0"/>
                          <a:ea typeface="Open Sans" pitchFamily="34" charset="-122"/>
                          <a:cs typeface="Open Sans" pitchFamily="34" charset="-120"/>
                        </a:rPr>
                        <a:t>1</a:t>
                      </a:r>
                      <a:endParaRPr lang="en-US" sz="800" dirty="0">
                        <a:latin typeface="Open Sans" charset="0"/>
                        <a:ea typeface="Open Sans" charset="0"/>
                        <a:cs typeface="Open Sans" charset="0"/>
                      </a:endParaRPr>
                    </a:p>
                  </a:txBody>
                  <a:tcPr marL="98201" marR="98201" marT="6350" marB="6350" anchor="ctr">
                    <a:lnL w="12700" cap="flat" cmpd="sng" algn="ctr">
                      <a:solidFill>
                        <a:srgbClr val="BCDBD4"/>
                      </a:solidFill>
                      <a:prstDash val="solid"/>
                      <a:round/>
                      <a:headEnd type="none" w="med" len="med"/>
                      <a:tailEnd type="none" w="med" len="med"/>
                    </a:lnL>
                    <a:lnR w="12700" cap="flat" cmpd="sng" algn="ctr">
                      <a:solidFill>
                        <a:srgbClr val="F5F5F5"/>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5F5F5"/>
                      </a:solidFill>
                      <a:prstDash val="solid"/>
                      <a:round/>
                      <a:headEnd type="none" w="med" len="med"/>
                      <a:tailEnd type="none" w="med" len="med"/>
                    </a:lnB>
                    <a:solidFill>
                      <a:srgbClr val="000000">
                        <a:alpha val="4000"/>
                      </a:srgbClr>
                    </a:solidFill>
                  </a:tcPr>
                </a:tc>
                <a:tc>
                  <a:txBody>
                    <a:bodyPr/>
                    <a:lstStyle/>
                    <a:p>
                      <a:pPr marL="0" indent="0">
                        <a:buNone/>
                      </a:pPr>
                      <a:r>
                        <a:rPr lang="en-US" sz="800" dirty="0">
                          <a:solidFill>
                            <a:srgbClr val="333F70"/>
                          </a:solidFill>
                          <a:latin typeface="Open Sans" pitchFamily="34" charset="0"/>
                          <a:ea typeface="Open Sans" pitchFamily="34" charset="-122"/>
                          <a:cs typeface="Open Sans" pitchFamily="34" charset="-120"/>
                        </a:rPr>
                        <a:t>1</a:t>
                      </a:r>
                      <a:endParaRPr lang="en-US" sz="800" dirty="0">
                        <a:latin typeface="Open Sans" charset="0"/>
                        <a:ea typeface="Open Sans" charset="0"/>
                        <a:cs typeface="Open Sans" charset="0"/>
                      </a:endParaRPr>
                    </a:p>
                  </a:txBody>
                  <a:tcPr marL="98201" marR="98201" marT="6350" marB="6350" anchor="ctr">
                    <a:lnL w="12700" cap="flat" cmpd="sng" algn="ctr">
                      <a:solidFill>
                        <a:srgbClr val="F5F5F5"/>
                      </a:solidFill>
                      <a:prstDash val="solid"/>
                      <a:round/>
                      <a:headEnd type="none" w="med" len="med"/>
                      <a:tailEnd type="none" w="med" len="med"/>
                    </a:lnL>
                    <a:lnR w="12700" cap="flat" cmpd="sng" algn="ctr">
                      <a:solidFill>
                        <a:srgbClr val="F5F5F5"/>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5F5F5"/>
                      </a:solidFill>
                      <a:prstDash val="solid"/>
                      <a:round/>
                      <a:headEnd type="none" w="med" len="med"/>
                      <a:tailEnd type="none" w="med" len="med"/>
                    </a:lnB>
                    <a:solidFill>
                      <a:srgbClr val="000000">
                        <a:alpha val="4000"/>
                      </a:srgbClr>
                    </a:solidFill>
                  </a:tcPr>
                </a:tc>
                <a:tc>
                  <a:txBody>
                    <a:bodyPr/>
                    <a:lstStyle/>
                    <a:p>
                      <a:pPr marL="0" indent="0">
                        <a:buNone/>
                      </a:pPr>
                      <a:r>
                        <a:rPr lang="en-US" sz="800" dirty="0">
                          <a:solidFill>
                            <a:srgbClr val="333F70"/>
                          </a:solidFill>
                          <a:latin typeface="Open Sans" pitchFamily="34" charset="0"/>
                          <a:ea typeface="Open Sans" pitchFamily="34" charset="-122"/>
                          <a:cs typeface="Open Sans" pitchFamily="34" charset="-120"/>
                        </a:rPr>
                        <a:t>0</a:t>
                      </a:r>
                      <a:endParaRPr lang="en-US" sz="800" dirty="0">
                        <a:latin typeface="Open Sans" charset="0"/>
                        <a:ea typeface="Open Sans" charset="0"/>
                        <a:cs typeface="Open Sans" charset="0"/>
                      </a:endParaRPr>
                    </a:p>
                  </a:txBody>
                  <a:tcPr marL="98201" marR="98201" marT="6350" marB="6350" anchor="ctr">
                    <a:lnL w="12700" cap="flat" cmpd="sng" algn="ctr">
                      <a:solidFill>
                        <a:srgbClr val="F5F5F5"/>
                      </a:solidFill>
                      <a:prstDash val="solid"/>
                      <a:round/>
                      <a:headEnd type="none" w="med" len="med"/>
                      <a:tailEnd type="none" w="med" len="med"/>
                    </a:lnL>
                    <a:lnR w="12700" cap="flat" cmpd="sng" algn="ctr">
                      <a:solidFill>
                        <a:srgbClr val="F5F5F5"/>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5F5F5"/>
                      </a:solidFill>
                      <a:prstDash val="solid"/>
                      <a:round/>
                      <a:headEnd type="none" w="med" len="med"/>
                      <a:tailEnd type="none" w="med" len="med"/>
                    </a:lnB>
                    <a:solidFill>
                      <a:srgbClr val="000000">
                        <a:alpha val="4000"/>
                      </a:srgbClr>
                    </a:solidFill>
                  </a:tcPr>
                </a:tc>
                <a:tc>
                  <a:txBody>
                    <a:bodyPr/>
                    <a:lstStyle/>
                    <a:p>
                      <a:pPr marL="0" indent="0">
                        <a:buNone/>
                      </a:pPr>
                      <a:r>
                        <a:rPr lang="en-US" sz="800" dirty="0">
                          <a:solidFill>
                            <a:srgbClr val="333F70"/>
                          </a:solidFill>
                          <a:latin typeface="Open Sans" pitchFamily="34" charset="0"/>
                          <a:ea typeface="Open Sans" pitchFamily="34" charset="-122"/>
                          <a:cs typeface="Open Sans" pitchFamily="34" charset="-120"/>
                        </a:rPr>
                        <a:t>0</a:t>
                      </a:r>
                      <a:endParaRPr lang="en-US" sz="800" dirty="0">
                        <a:latin typeface="Open Sans" charset="0"/>
                        <a:ea typeface="Open Sans" charset="0"/>
                        <a:cs typeface="Open Sans" charset="0"/>
                      </a:endParaRPr>
                    </a:p>
                  </a:txBody>
                  <a:tcPr marL="98201" marR="98201" marT="6350" marB="6350" anchor="ctr">
                    <a:lnL w="12700" cap="flat" cmpd="sng" algn="ctr">
                      <a:solidFill>
                        <a:srgbClr val="F5F5F5"/>
                      </a:solidFill>
                      <a:prstDash val="solid"/>
                      <a:round/>
                      <a:headEnd type="none" w="med" len="med"/>
                      <a:tailEnd type="none" w="med" len="med"/>
                    </a:lnL>
                    <a:lnR w="12700" cap="flat" cmpd="sng" algn="ctr">
                      <a:solidFill>
                        <a:srgbClr val="F5F5F5"/>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5F5F5"/>
                      </a:solidFill>
                      <a:prstDash val="solid"/>
                      <a:round/>
                      <a:headEnd type="none" w="med" len="med"/>
                      <a:tailEnd type="none" w="med" len="med"/>
                    </a:lnB>
                    <a:solidFill>
                      <a:srgbClr val="000000">
                        <a:alpha val="4000"/>
                      </a:srgbClr>
                    </a:solidFill>
                  </a:tcPr>
                </a:tc>
                <a:tc>
                  <a:txBody>
                    <a:bodyPr/>
                    <a:lstStyle/>
                    <a:p>
                      <a:pPr marL="0" indent="0">
                        <a:buNone/>
                      </a:pPr>
                      <a:r>
                        <a:rPr lang="en-US" sz="800" dirty="0">
                          <a:solidFill>
                            <a:srgbClr val="333F70"/>
                          </a:solidFill>
                          <a:latin typeface="Open Sans" pitchFamily="34" charset="0"/>
                          <a:ea typeface="Open Sans" pitchFamily="34" charset="-122"/>
                          <a:cs typeface="Open Sans" pitchFamily="34" charset="-120"/>
                        </a:rPr>
                        <a:t>1</a:t>
                      </a:r>
                      <a:endParaRPr lang="en-US" sz="800" dirty="0">
                        <a:latin typeface="Open Sans" charset="0"/>
                        <a:ea typeface="Open Sans" charset="0"/>
                        <a:cs typeface="Open Sans" charset="0"/>
                      </a:endParaRPr>
                    </a:p>
                  </a:txBody>
                  <a:tcPr marL="98201" marR="98201" marT="6350" marB="6350" anchor="ctr">
                    <a:lnL w="12700" cap="flat" cmpd="sng" algn="ctr">
                      <a:solidFill>
                        <a:srgbClr val="F5F5F5"/>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5F5F5"/>
                      </a:solidFill>
                      <a:prstDash val="solid"/>
                      <a:round/>
                      <a:headEnd type="none" w="med" len="med"/>
                      <a:tailEnd type="none" w="med" len="med"/>
                    </a:lnB>
                    <a:solidFill>
                      <a:srgbClr val="000000">
                        <a:alpha val="4000"/>
                      </a:srgbClr>
                    </a:solidFill>
                  </a:tcPr>
                </a:tc>
                <a:extLst>
                  <a:ext uri="{0D108BD9-81ED-4DB2-BD59-A6C34878D82A}">
                    <a16:rowId xmlns:a16="http://schemas.microsoft.com/office/drawing/2014/main" val="10007"/>
                  </a:ext>
                </a:extLst>
              </a:tr>
              <a:tr h="207759">
                <a:tc>
                  <a:txBody>
                    <a:bodyPr/>
                    <a:lstStyle/>
                    <a:p>
                      <a:pPr marL="0" indent="0">
                        <a:buNone/>
                      </a:pPr>
                      <a:r>
                        <a:rPr lang="en-US" sz="800" dirty="0">
                          <a:solidFill>
                            <a:srgbClr val="333F70"/>
                          </a:solidFill>
                          <a:latin typeface="Open Sans" pitchFamily="34" charset="0"/>
                          <a:ea typeface="Open Sans" pitchFamily="34" charset="-122"/>
                          <a:cs typeface="Open Sans" pitchFamily="34" charset="-120"/>
                        </a:rPr>
                        <a:t>1</a:t>
                      </a:r>
                      <a:endParaRPr lang="en-US" sz="800" dirty="0">
                        <a:latin typeface="Open Sans" charset="0"/>
                        <a:ea typeface="Open Sans" charset="0"/>
                        <a:cs typeface="Open Sans" charset="0"/>
                      </a:endParaRPr>
                    </a:p>
                  </a:txBody>
                  <a:tcPr marL="98201" marR="98201" marT="6350" marB="6350" anchor="ctr">
                    <a:lnL w="12700" cap="flat" cmpd="sng" algn="ctr">
                      <a:solidFill>
                        <a:srgbClr val="BCDBD4"/>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5F5F5"/>
                      </a:solidFill>
                      <a:prstDash val="solid"/>
                      <a:round/>
                      <a:headEnd type="none" w="med" len="med"/>
                      <a:tailEnd type="none" w="med" len="med"/>
                    </a:lnT>
                    <a:lnB w="12700" cap="flat" cmpd="sng" algn="ctr">
                      <a:solidFill>
                        <a:srgbClr val="BCDBD4"/>
                      </a:solidFill>
                      <a:prstDash val="solid"/>
                      <a:round/>
                      <a:headEnd type="none" w="med" len="med"/>
                      <a:tailEnd type="none" w="med" len="med"/>
                    </a:lnB>
                    <a:solidFill>
                      <a:srgbClr val="FFFFFF">
                        <a:alpha val="4000"/>
                      </a:srgbClr>
                    </a:solidFill>
                  </a:tcPr>
                </a:tc>
                <a:tc>
                  <a:txBody>
                    <a:bodyPr/>
                    <a:lstStyle/>
                    <a:p>
                      <a:pPr marL="0" indent="0">
                        <a:buNone/>
                      </a:pPr>
                      <a:r>
                        <a:rPr lang="en-US" sz="800" dirty="0">
                          <a:solidFill>
                            <a:srgbClr val="333F70"/>
                          </a:solidFill>
                          <a:latin typeface="Open Sans" pitchFamily="34" charset="0"/>
                          <a:ea typeface="Open Sans" pitchFamily="34" charset="-122"/>
                          <a:cs typeface="Open Sans" pitchFamily="34" charset="-120"/>
                        </a:rPr>
                        <a:t>1</a:t>
                      </a:r>
                      <a:endParaRPr lang="en-US" sz="800" dirty="0">
                        <a:latin typeface="Open Sans" charset="0"/>
                        <a:ea typeface="Open Sans" charset="0"/>
                        <a:cs typeface="Open Sans" charset="0"/>
                      </a:endParaRPr>
                    </a:p>
                  </a:txBody>
                  <a:tcPr marL="98201" marR="98201"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5F5F5"/>
                      </a:solidFill>
                      <a:prstDash val="solid"/>
                      <a:round/>
                      <a:headEnd type="none" w="med" len="med"/>
                      <a:tailEnd type="none" w="med" len="med"/>
                    </a:lnT>
                    <a:lnB w="12700" cap="flat" cmpd="sng" algn="ctr">
                      <a:solidFill>
                        <a:srgbClr val="BCDBD4"/>
                      </a:solidFill>
                      <a:prstDash val="solid"/>
                      <a:round/>
                      <a:headEnd type="none" w="med" len="med"/>
                      <a:tailEnd type="none" w="med" len="med"/>
                    </a:lnB>
                    <a:solidFill>
                      <a:srgbClr val="FFFFFF">
                        <a:alpha val="4000"/>
                      </a:srgbClr>
                    </a:solidFill>
                  </a:tcPr>
                </a:tc>
                <a:tc>
                  <a:txBody>
                    <a:bodyPr/>
                    <a:lstStyle/>
                    <a:p>
                      <a:pPr marL="0" indent="0">
                        <a:buNone/>
                      </a:pPr>
                      <a:r>
                        <a:rPr lang="en-US" sz="800" dirty="0">
                          <a:solidFill>
                            <a:srgbClr val="333F70"/>
                          </a:solidFill>
                          <a:latin typeface="Open Sans" pitchFamily="34" charset="0"/>
                          <a:ea typeface="Open Sans" pitchFamily="34" charset="-122"/>
                          <a:cs typeface="Open Sans" pitchFamily="34" charset="-120"/>
                        </a:rPr>
                        <a:t>1</a:t>
                      </a:r>
                      <a:endParaRPr lang="en-US" sz="800" dirty="0">
                        <a:latin typeface="Open Sans" charset="0"/>
                        <a:ea typeface="Open Sans" charset="0"/>
                        <a:cs typeface="Open Sans" charset="0"/>
                      </a:endParaRPr>
                    </a:p>
                  </a:txBody>
                  <a:tcPr marL="98201" marR="98201"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5F5F5"/>
                      </a:solidFill>
                      <a:prstDash val="solid"/>
                      <a:round/>
                      <a:headEnd type="none" w="med" len="med"/>
                      <a:tailEnd type="none" w="med" len="med"/>
                    </a:lnT>
                    <a:lnB w="12700" cap="flat" cmpd="sng" algn="ctr">
                      <a:solidFill>
                        <a:srgbClr val="BCDBD4"/>
                      </a:solidFill>
                      <a:prstDash val="solid"/>
                      <a:round/>
                      <a:headEnd type="none" w="med" len="med"/>
                      <a:tailEnd type="none" w="med" len="med"/>
                    </a:lnB>
                    <a:solidFill>
                      <a:srgbClr val="FFFFFF">
                        <a:alpha val="4000"/>
                      </a:srgbClr>
                    </a:solidFill>
                  </a:tcPr>
                </a:tc>
                <a:tc>
                  <a:txBody>
                    <a:bodyPr/>
                    <a:lstStyle/>
                    <a:p>
                      <a:pPr marL="0" indent="0">
                        <a:buNone/>
                      </a:pPr>
                      <a:r>
                        <a:rPr lang="en-US" sz="800" dirty="0">
                          <a:solidFill>
                            <a:srgbClr val="333F70"/>
                          </a:solidFill>
                          <a:latin typeface="Open Sans" pitchFamily="34" charset="0"/>
                          <a:ea typeface="Open Sans" pitchFamily="34" charset="-122"/>
                          <a:cs typeface="Open Sans" pitchFamily="34" charset="-120"/>
                        </a:rPr>
                        <a:t>1</a:t>
                      </a:r>
                      <a:endParaRPr lang="en-US" sz="800" dirty="0">
                        <a:latin typeface="Open Sans" charset="0"/>
                        <a:ea typeface="Open Sans" charset="0"/>
                        <a:cs typeface="Open Sans" charset="0"/>
                      </a:endParaRPr>
                    </a:p>
                  </a:txBody>
                  <a:tcPr marL="98201" marR="98201"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5F5F5"/>
                      </a:solidFill>
                      <a:prstDash val="solid"/>
                      <a:round/>
                      <a:headEnd type="none" w="med" len="med"/>
                      <a:tailEnd type="none" w="med" len="med"/>
                    </a:lnT>
                    <a:lnB w="12700" cap="flat" cmpd="sng" algn="ctr">
                      <a:solidFill>
                        <a:srgbClr val="BCDBD4"/>
                      </a:solidFill>
                      <a:prstDash val="solid"/>
                      <a:round/>
                      <a:headEnd type="none" w="med" len="med"/>
                      <a:tailEnd type="none" w="med" len="med"/>
                    </a:lnB>
                    <a:solidFill>
                      <a:srgbClr val="FFFFFF">
                        <a:alpha val="4000"/>
                      </a:srgbClr>
                    </a:solidFill>
                  </a:tcPr>
                </a:tc>
                <a:tc>
                  <a:txBody>
                    <a:bodyPr/>
                    <a:lstStyle/>
                    <a:p>
                      <a:pPr marL="0" indent="0">
                        <a:buNone/>
                      </a:pPr>
                      <a:r>
                        <a:rPr lang="en-US" sz="800" dirty="0">
                          <a:solidFill>
                            <a:srgbClr val="333F70"/>
                          </a:solidFill>
                          <a:latin typeface="Open Sans" pitchFamily="34" charset="0"/>
                          <a:ea typeface="Open Sans" pitchFamily="34" charset="-122"/>
                          <a:cs typeface="Open Sans" pitchFamily="34" charset="-120"/>
                        </a:rPr>
                        <a:t>1</a:t>
                      </a:r>
                      <a:endParaRPr lang="en-US" sz="800" dirty="0">
                        <a:latin typeface="Open Sans" charset="0"/>
                        <a:ea typeface="Open Sans" charset="0"/>
                        <a:cs typeface="Open Sans" charset="0"/>
                      </a:endParaRPr>
                    </a:p>
                  </a:txBody>
                  <a:tcPr marL="98201" marR="98201" marT="6350" marB="6350" anchor="ctr">
                    <a:lnL w="12700" cap="flat" cmpd="sng" algn="ctr">
                      <a:solidFill>
                        <a:srgbClr val="FFFFFF"/>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F5F5F5"/>
                      </a:solidFill>
                      <a:prstDash val="solid"/>
                      <a:round/>
                      <a:headEnd type="none" w="med" len="med"/>
                      <a:tailEnd type="none" w="med" len="med"/>
                    </a:lnT>
                    <a:lnB w="12700" cap="flat" cmpd="sng" algn="ctr">
                      <a:solidFill>
                        <a:srgbClr val="BCDBD4"/>
                      </a:solidFill>
                      <a:prstDash val="solid"/>
                      <a:round/>
                      <a:headEnd type="none" w="med" len="med"/>
                      <a:tailEnd type="none" w="med" len="med"/>
                    </a:lnB>
                    <a:solidFill>
                      <a:srgbClr val="FFFFFF">
                        <a:alpha val="4000"/>
                      </a:srgbClr>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661475" y="483691"/>
            <a:ext cx="663856" cy="196255"/>
          </a:xfrm>
          <a:prstGeom prst="roundRect">
            <a:avLst>
              <a:gd name="adj" fmla="val 22122"/>
            </a:avLst>
          </a:prstGeom>
          <a:solidFill>
            <a:srgbClr val="D6F5EE"/>
          </a:solidFill>
          <a:ln/>
        </p:spPr>
      </p:sp>
      <p:sp>
        <p:nvSpPr>
          <p:cNvPr id="3" name="Text 1"/>
          <p:cNvSpPr/>
          <p:nvPr/>
        </p:nvSpPr>
        <p:spPr>
          <a:xfrm>
            <a:off x="738963" y="522387"/>
            <a:ext cx="1118465" cy="118864"/>
          </a:xfrm>
          <a:prstGeom prst="rect">
            <a:avLst/>
          </a:prstGeom>
          <a:noFill/>
          <a:ln/>
        </p:spPr>
        <p:txBody>
          <a:bodyPr wrap="none" lIns="0" tIns="0" rIns="0" bIns="0" rtlCol="0" anchor="t"/>
          <a:lstStyle/>
          <a:p>
            <a:pPr marL="0" indent="0" algn="l">
              <a:lnSpc>
                <a:spcPct val="96000"/>
              </a:lnSpc>
              <a:buNone/>
            </a:pPr>
            <a:r>
              <a:rPr lang="en-US" sz="800" dirty="0">
                <a:solidFill>
                  <a:srgbClr val="333F70"/>
                </a:solidFill>
                <a:latin typeface="Open Sans" pitchFamily="34" charset="0"/>
                <a:ea typeface="Open Sans" pitchFamily="34" charset="-122"/>
                <a:cs typeface="Open Sans" pitchFamily="34" charset="-120"/>
              </a:rPr>
              <a:t>SECTION 8</a:t>
            </a:r>
            <a:endParaRPr lang="en-US" sz="800" dirty="0"/>
          </a:p>
        </p:txBody>
      </p:sp>
      <p:sp>
        <p:nvSpPr>
          <p:cNvPr id="4" name="Text 2"/>
          <p:cNvSpPr/>
          <p:nvPr/>
        </p:nvSpPr>
        <p:spPr>
          <a:xfrm>
            <a:off x="661475" y="720229"/>
            <a:ext cx="10868745" cy="403820"/>
          </a:xfrm>
          <a:prstGeom prst="rect">
            <a:avLst/>
          </a:prstGeom>
          <a:noFill/>
          <a:ln/>
        </p:spPr>
        <p:txBody>
          <a:bodyPr wrap="none" lIns="0" tIns="0" rIns="0" bIns="0" rtlCol="0" anchor="t"/>
          <a:lstStyle/>
          <a:p>
            <a:pPr marL="0" indent="0" algn="l">
              <a:lnSpc>
                <a:spcPct val="104000"/>
              </a:lnSpc>
              <a:buNone/>
            </a:pPr>
            <a:r>
              <a:rPr lang="en-US" sz="2500" b="1" dirty="0">
                <a:solidFill>
                  <a:srgbClr val="333F70"/>
                </a:solidFill>
                <a:latin typeface="Unbounded Bold" pitchFamily="34" charset="0"/>
                <a:ea typeface="Unbounded Bold" pitchFamily="34" charset="-122"/>
                <a:cs typeface="Unbounded Bold" pitchFamily="34" charset="-120"/>
              </a:rPr>
              <a:t>Results &amp; Discussion</a:t>
            </a:r>
            <a:endParaRPr lang="en-US" sz="2500" dirty="0"/>
          </a:p>
        </p:txBody>
      </p:sp>
      <p:sp>
        <p:nvSpPr>
          <p:cNvPr id="5" name="Text 3"/>
          <p:cNvSpPr/>
          <p:nvPr/>
        </p:nvSpPr>
        <p:spPr>
          <a:xfrm>
            <a:off x="661475" y="1376362"/>
            <a:ext cx="6395183" cy="201910"/>
          </a:xfrm>
          <a:prstGeom prst="rect">
            <a:avLst/>
          </a:prstGeom>
          <a:noFill/>
          <a:ln/>
        </p:spPr>
        <p:txBody>
          <a:bodyPr wrap="none" lIns="0" tIns="0" rIns="0" bIns="0" rtlCol="0" anchor="t"/>
          <a:lstStyle/>
          <a:p>
            <a:pPr marL="0" indent="0" algn="l">
              <a:lnSpc>
                <a:spcPct val="104000"/>
              </a:lnSpc>
              <a:buNone/>
            </a:pPr>
            <a:r>
              <a:rPr lang="en-US" sz="1250" b="1" dirty="0">
                <a:solidFill>
                  <a:srgbClr val="333F70"/>
                </a:solidFill>
                <a:latin typeface="Unbounded Bold" pitchFamily="34" charset="0"/>
                <a:ea typeface="Unbounded Bold" pitchFamily="34" charset="-122"/>
                <a:cs typeface="Unbounded Bold" pitchFamily="34" charset="-120"/>
              </a:rPr>
              <a:t>Test Case Verification</a:t>
            </a:r>
            <a:endParaRPr lang="en-US" sz="12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1475" y="1691779"/>
          <a:ext cx="6395185" cy="1938490"/>
        </p:xfrm>
        <a:graphic>
          <a:graphicData uri="http://schemas.openxmlformats.org/drawingml/2006/table">
            <a:tbl>
              <a:tblPr/>
              <a:tblGrid>
                <a:gridCol w="1279037">
                  <a:extLst>
                    <a:ext uri="{9D8B030D-6E8A-4147-A177-3AD203B41FA5}">
                      <a16:colId xmlns:a16="http://schemas.microsoft.com/office/drawing/2014/main" val="20000"/>
                    </a:ext>
                  </a:extLst>
                </a:gridCol>
                <a:gridCol w="1279037">
                  <a:extLst>
                    <a:ext uri="{9D8B030D-6E8A-4147-A177-3AD203B41FA5}">
                      <a16:colId xmlns:a16="http://schemas.microsoft.com/office/drawing/2014/main" val="20001"/>
                    </a:ext>
                  </a:extLst>
                </a:gridCol>
                <a:gridCol w="1279037">
                  <a:extLst>
                    <a:ext uri="{9D8B030D-6E8A-4147-A177-3AD203B41FA5}">
                      <a16:colId xmlns:a16="http://schemas.microsoft.com/office/drawing/2014/main" val="20002"/>
                    </a:ext>
                  </a:extLst>
                </a:gridCol>
                <a:gridCol w="1279037">
                  <a:extLst>
                    <a:ext uri="{9D8B030D-6E8A-4147-A177-3AD203B41FA5}">
                      <a16:colId xmlns:a16="http://schemas.microsoft.com/office/drawing/2014/main" val="20003"/>
                    </a:ext>
                  </a:extLst>
                </a:gridCol>
                <a:gridCol w="1279037">
                  <a:extLst>
                    <a:ext uri="{9D8B030D-6E8A-4147-A177-3AD203B41FA5}">
                      <a16:colId xmlns:a16="http://schemas.microsoft.com/office/drawing/2014/main" val="20004"/>
                    </a:ext>
                  </a:extLst>
                </a:gridCol>
              </a:tblGrid>
              <a:tr h="320965">
                <a:tc>
                  <a:txBody>
                    <a:bodyPr/>
                    <a:lstStyle/>
                    <a:p>
                      <a:pPr marL="0" indent="0">
                        <a:buNone/>
                      </a:pPr>
                      <a:r>
                        <a:rPr lang="en-US" sz="1000" b="1" dirty="0">
                          <a:solidFill>
                            <a:srgbClr val="272525"/>
                          </a:solidFill>
                          <a:latin typeface="Open Sans" pitchFamily="34" charset="0"/>
                          <a:ea typeface="Open Sans" pitchFamily="34" charset="-122"/>
                          <a:cs typeface="Open Sans" pitchFamily="34" charset="-120"/>
                        </a:rPr>
                        <a:t>Operation</a:t>
                      </a:r>
                      <a:endParaRPr lang="en-US" sz="1000" dirty="0">
                        <a:latin typeface="Open Sans" charset="0"/>
                        <a:ea typeface="Open Sans" charset="0"/>
                        <a:cs typeface="Open Sans" charset="0"/>
                      </a:endParaRPr>
                    </a:p>
                  </a:txBody>
                  <a:tcPr marL="129212" marR="129212"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solidFill>
                      <a:srgbClr val="26A688"/>
                    </a:solidFill>
                  </a:tcPr>
                </a:tc>
                <a:tc>
                  <a:txBody>
                    <a:bodyPr/>
                    <a:lstStyle/>
                    <a:p>
                      <a:pPr marL="0" indent="0">
                        <a:buNone/>
                      </a:pPr>
                      <a:r>
                        <a:rPr lang="en-US" sz="1000" b="1" dirty="0">
                          <a:solidFill>
                            <a:srgbClr val="272525"/>
                          </a:solidFill>
                          <a:latin typeface="Open Sans" pitchFamily="34" charset="0"/>
                          <a:ea typeface="Open Sans" pitchFamily="34" charset="-122"/>
                          <a:cs typeface="Open Sans" pitchFamily="34" charset="-120"/>
                        </a:rPr>
                        <a:t>A</a:t>
                      </a:r>
                      <a:endParaRPr lang="en-US" sz="1000" dirty="0">
                        <a:latin typeface="Open Sans" charset="0"/>
                        <a:ea typeface="Open Sans" charset="0"/>
                        <a:cs typeface="Open Sans" charset="0"/>
                      </a:endParaRPr>
                    </a:p>
                  </a:txBody>
                  <a:tcPr marL="129212" marR="129212"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solidFill>
                      <a:srgbClr val="26A688"/>
                    </a:solidFill>
                  </a:tcPr>
                </a:tc>
                <a:tc>
                  <a:txBody>
                    <a:bodyPr/>
                    <a:lstStyle/>
                    <a:p>
                      <a:pPr marL="0" indent="0">
                        <a:buNone/>
                      </a:pPr>
                      <a:r>
                        <a:rPr lang="en-US" sz="1000" b="1" dirty="0">
                          <a:solidFill>
                            <a:srgbClr val="272525"/>
                          </a:solidFill>
                          <a:latin typeface="Open Sans" pitchFamily="34" charset="0"/>
                          <a:ea typeface="Open Sans" pitchFamily="34" charset="-122"/>
                          <a:cs typeface="Open Sans" pitchFamily="34" charset="-120"/>
                        </a:rPr>
                        <a:t>B</a:t>
                      </a:r>
                      <a:endParaRPr lang="en-US" sz="1000" dirty="0">
                        <a:latin typeface="Open Sans" charset="0"/>
                        <a:ea typeface="Open Sans" charset="0"/>
                        <a:cs typeface="Open Sans" charset="0"/>
                      </a:endParaRPr>
                    </a:p>
                  </a:txBody>
                  <a:tcPr marL="129212" marR="129212"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solidFill>
                      <a:srgbClr val="26A688"/>
                    </a:solidFill>
                  </a:tcPr>
                </a:tc>
                <a:tc>
                  <a:txBody>
                    <a:bodyPr/>
                    <a:lstStyle/>
                    <a:p>
                      <a:pPr marL="0" indent="0">
                        <a:buNone/>
                      </a:pPr>
                      <a:r>
                        <a:rPr lang="en-US" sz="1000" b="1" dirty="0">
                          <a:solidFill>
                            <a:srgbClr val="272525"/>
                          </a:solidFill>
                          <a:latin typeface="Open Sans" pitchFamily="34" charset="0"/>
                          <a:ea typeface="Open Sans" pitchFamily="34" charset="-122"/>
                          <a:cs typeface="Open Sans" pitchFamily="34" charset="-120"/>
                        </a:rPr>
                        <a:t>Result</a:t>
                      </a:r>
                      <a:endParaRPr lang="en-US" sz="1000" dirty="0">
                        <a:latin typeface="Open Sans" charset="0"/>
                        <a:ea typeface="Open Sans" charset="0"/>
                        <a:cs typeface="Open Sans" charset="0"/>
                      </a:endParaRPr>
                    </a:p>
                  </a:txBody>
                  <a:tcPr marL="129212" marR="129212"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solidFill>
                      <a:srgbClr val="26A688"/>
                    </a:solidFill>
                  </a:tcPr>
                </a:tc>
                <a:tc>
                  <a:txBody>
                    <a:bodyPr/>
                    <a:lstStyle/>
                    <a:p>
                      <a:pPr marL="0" indent="0">
                        <a:buNone/>
                      </a:pPr>
                      <a:r>
                        <a:rPr lang="en-US" sz="1000" b="1" dirty="0">
                          <a:solidFill>
                            <a:srgbClr val="272525"/>
                          </a:solidFill>
                          <a:latin typeface="Open Sans" pitchFamily="34" charset="0"/>
                          <a:ea typeface="Open Sans" pitchFamily="34" charset="-122"/>
                          <a:cs typeface="Open Sans" pitchFamily="34" charset="-120"/>
                        </a:rPr>
                        <a:t>OVF</a:t>
                      </a:r>
                      <a:endParaRPr lang="en-US" sz="1000" dirty="0">
                        <a:latin typeface="Open Sans" charset="0"/>
                        <a:ea typeface="Open Sans" charset="0"/>
                        <a:cs typeface="Open Sans" charset="0"/>
                      </a:endParaRPr>
                    </a:p>
                  </a:txBody>
                  <a:tcPr marL="129212" marR="129212"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solidFill>
                      <a:srgbClr val="26A688"/>
                    </a:solidFill>
                  </a:tcPr>
                </a:tc>
                <a:extLst>
                  <a:ext uri="{0D108BD9-81ED-4DB2-BD59-A6C34878D82A}">
                    <a16:rowId xmlns:a16="http://schemas.microsoft.com/office/drawing/2014/main" val="10000"/>
                  </a:ext>
                </a:extLst>
              </a:tr>
              <a:tr h="324140">
                <a:tc>
                  <a:txBody>
                    <a:bodyPr/>
                    <a:lstStyle/>
                    <a:p>
                      <a:pPr marL="0" indent="0">
                        <a:buNone/>
                      </a:pPr>
                      <a:r>
                        <a:rPr lang="en-US" sz="1000" dirty="0">
                          <a:solidFill>
                            <a:srgbClr val="333F70"/>
                          </a:solidFill>
                          <a:latin typeface="Open Sans" pitchFamily="34" charset="0"/>
                          <a:ea typeface="Open Sans" pitchFamily="34" charset="-122"/>
                          <a:cs typeface="Open Sans" pitchFamily="34" charset="-120"/>
                        </a:rPr>
                        <a:t>Addition</a:t>
                      </a:r>
                      <a:endParaRPr lang="en-US" sz="1000" dirty="0">
                        <a:latin typeface="Open Sans" charset="0"/>
                        <a:ea typeface="Open Sans" charset="0"/>
                        <a:cs typeface="Open Sans" charset="0"/>
                      </a:endParaRPr>
                    </a:p>
                  </a:txBody>
                  <a:tcPr marL="129212" marR="129212"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tc>
                  <a:txBody>
                    <a:bodyPr/>
                    <a:lstStyle/>
                    <a:p>
                      <a:pPr marL="0" indent="0">
                        <a:buNone/>
                      </a:pPr>
                      <a:r>
                        <a:rPr lang="en-US" sz="1000" dirty="0">
                          <a:solidFill>
                            <a:srgbClr val="333F70"/>
                          </a:solidFill>
                          <a:latin typeface="Open Sans" pitchFamily="34" charset="0"/>
                          <a:ea typeface="Open Sans" pitchFamily="34" charset="-122"/>
                          <a:cs typeface="Open Sans" pitchFamily="34" charset="-120"/>
                        </a:rPr>
                        <a:t>0101 (+5)</a:t>
                      </a:r>
                      <a:endParaRPr lang="en-US" sz="1000" dirty="0">
                        <a:latin typeface="Open Sans" charset="0"/>
                        <a:ea typeface="Open Sans" charset="0"/>
                        <a:cs typeface="Open Sans" charset="0"/>
                      </a:endParaRPr>
                    </a:p>
                  </a:txBody>
                  <a:tcPr marL="129212" marR="129212"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tc>
                  <a:txBody>
                    <a:bodyPr/>
                    <a:lstStyle/>
                    <a:p>
                      <a:pPr marL="0" indent="0">
                        <a:buNone/>
                      </a:pPr>
                      <a:r>
                        <a:rPr lang="en-US" sz="1000" dirty="0">
                          <a:solidFill>
                            <a:srgbClr val="333F70"/>
                          </a:solidFill>
                          <a:latin typeface="Open Sans" pitchFamily="34" charset="0"/>
                          <a:ea typeface="Open Sans" pitchFamily="34" charset="-122"/>
                          <a:cs typeface="Open Sans" pitchFamily="34" charset="-120"/>
                        </a:rPr>
                        <a:t>0011 (+3)</a:t>
                      </a:r>
                      <a:endParaRPr lang="en-US" sz="1000" dirty="0">
                        <a:latin typeface="Open Sans" charset="0"/>
                        <a:ea typeface="Open Sans" charset="0"/>
                        <a:cs typeface="Open Sans" charset="0"/>
                      </a:endParaRPr>
                    </a:p>
                  </a:txBody>
                  <a:tcPr marL="129212" marR="129212"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tc>
                  <a:txBody>
                    <a:bodyPr/>
                    <a:lstStyle/>
                    <a:p>
                      <a:pPr marL="0" indent="0">
                        <a:buNone/>
                      </a:pPr>
                      <a:r>
                        <a:rPr lang="en-US" sz="1000" dirty="0">
                          <a:solidFill>
                            <a:srgbClr val="333F70"/>
                          </a:solidFill>
                          <a:latin typeface="Open Sans" pitchFamily="34" charset="0"/>
                          <a:ea typeface="Open Sans" pitchFamily="34" charset="-122"/>
                          <a:cs typeface="Open Sans" pitchFamily="34" charset="-120"/>
                        </a:rPr>
                        <a:t>1000 (+8)?</a:t>
                      </a:r>
                      <a:endParaRPr lang="en-US" sz="1000" dirty="0">
                        <a:latin typeface="Open Sans" charset="0"/>
                        <a:ea typeface="Open Sans" charset="0"/>
                        <a:cs typeface="Open Sans" charset="0"/>
                      </a:endParaRPr>
                    </a:p>
                  </a:txBody>
                  <a:tcPr marL="129212" marR="129212"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tc>
                  <a:txBody>
                    <a:bodyPr/>
                    <a:lstStyle/>
                    <a:p>
                      <a:pPr marL="0" indent="0">
                        <a:buNone/>
                      </a:pPr>
                      <a:r>
                        <a:rPr lang="en-US" sz="1000" dirty="0">
                          <a:solidFill>
                            <a:srgbClr val="333F70"/>
                          </a:solidFill>
                          <a:latin typeface="Open Sans" pitchFamily="34" charset="0"/>
                          <a:ea typeface="Open Sans" pitchFamily="34" charset="-122"/>
                          <a:cs typeface="Open Sans" pitchFamily="34" charset="-120"/>
                        </a:rPr>
                        <a:t>1 ✓</a:t>
                      </a:r>
                      <a:endParaRPr lang="en-US" sz="1000" dirty="0">
                        <a:latin typeface="Open Sans" charset="0"/>
                        <a:ea typeface="Open Sans" charset="0"/>
                        <a:cs typeface="Open Sans" charset="0"/>
                      </a:endParaRPr>
                    </a:p>
                  </a:txBody>
                  <a:tcPr marL="129212" marR="129212"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extLst>
                  <a:ext uri="{0D108BD9-81ED-4DB2-BD59-A6C34878D82A}">
                    <a16:rowId xmlns:a16="http://schemas.microsoft.com/office/drawing/2014/main" val="10001"/>
                  </a:ext>
                </a:extLst>
              </a:tr>
              <a:tr h="324140">
                <a:tc>
                  <a:txBody>
                    <a:bodyPr/>
                    <a:lstStyle/>
                    <a:p>
                      <a:pPr marL="0" indent="0">
                        <a:buNone/>
                      </a:pPr>
                      <a:r>
                        <a:rPr lang="en-US" sz="1000" dirty="0">
                          <a:solidFill>
                            <a:srgbClr val="333F70"/>
                          </a:solidFill>
                          <a:latin typeface="Open Sans" pitchFamily="34" charset="0"/>
                          <a:ea typeface="Open Sans" pitchFamily="34" charset="-122"/>
                          <a:cs typeface="Open Sans" pitchFamily="34" charset="-120"/>
                        </a:rPr>
                        <a:t>Addition</a:t>
                      </a:r>
                      <a:endParaRPr lang="en-US" sz="1000" dirty="0">
                        <a:latin typeface="Open Sans" charset="0"/>
                        <a:ea typeface="Open Sans" charset="0"/>
                        <a:cs typeface="Open Sans" charset="0"/>
                      </a:endParaRPr>
                    </a:p>
                  </a:txBody>
                  <a:tcPr marL="129212" marR="129212"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tc>
                  <a:txBody>
                    <a:bodyPr/>
                    <a:lstStyle/>
                    <a:p>
                      <a:pPr marL="0" indent="0">
                        <a:buNone/>
                      </a:pPr>
                      <a:r>
                        <a:rPr lang="en-US" sz="1000" dirty="0">
                          <a:solidFill>
                            <a:srgbClr val="333F70"/>
                          </a:solidFill>
                          <a:latin typeface="Open Sans" pitchFamily="34" charset="0"/>
                          <a:ea typeface="Open Sans" pitchFamily="34" charset="-122"/>
                          <a:cs typeface="Open Sans" pitchFamily="34" charset="-120"/>
                        </a:rPr>
                        <a:t>0011 (+3)</a:t>
                      </a:r>
                      <a:endParaRPr lang="en-US" sz="1000" dirty="0">
                        <a:latin typeface="Open Sans" charset="0"/>
                        <a:ea typeface="Open Sans" charset="0"/>
                        <a:cs typeface="Open Sans" charset="0"/>
                      </a:endParaRPr>
                    </a:p>
                  </a:txBody>
                  <a:tcPr marL="129212" marR="129212"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tc>
                  <a:txBody>
                    <a:bodyPr/>
                    <a:lstStyle/>
                    <a:p>
                      <a:pPr marL="0" indent="0">
                        <a:buNone/>
                      </a:pPr>
                      <a:r>
                        <a:rPr lang="en-US" sz="1000" dirty="0">
                          <a:solidFill>
                            <a:srgbClr val="333F70"/>
                          </a:solidFill>
                          <a:latin typeface="Open Sans" pitchFamily="34" charset="0"/>
                          <a:ea typeface="Open Sans" pitchFamily="34" charset="-122"/>
                          <a:cs typeface="Open Sans" pitchFamily="34" charset="-120"/>
                        </a:rPr>
                        <a:t>0100 (+4)</a:t>
                      </a:r>
                      <a:endParaRPr lang="en-US" sz="1000" dirty="0">
                        <a:latin typeface="Open Sans" charset="0"/>
                        <a:ea typeface="Open Sans" charset="0"/>
                        <a:cs typeface="Open Sans" charset="0"/>
                      </a:endParaRPr>
                    </a:p>
                  </a:txBody>
                  <a:tcPr marL="129212" marR="129212"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tc>
                  <a:txBody>
                    <a:bodyPr/>
                    <a:lstStyle/>
                    <a:p>
                      <a:pPr marL="0" indent="0">
                        <a:buNone/>
                      </a:pPr>
                      <a:r>
                        <a:rPr lang="en-US" sz="1000" dirty="0">
                          <a:solidFill>
                            <a:srgbClr val="333F70"/>
                          </a:solidFill>
                          <a:latin typeface="Open Sans" pitchFamily="34" charset="0"/>
                          <a:ea typeface="Open Sans" pitchFamily="34" charset="-122"/>
                          <a:cs typeface="Open Sans" pitchFamily="34" charset="-120"/>
                        </a:rPr>
                        <a:t>0111 (+7)</a:t>
                      </a:r>
                      <a:endParaRPr lang="en-US" sz="1000" dirty="0">
                        <a:latin typeface="Open Sans" charset="0"/>
                        <a:ea typeface="Open Sans" charset="0"/>
                        <a:cs typeface="Open Sans" charset="0"/>
                      </a:endParaRPr>
                    </a:p>
                  </a:txBody>
                  <a:tcPr marL="129212" marR="129212"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tc>
                  <a:txBody>
                    <a:bodyPr/>
                    <a:lstStyle/>
                    <a:p>
                      <a:pPr marL="0" indent="0">
                        <a:buNone/>
                      </a:pPr>
                      <a:r>
                        <a:rPr lang="en-US" sz="1000" dirty="0">
                          <a:solidFill>
                            <a:srgbClr val="333F70"/>
                          </a:solidFill>
                          <a:latin typeface="Open Sans" pitchFamily="34" charset="0"/>
                          <a:ea typeface="Open Sans" pitchFamily="34" charset="-122"/>
                          <a:cs typeface="Open Sans" pitchFamily="34" charset="-120"/>
                        </a:rPr>
                        <a:t>0 ✓</a:t>
                      </a:r>
                      <a:endParaRPr lang="en-US" sz="1000" dirty="0">
                        <a:latin typeface="Open Sans" charset="0"/>
                        <a:ea typeface="Open Sans" charset="0"/>
                        <a:cs typeface="Open Sans" charset="0"/>
                      </a:endParaRPr>
                    </a:p>
                  </a:txBody>
                  <a:tcPr marL="129212" marR="129212"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extLst>
                  <a:ext uri="{0D108BD9-81ED-4DB2-BD59-A6C34878D82A}">
                    <a16:rowId xmlns:a16="http://schemas.microsoft.com/office/drawing/2014/main" val="10002"/>
                  </a:ext>
                </a:extLst>
              </a:tr>
              <a:tr h="324140">
                <a:tc>
                  <a:txBody>
                    <a:bodyPr/>
                    <a:lstStyle/>
                    <a:p>
                      <a:pPr marL="0" indent="0">
                        <a:buNone/>
                      </a:pPr>
                      <a:r>
                        <a:rPr lang="en-US" sz="1000" dirty="0">
                          <a:solidFill>
                            <a:srgbClr val="333F70"/>
                          </a:solidFill>
                          <a:latin typeface="Open Sans" pitchFamily="34" charset="0"/>
                          <a:ea typeface="Open Sans" pitchFamily="34" charset="-122"/>
                          <a:cs typeface="Open Sans" pitchFamily="34" charset="-120"/>
                        </a:rPr>
                        <a:t>Subtraction</a:t>
                      </a:r>
                      <a:endParaRPr lang="en-US" sz="1000" dirty="0">
                        <a:latin typeface="Open Sans" charset="0"/>
                        <a:ea typeface="Open Sans" charset="0"/>
                        <a:cs typeface="Open Sans" charset="0"/>
                      </a:endParaRPr>
                    </a:p>
                  </a:txBody>
                  <a:tcPr marL="129212" marR="129212"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tc>
                  <a:txBody>
                    <a:bodyPr/>
                    <a:lstStyle/>
                    <a:p>
                      <a:pPr marL="0" indent="0">
                        <a:buNone/>
                      </a:pPr>
                      <a:r>
                        <a:rPr lang="en-US" sz="1000" dirty="0">
                          <a:solidFill>
                            <a:srgbClr val="333F70"/>
                          </a:solidFill>
                          <a:latin typeface="Open Sans" pitchFamily="34" charset="0"/>
                          <a:ea typeface="Open Sans" pitchFamily="34" charset="-122"/>
                          <a:cs typeface="Open Sans" pitchFamily="34" charset="-120"/>
                        </a:rPr>
                        <a:t>0101 (+5)</a:t>
                      </a:r>
                      <a:endParaRPr lang="en-US" sz="1000" dirty="0">
                        <a:latin typeface="Open Sans" charset="0"/>
                        <a:ea typeface="Open Sans" charset="0"/>
                        <a:cs typeface="Open Sans" charset="0"/>
                      </a:endParaRPr>
                    </a:p>
                  </a:txBody>
                  <a:tcPr marL="129212" marR="129212"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tc>
                  <a:txBody>
                    <a:bodyPr/>
                    <a:lstStyle/>
                    <a:p>
                      <a:pPr marL="0" indent="0">
                        <a:buNone/>
                      </a:pPr>
                      <a:r>
                        <a:rPr lang="en-US" sz="1000" dirty="0">
                          <a:solidFill>
                            <a:srgbClr val="333F70"/>
                          </a:solidFill>
                          <a:latin typeface="Open Sans" pitchFamily="34" charset="0"/>
                          <a:ea typeface="Open Sans" pitchFamily="34" charset="-122"/>
                          <a:cs typeface="Open Sans" pitchFamily="34" charset="-120"/>
                        </a:rPr>
                        <a:t>0011 (+3)</a:t>
                      </a:r>
                      <a:endParaRPr lang="en-US" sz="1000" dirty="0">
                        <a:latin typeface="Open Sans" charset="0"/>
                        <a:ea typeface="Open Sans" charset="0"/>
                        <a:cs typeface="Open Sans" charset="0"/>
                      </a:endParaRPr>
                    </a:p>
                  </a:txBody>
                  <a:tcPr marL="129212" marR="129212"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tc>
                  <a:txBody>
                    <a:bodyPr/>
                    <a:lstStyle/>
                    <a:p>
                      <a:pPr marL="0" indent="0">
                        <a:buNone/>
                      </a:pPr>
                      <a:r>
                        <a:rPr lang="en-US" sz="1000" dirty="0">
                          <a:solidFill>
                            <a:srgbClr val="333F70"/>
                          </a:solidFill>
                          <a:latin typeface="Open Sans" pitchFamily="34" charset="0"/>
                          <a:ea typeface="Open Sans" pitchFamily="34" charset="-122"/>
                          <a:cs typeface="Open Sans" pitchFamily="34" charset="-120"/>
                        </a:rPr>
                        <a:t>0010 (+2)</a:t>
                      </a:r>
                      <a:endParaRPr lang="en-US" sz="1000" dirty="0">
                        <a:latin typeface="Open Sans" charset="0"/>
                        <a:ea typeface="Open Sans" charset="0"/>
                        <a:cs typeface="Open Sans" charset="0"/>
                      </a:endParaRPr>
                    </a:p>
                  </a:txBody>
                  <a:tcPr marL="129212" marR="129212"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tc>
                  <a:txBody>
                    <a:bodyPr/>
                    <a:lstStyle/>
                    <a:p>
                      <a:pPr marL="0" indent="0">
                        <a:buNone/>
                      </a:pPr>
                      <a:r>
                        <a:rPr lang="en-US" sz="1000" dirty="0">
                          <a:solidFill>
                            <a:srgbClr val="333F70"/>
                          </a:solidFill>
                          <a:latin typeface="Open Sans" pitchFamily="34" charset="0"/>
                          <a:ea typeface="Open Sans" pitchFamily="34" charset="-122"/>
                          <a:cs typeface="Open Sans" pitchFamily="34" charset="-120"/>
                        </a:rPr>
                        <a:t>0 ✓</a:t>
                      </a:r>
                      <a:endParaRPr lang="en-US" sz="1000" dirty="0">
                        <a:latin typeface="Open Sans" charset="0"/>
                        <a:ea typeface="Open Sans" charset="0"/>
                        <a:cs typeface="Open Sans" charset="0"/>
                      </a:endParaRPr>
                    </a:p>
                  </a:txBody>
                  <a:tcPr marL="129212" marR="129212"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extLst>
                  <a:ext uri="{0D108BD9-81ED-4DB2-BD59-A6C34878D82A}">
                    <a16:rowId xmlns:a16="http://schemas.microsoft.com/office/drawing/2014/main" val="10003"/>
                  </a:ext>
                </a:extLst>
              </a:tr>
              <a:tr h="324140">
                <a:tc>
                  <a:txBody>
                    <a:bodyPr/>
                    <a:lstStyle/>
                    <a:p>
                      <a:pPr marL="0" indent="0">
                        <a:buNone/>
                      </a:pPr>
                      <a:r>
                        <a:rPr lang="en-US" sz="1000" dirty="0">
                          <a:solidFill>
                            <a:srgbClr val="333F70"/>
                          </a:solidFill>
                          <a:latin typeface="Open Sans" pitchFamily="34" charset="0"/>
                          <a:ea typeface="Open Sans" pitchFamily="34" charset="-122"/>
                          <a:cs typeface="Open Sans" pitchFamily="34" charset="-120"/>
                        </a:rPr>
                        <a:t>Overflow</a:t>
                      </a:r>
                      <a:endParaRPr lang="en-US" sz="1000" dirty="0">
                        <a:latin typeface="Open Sans" charset="0"/>
                        <a:ea typeface="Open Sans" charset="0"/>
                        <a:cs typeface="Open Sans" charset="0"/>
                      </a:endParaRPr>
                    </a:p>
                  </a:txBody>
                  <a:tcPr marL="129212" marR="129212"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tc>
                  <a:txBody>
                    <a:bodyPr/>
                    <a:lstStyle/>
                    <a:p>
                      <a:pPr marL="0" indent="0">
                        <a:buNone/>
                      </a:pPr>
                      <a:r>
                        <a:rPr lang="en-US" sz="1000" dirty="0">
                          <a:solidFill>
                            <a:srgbClr val="333F70"/>
                          </a:solidFill>
                          <a:latin typeface="Open Sans" pitchFamily="34" charset="0"/>
                          <a:ea typeface="Open Sans" pitchFamily="34" charset="-122"/>
                          <a:cs typeface="Open Sans" pitchFamily="34" charset="-120"/>
                        </a:rPr>
                        <a:t>0111 (+7)</a:t>
                      </a:r>
                      <a:endParaRPr lang="en-US" sz="1000" dirty="0">
                        <a:latin typeface="Open Sans" charset="0"/>
                        <a:ea typeface="Open Sans" charset="0"/>
                        <a:cs typeface="Open Sans" charset="0"/>
                      </a:endParaRPr>
                    </a:p>
                  </a:txBody>
                  <a:tcPr marL="129212" marR="129212"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tc>
                  <a:txBody>
                    <a:bodyPr/>
                    <a:lstStyle/>
                    <a:p>
                      <a:pPr marL="0" indent="0">
                        <a:buNone/>
                      </a:pPr>
                      <a:r>
                        <a:rPr lang="en-US" sz="1000" dirty="0">
                          <a:solidFill>
                            <a:srgbClr val="333F70"/>
                          </a:solidFill>
                          <a:latin typeface="Open Sans" pitchFamily="34" charset="0"/>
                          <a:ea typeface="Open Sans" pitchFamily="34" charset="-122"/>
                          <a:cs typeface="Open Sans" pitchFamily="34" charset="-120"/>
                        </a:rPr>
                        <a:t>0001 (+1)</a:t>
                      </a:r>
                      <a:endParaRPr lang="en-US" sz="1000" dirty="0">
                        <a:latin typeface="Open Sans" charset="0"/>
                        <a:ea typeface="Open Sans" charset="0"/>
                        <a:cs typeface="Open Sans" charset="0"/>
                      </a:endParaRPr>
                    </a:p>
                  </a:txBody>
                  <a:tcPr marL="129212" marR="129212"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tc>
                  <a:txBody>
                    <a:bodyPr/>
                    <a:lstStyle/>
                    <a:p>
                      <a:pPr marL="0" indent="0">
                        <a:buNone/>
                      </a:pPr>
                      <a:r>
                        <a:rPr lang="en-US" sz="1000" dirty="0">
                          <a:solidFill>
                            <a:srgbClr val="333F70"/>
                          </a:solidFill>
                          <a:latin typeface="Open Sans" pitchFamily="34" charset="0"/>
                          <a:ea typeface="Open Sans" pitchFamily="34" charset="-122"/>
                          <a:cs typeface="Open Sans" pitchFamily="34" charset="-120"/>
                        </a:rPr>
                        <a:t>1000 (−8)</a:t>
                      </a:r>
                      <a:endParaRPr lang="en-US" sz="1000" dirty="0">
                        <a:latin typeface="Open Sans" charset="0"/>
                        <a:ea typeface="Open Sans" charset="0"/>
                        <a:cs typeface="Open Sans" charset="0"/>
                      </a:endParaRPr>
                    </a:p>
                  </a:txBody>
                  <a:tcPr marL="129212" marR="129212"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tc>
                  <a:txBody>
                    <a:bodyPr/>
                    <a:lstStyle/>
                    <a:p>
                      <a:pPr marL="0" indent="0">
                        <a:buNone/>
                      </a:pPr>
                      <a:r>
                        <a:rPr lang="en-US" sz="1000" dirty="0">
                          <a:solidFill>
                            <a:srgbClr val="333F70"/>
                          </a:solidFill>
                          <a:latin typeface="Open Sans" pitchFamily="34" charset="0"/>
                          <a:ea typeface="Open Sans" pitchFamily="34" charset="-122"/>
                          <a:cs typeface="Open Sans" pitchFamily="34" charset="-120"/>
                        </a:rPr>
                        <a:t>1 ✓</a:t>
                      </a:r>
                      <a:endParaRPr lang="en-US" sz="1000" dirty="0">
                        <a:latin typeface="Open Sans" charset="0"/>
                        <a:ea typeface="Open Sans" charset="0"/>
                        <a:cs typeface="Open Sans" charset="0"/>
                      </a:endParaRPr>
                    </a:p>
                  </a:txBody>
                  <a:tcPr marL="129212" marR="129212"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extLst>
                  <a:ext uri="{0D108BD9-81ED-4DB2-BD59-A6C34878D82A}">
                    <a16:rowId xmlns:a16="http://schemas.microsoft.com/office/drawing/2014/main" val="10004"/>
                  </a:ext>
                </a:extLst>
              </a:tr>
              <a:tr h="320965">
                <a:tc>
                  <a:txBody>
                    <a:bodyPr/>
                    <a:lstStyle/>
                    <a:p>
                      <a:pPr marL="0" indent="0">
                        <a:buNone/>
                      </a:pPr>
                      <a:r>
                        <a:rPr lang="en-US" sz="1000" dirty="0">
                          <a:solidFill>
                            <a:srgbClr val="333F70"/>
                          </a:solidFill>
                          <a:latin typeface="Open Sans" pitchFamily="34" charset="0"/>
                          <a:ea typeface="Open Sans" pitchFamily="34" charset="-122"/>
                          <a:cs typeface="Open Sans" pitchFamily="34" charset="-120"/>
                        </a:rPr>
                        <a:t>Neg. Overflow</a:t>
                      </a:r>
                      <a:endParaRPr lang="en-US" sz="1000" dirty="0">
                        <a:latin typeface="Open Sans" charset="0"/>
                        <a:ea typeface="Open Sans" charset="0"/>
                        <a:cs typeface="Open Sans" charset="0"/>
                      </a:endParaRPr>
                    </a:p>
                  </a:txBody>
                  <a:tcPr marL="129212" marR="129212"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tc>
                  <a:txBody>
                    <a:bodyPr/>
                    <a:lstStyle/>
                    <a:p>
                      <a:pPr marL="0" indent="0">
                        <a:buNone/>
                      </a:pPr>
                      <a:r>
                        <a:rPr lang="en-US" sz="1000" dirty="0">
                          <a:solidFill>
                            <a:srgbClr val="333F70"/>
                          </a:solidFill>
                          <a:latin typeface="Open Sans" pitchFamily="34" charset="0"/>
                          <a:ea typeface="Open Sans" pitchFamily="34" charset="-122"/>
                          <a:cs typeface="Open Sans" pitchFamily="34" charset="-120"/>
                        </a:rPr>
                        <a:t>1000 (−8)</a:t>
                      </a:r>
                      <a:endParaRPr lang="en-US" sz="1000" dirty="0">
                        <a:latin typeface="Open Sans" charset="0"/>
                        <a:ea typeface="Open Sans" charset="0"/>
                        <a:cs typeface="Open Sans" charset="0"/>
                      </a:endParaRPr>
                    </a:p>
                  </a:txBody>
                  <a:tcPr marL="129212" marR="129212"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tc>
                  <a:txBody>
                    <a:bodyPr/>
                    <a:lstStyle/>
                    <a:p>
                      <a:pPr marL="0" indent="0">
                        <a:buNone/>
                      </a:pPr>
                      <a:r>
                        <a:rPr lang="en-US" sz="1000" dirty="0">
                          <a:solidFill>
                            <a:srgbClr val="333F70"/>
                          </a:solidFill>
                          <a:latin typeface="Open Sans" pitchFamily="34" charset="0"/>
                          <a:ea typeface="Open Sans" pitchFamily="34" charset="-122"/>
                          <a:cs typeface="Open Sans" pitchFamily="34" charset="-120"/>
                        </a:rPr>
                        <a:t>1111 (−1)</a:t>
                      </a:r>
                      <a:endParaRPr lang="en-US" sz="1000" dirty="0">
                        <a:latin typeface="Open Sans" charset="0"/>
                        <a:ea typeface="Open Sans" charset="0"/>
                        <a:cs typeface="Open Sans" charset="0"/>
                      </a:endParaRPr>
                    </a:p>
                  </a:txBody>
                  <a:tcPr marL="129212" marR="129212"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tc>
                  <a:txBody>
                    <a:bodyPr/>
                    <a:lstStyle/>
                    <a:p>
                      <a:pPr marL="0" indent="0">
                        <a:buNone/>
                      </a:pPr>
                      <a:r>
                        <a:rPr lang="en-US" sz="1000" dirty="0">
                          <a:solidFill>
                            <a:srgbClr val="333F70"/>
                          </a:solidFill>
                          <a:latin typeface="Open Sans" pitchFamily="34" charset="0"/>
                          <a:ea typeface="Open Sans" pitchFamily="34" charset="-122"/>
                          <a:cs typeface="Open Sans" pitchFamily="34" charset="-120"/>
                        </a:rPr>
                        <a:t>0111 (+7)</a:t>
                      </a:r>
                      <a:endParaRPr lang="en-US" sz="1000" dirty="0">
                        <a:latin typeface="Open Sans" charset="0"/>
                        <a:ea typeface="Open Sans" charset="0"/>
                        <a:cs typeface="Open Sans" charset="0"/>
                      </a:endParaRPr>
                    </a:p>
                  </a:txBody>
                  <a:tcPr marL="129212" marR="129212"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tc>
                  <a:txBody>
                    <a:bodyPr/>
                    <a:lstStyle/>
                    <a:p>
                      <a:pPr marL="0" indent="0">
                        <a:buNone/>
                      </a:pPr>
                      <a:r>
                        <a:rPr lang="en-US" sz="1000" dirty="0">
                          <a:solidFill>
                            <a:srgbClr val="333F70"/>
                          </a:solidFill>
                          <a:latin typeface="Open Sans" pitchFamily="34" charset="0"/>
                          <a:ea typeface="Open Sans" pitchFamily="34" charset="-122"/>
                          <a:cs typeface="Open Sans" pitchFamily="34" charset="-120"/>
                        </a:rPr>
                        <a:t>1 ✓</a:t>
                      </a:r>
                      <a:endParaRPr lang="en-US" sz="1000" dirty="0">
                        <a:latin typeface="Open Sans" charset="0"/>
                        <a:ea typeface="Open Sans" charset="0"/>
                        <a:cs typeface="Open Sans" charset="0"/>
                      </a:endParaRPr>
                    </a:p>
                  </a:txBody>
                  <a:tcPr marL="129212" marR="129212" marT="6350" marB="6350" anchor="ctr">
                    <a:lnL w="12700" cap="flat" cmpd="sng" algn="ctr">
                      <a:solidFill>
                        <a:srgbClr val="BCDBD4"/>
                      </a:solidFill>
                      <a:prstDash val="solid"/>
                      <a:round/>
                      <a:headEnd type="none" w="med" len="med"/>
                      <a:tailEnd type="none" w="med" len="med"/>
                    </a:lnL>
                    <a:lnR w="12700" cap="flat" cmpd="sng" algn="ctr">
                      <a:solidFill>
                        <a:srgbClr val="BCDBD4"/>
                      </a:solidFill>
                      <a:prstDash val="solid"/>
                      <a:round/>
                      <a:headEnd type="none" w="med" len="med"/>
                      <a:tailEnd type="none" w="med" len="med"/>
                    </a:lnR>
                    <a:lnT w="12700" cap="flat" cmpd="sng" algn="ctr">
                      <a:solidFill>
                        <a:srgbClr val="BCDBD4"/>
                      </a:solidFill>
                      <a:prstDash val="solid"/>
                      <a:round/>
                      <a:headEnd type="none" w="med" len="med"/>
                      <a:tailEnd type="none" w="med" len="med"/>
                    </a:lnT>
                    <a:lnB w="12700" cap="flat" cmpd="sng" algn="ctr">
                      <a:solidFill>
                        <a:srgbClr val="BCDBD4"/>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7" name="Text 4"/>
          <p:cNvSpPr/>
          <p:nvPr/>
        </p:nvSpPr>
        <p:spPr>
          <a:xfrm>
            <a:off x="661475" y="3756521"/>
            <a:ext cx="6395183" cy="552152"/>
          </a:xfrm>
          <a:prstGeom prst="rect">
            <a:avLst/>
          </a:prstGeom>
          <a:noFill/>
          <a:ln/>
        </p:spPr>
        <p:txBody>
          <a:bodyPr wrap="square" lIns="0" tIns="0" rIns="0" bIns="0" rtlCol="0" anchor="t">
            <a:normAutofit/>
          </a:bodyPr>
          <a:lstStyle/>
          <a:p>
            <a:pPr marL="0" indent="0" algn="l">
              <a:lnSpc>
                <a:spcPct val="119000"/>
              </a:lnSpc>
              <a:buNone/>
            </a:pPr>
            <a:r>
              <a:rPr lang="en-US" sz="1000" dirty="0">
                <a:solidFill>
                  <a:srgbClr val="333F70"/>
                </a:solidFill>
                <a:latin typeface="Open Sans" pitchFamily="34" charset="0"/>
                <a:ea typeface="Open Sans" pitchFamily="34" charset="-122"/>
                <a:cs typeface="Open Sans" pitchFamily="34" charset="-120"/>
              </a:rPr>
              <a:t>All test cases produced results matching mathematically expected values. The overflow flag was correctly asserted in all out-of-range cases and de-asserted for all valid results, confirming correct implementation of the OVF = Cin,3 XOR Cout,3 logic.</a:t>
            </a:r>
            <a:endParaRPr lang="en-US" sz="1000" dirty="0"/>
          </a:p>
        </p:txBody>
      </p:sp>
      <p:sp>
        <p:nvSpPr>
          <p:cNvPr id="8" name="Text 5"/>
          <p:cNvSpPr/>
          <p:nvPr/>
        </p:nvSpPr>
        <p:spPr>
          <a:xfrm>
            <a:off x="7378119" y="1376361"/>
            <a:ext cx="4439094" cy="374765"/>
          </a:xfrm>
          <a:prstGeom prst="rect">
            <a:avLst/>
          </a:prstGeom>
          <a:noFill/>
          <a:ln/>
        </p:spPr>
        <p:txBody>
          <a:bodyPr wrap="none" lIns="0" tIns="0" rIns="0" bIns="0" rtlCol="0" anchor="t"/>
          <a:lstStyle/>
          <a:p>
            <a:pPr marL="0" indent="0" algn="l">
              <a:lnSpc>
                <a:spcPct val="104000"/>
              </a:lnSpc>
              <a:buNone/>
            </a:pPr>
            <a:r>
              <a:rPr lang="en-US" sz="1250" b="1" dirty="0">
                <a:solidFill>
                  <a:srgbClr val="333F70"/>
                </a:solidFill>
                <a:latin typeface="Unbounded Bold" pitchFamily="34" charset="0"/>
                <a:ea typeface="Unbounded Bold" pitchFamily="34" charset="-122"/>
                <a:cs typeface="Unbounded Bold" pitchFamily="34" charset="-120"/>
              </a:rPr>
              <a:t>Key Findings</a:t>
            </a:r>
            <a:endParaRPr lang="en-US" sz="1250" dirty="0"/>
          </a:p>
        </p:txBody>
      </p:sp>
      <p:pic>
        <p:nvPicPr>
          <p:cNvPr id="9"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359068" y="1672729"/>
            <a:ext cx="7753679" cy="1316007"/>
          </a:xfrm>
          <a:prstGeom prst="rect">
            <a:avLst/>
          </a:prstGeom>
        </p:spPr>
      </p:pic>
      <p:sp>
        <p:nvSpPr>
          <p:cNvPr id="6" name="Text 6"/>
          <p:cNvSpPr/>
          <p:nvPr/>
        </p:nvSpPr>
        <p:spPr>
          <a:xfrm>
            <a:off x="7545396" y="1691778"/>
            <a:ext cx="4260523" cy="374765"/>
          </a:xfrm>
          <a:prstGeom prst="rect">
            <a:avLst/>
          </a:prstGeom>
          <a:noFill/>
          <a:ln/>
        </p:spPr>
        <p:txBody>
          <a:bodyPr wrap="none" lIns="0" tIns="0" rIns="0" bIns="0" rtlCol="0" anchor="t"/>
          <a:lstStyle/>
          <a:p>
            <a:pPr marL="0" indent="0" algn="l">
              <a:lnSpc>
                <a:spcPct val="104000"/>
              </a:lnSpc>
              <a:buNone/>
            </a:pPr>
            <a:r>
              <a:rPr lang="en-US" sz="1250" b="1" dirty="0">
                <a:solidFill>
                  <a:srgbClr val="333F70"/>
                </a:solidFill>
                <a:latin typeface="Unbounded Bold" pitchFamily="34" charset="0"/>
                <a:ea typeface="Unbounded Bold" pitchFamily="34" charset="-122"/>
                <a:cs typeface="Unbounded Bold" pitchFamily="34" charset="-120"/>
              </a:rPr>
              <a:t>Full Adder Verification</a:t>
            </a:r>
            <a:endParaRPr lang="en-US" sz="1250" dirty="0"/>
          </a:p>
        </p:txBody>
      </p:sp>
      <p:sp>
        <p:nvSpPr>
          <p:cNvPr id="11" name="Text 7"/>
          <p:cNvSpPr/>
          <p:nvPr/>
        </p:nvSpPr>
        <p:spPr>
          <a:xfrm>
            <a:off x="7545396" y="1994594"/>
            <a:ext cx="4260523" cy="683235"/>
          </a:xfrm>
          <a:prstGeom prst="rect">
            <a:avLst/>
          </a:prstGeom>
          <a:noFill/>
          <a:ln/>
        </p:spPr>
        <p:txBody>
          <a:bodyPr wrap="square" lIns="0" tIns="0" rIns="0" bIns="0" rtlCol="0" anchor="t">
            <a:normAutofit/>
          </a:bodyPr>
          <a:lstStyle/>
          <a:p>
            <a:pPr marL="0" indent="0" algn="l">
              <a:lnSpc>
                <a:spcPct val="119000"/>
              </a:lnSpc>
              <a:buNone/>
            </a:pPr>
            <a:r>
              <a:rPr lang="en-US" sz="1000" dirty="0">
                <a:solidFill>
                  <a:srgbClr val="333F70"/>
                </a:solidFill>
                <a:latin typeface="Open Sans" pitchFamily="34" charset="0"/>
                <a:ea typeface="Open Sans" pitchFamily="34" charset="-122"/>
                <a:cs typeface="Open Sans" pitchFamily="34" charset="-120"/>
              </a:rPr>
              <a:t>Full adder truth table verified across all </a:t>
            </a:r>
            <a:r>
              <a:rPr lang="en-US" sz="1000" b="1" dirty="0">
                <a:solidFill>
                  <a:srgbClr val="333F70"/>
                </a:solidFill>
                <a:latin typeface="Open Sans Bold" pitchFamily="34" charset="0"/>
                <a:ea typeface="Open Sans Bold" pitchFamily="34" charset="-122"/>
                <a:cs typeface="Open Sans Bold" pitchFamily="34" charset="-120"/>
              </a:rPr>
              <a:t>8 input combinations</a:t>
            </a:r>
            <a:r>
              <a:rPr lang="en-US" sz="1000" dirty="0">
                <a:solidFill>
                  <a:srgbClr val="333F70"/>
                </a:solidFill>
                <a:latin typeface="Open Sans" pitchFamily="34" charset="0"/>
                <a:ea typeface="Open Sans" pitchFamily="34" charset="-122"/>
                <a:cs typeface="Open Sans" pitchFamily="34" charset="-120"/>
              </a:rPr>
              <a:t>; sum and carry outputs correct in all cases.</a:t>
            </a:r>
            <a:endParaRPr lang="en-US" sz="1000" dirty="0"/>
          </a:p>
        </p:txBody>
      </p:sp>
      <p:pic>
        <p:nvPicPr>
          <p:cNvPr id="12"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359068" y="2545457"/>
            <a:ext cx="7753679" cy="1316007"/>
          </a:xfrm>
          <a:prstGeom prst="rect">
            <a:avLst/>
          </a:prstGeom>
        </p:spPr>
      </p:pic>
      <p:sp>
        <p:nvSpPr>
          <p:cNvPr id="13" name="Text 8"/>
          <p:cNvSpPr/>
          <p:nvPr/>
        </p:nvSpPr>
        <p:spPr>
          <a:xfrm>
            <a:off x="7545396" y="2564506"/>
            <a:ext cx="4260523" cy="374765"/>
          </a:xfrm>
          <a:prstGeom prst="rect">
            <a:avLst/>
          </a:prstGeom>
          <a:noFill/>
          <a:ln/>
        </p:spPr>
        <p:txBody>
          <a:bodyPr wrap="none" lIns="0" tIns="0" rIns="0" bIns="0" rtlCol="0" anchor="t"/>
          <a:lstStyle/>
          <a:p>
            <a:pPr marL="0" indent="0" algn="l">
              <a:lnSpc>
                <a:spcPct val="104000"/>
              </a:lnSpc>
              <a:buNone/>
            </a:pPr>
            <a:r>
              <a:rPr lang="en-US" sz="1250" b="1" dirty="0">
                <a:solidFill>
                  <a:srgbClr val="333F70"/>
                </a:solidFill>
                <a:latin typeface="Unbounded Bold" pitchFamily="34" charset="0"/>
                <a:ea typeface="Unbounded Bold" pitchFamily="34" charset="-122"/>
                <a:cs typeface="Unbounded Bold" pitchFamily="34" charset="-120"/>
              </a:rPr>
              <a:t>Overflow Detection</a:t>
            </a:r>
            <a:endParaRPr lang="en-US" sz="1250" dirty="0"/>
          </a:p>
        </p:txBody>
      </p:sp>
      <p:sp>
        <p:nvSpPr>
          <p:cNvPr id="14" name="Text 9"/>
          <p:cNvSpPr/>
          <p:nvPr/>
        </p:nvSpPr>
        <p:spPr>
          <a:xfrm>
            <a:off x="7545396" y="2867322"/>
            <a:ext cx="4260523" cy="683235"/>
          </a:xfrm>
          <a:prstGeom prst="rect">
            <a:avLst/>
          </a:prstGeom>
          <a:noFill/>
          <a:ln/>
        </p:spPr>
        <p:txBody>
          <a:bodyPr wrap="square" lIns="0" tIns="0" rIns="0" bIns="0" rtlCol="0" anchor="t">
            <a:normAutofit/>
          </a:bodyPr>
          <a:lstStyle/>
          <a:p>
            <a:pPr marL="0" indent="0" algn="l">
              <a:lnSpc>
                <a:spcPct val="119000"/>
              </a:lnSpc>
              <a:buNone/>
            </a:pPr>
            <a:r>
              <a:rPr lang="en-US" sz="1000" dirty="0">
                <a:solidFill>
                  <a:srgbClr val="333F70"/>
                </a:solidFill>
                <a:latin typeface="Open Sans" pitchFamily="34" charset="0"/>
                <a:ea typeface="Open Sans" pitchFamily="34" charset="-122"/>
                <a:cs typeface="Open Sans" pitchFamily="34" charset="-120"/>
              </a:rPr>
              <a:t>OVF flag correctly identifies positive-overflow (two positive operands producing negative result) and negative-overflow cases.</a:t>
            </a:r>
            <a:endParaRPr lang="en-US" sz="1000" dirty="0"/>
          </a:p>
        </p:txBody>
      </p:sp>
      <p:pic>
        <p:nvPicPr>
          <p:cNvPr id="15"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59068" y="3418184"/>
            <a:ext cx="7753683" cy="1657625"/>
          </a:xfrm>
          <a:prstGeom prst="rect">
            <a:avLst/>
          </a:prstGeom>
        </p:spPr>
      </p:pic>
      <p:sp>
        <p:nvSpPr>
          <p:cNvPr id="16" name="Text 10"/>
          <p:cNvSpPr/>
          <p:nvPr/>
        </p:nvSpPr>
        <p:spPr>
          <a:xfrm>
            <a:off x="7545396" y="3437234"/>
            <a:ext cx="4260523" cy="374765"/>
          </a:xfrm>
          <a:prstGeom prst="rect">
            <a:avLst/>
          </a:prstGeom>
          <a:noFill/>
          <a:ln/>
        </p:spPr>
        <p:txBody>
          <a:bodyPr wrap="none" lIns="0" tIns="0" rIns="0" bIns="0" rtlCol="0" anchor="t"/>
          <a:lstStyle/>
          <a:p>
            <a:pPr marL="0" indent="0" algn="l">
              <a:lnSpc>
                <a:spcPct val="104000"/>
              </a:lnSpc>
              <a:buNone/>
            </a:pPr>
            <a:r>
              <a:rPr lang="en-US" sz="1250" b="1" dirty="0">
                <a:solidFill>
                  <a:srgbClr val="333F70"/>
                </a:solidFill>
                <a:latin typeface="Unbounded Bold" pitchFamily="34" charset="0"/>
                <a:ea typeface="Unbounded Bold" pitchFamily="34" charset="-122"/>
                <a:cs typeface="Unbounded Bold" pitchFamily="34" charset="-120"/>
              </a:rPr>
              <a:t>Observed Limitations</a:t>
            </a:r>
            <a:endParaRPr lang="en-US" sz="1250" dirty="0"/>
          </a:p>
        </p:txBody>
      </p:sp>
      <p:sp>
        <p:nvSpPr>
          <p:cNvPr id="17" name="Text 11"/>
          <p:cNvSpPr/>
          <p:nvPr/>
        </p:nvSpPr>
        <p:spPr>
          <a:xfrm>
            <a:off x="7545396" y="3740051"/>
            <a:ext cx="4260523" cy="1024850"/>
          </a:xfrm>
          <a:prstGeom prst="rect">
            <a:avLst/>
          </a:prstGeom>
          <a:noFill/>
          <a:ln/>
        </p:spPr>
        <p:txBody>
          <a:bodyPr wrap="square" lIns="0" tIns="0" rIns="0" bIns="0" rtlCol="0" anchor="t">
            <a:normAutofit/>
          </a:bodyPr>
          <a:lstStyle/>
          <a:p>
            <a:pPr marL="0" indent="0" algn="l">
              <a:lnSpc>
                <a:spcPct val="119000"/>
              </a:lnSpc>
              <a:buNone/>
            </a:pPr>
            <a:r>
              <a:rPr lang="en-US" sz="1000" dirty="0">
                <a:solidFill>
                  <a:srgbClr val="333F70"/>
                </a:solidFill>
                <a:latin typeface="Open Sans" pitchFamily="34" charset="0"/>
                <a:ea typeface="Open Sans" pitchFamily="34" charset="-122"/>
                <a:cs typeface="Open Sans" pitchFamily="34" charset="-120"/>
              </a:rPr>
              <a:t>Ripple-carry propagation delay grows linearly with bit width. Overflow detection assumes strict </a:t>
            </a:r>
            <a:r>
              <a:rPr lang="en-US" sz="1000" b="1" dirty="0">
                <a:solidFill>
                  <a:srgbClr val="333F70"/>
                </a:solidFill>
                <a:latin typeface="Open Sans Bold" pitchFamily="34" charset="0"/>
                <a:ea typeface="Open Sans Bold" pitchFamily="34" charset="-122"/>
                <a:cs typeface="Open Sans Bold" pitchFamily="34" charset="-120"/>
              </a:rPr>
              <a:t>two's complement interpretation</a:t>
            </a:r>
            <a:r>
              <a:rPr lang="en-US" sz="1000" dirty="0">
                <a:solidFill>
                  <a:srgbClr val="333F70"/>
                </a:solidFill>
                <a:latin typeface="Open Sans" pitchFamily="34" charset="0"/>
                <a:ea typeface="Open Sans" pitchFamily="34" charset="-122"/>
                <a:cs typeface="Open Sans" pitchFamily="34" charset="-120"/>
              </a:rPr>
              <a:t> of inputs.</a:t>
            </a:r>
            <a:endParaRPr lang="en-US" sz="1000" dirty="0"/>
          </a:p>
        </p:txBody>
      </p:sp>
      <p:pic>
        <p:nvPicPr>
          <p:cNvPr id="18"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59068" y="4474963"/>
            <a:ext cx="7753683" cy="1657625"/>
          </a:xfrm>
          <a:prstGeom prst="rect">
            <a:avLst/>
          </a:prstGeom>
        </p:spPr>
      </p:pic>
      <p:sp>
        <p:nvSpPr>
          <p:cNvPr id="19" name="Text 12"/>
          <p:cNvSpPr/>
          <p:nvPr/>
        </p:nvSpPr>
        <p:spPr>
          <a:xfrm>
            <a:off x="7545396" y="4494013"/>
            <a:ext cx="4260523" cy="374765"/>
          </a:xfrm>
          <a:prstGeom prst="rect">
            <a:avLst/>
          </a:prstGeom>
          <a:noFill/>
          <a:ln/>
        </p:spPr>
        <p:txBody>
          <a:bodyPr wrap="none" lIns="0" tIns="0" rIns="0" bIns="0" rtlCol="0" anchor="t"/>
          <a:lstStyle/>
          <a:p>
            <a:pPr marL="0" indent="0" algn="l">
              <a:lnSpc>
                <a:spcPct val="104000"/>
              </a:lnSpc>
              <a:buNone/>
            </a:pPr>
            <a:r>
              <a:rPr lang="en-US" sz="1250" b="1" dirty="0">
                <a:solidFill>
                  <a:srgbClr val="333F70"/>
                </a:solidFill>
                <a:latin typeface="Unbounded Bold" pitchFamily="34" charset="0"/>
                <a:ea typeface="Unbounded Bold" pitchFamily="34" charset="-122"/>
                <a:cs typeface="Unbounded Bold" pitchFamily="34" charset="-120"/>
              </a:rPr>
              <a:t>Performance Notes</a:t>
            </a:r>
            <a:endParaRPr lang="en-US" sz="1250" dirty="0"/>
          </a:p>
        </p:txBody>
      </p:sp>
      <p:sp>
        <p:nvSpPr>
          <p:cNvPr id="20" name="Text 13"/>
          <p:cNvSpPr/>
          <p:nvPr/>
        </p:nvSpPr>
        <p:spPr>
          <a:xfrm>
            <a:off x="7545396" y="4796830"/>
            <a:ext cx="4260523" cy="1024850"/>
          </a:xfrm>
          <a:prstGeom prst="rect">
            <a:avLst/>
          </a:prstGeom>
          <a:noFill/>
          <a:ln/>
        </p:spPr>
        <p:txBody>
          <a:bodyPr wrap="square" lIns="0" tIns="0" rIns="0" bIns="0" rtlCol="0" anchor="t">
            <a:normAutofit/>
          </a:bodyPr>
          <a:lstStyle/>
          <a:p>
            <a:pPr marL="0" indent="0" algn="l">
              <a:lnSpc>
                <a:spcPct val="119000"/>
              </a:lnSpc>
              <a:buNone/>
            </a:pPr>
            <a:r>
              <a:rPr lang="en-US" sz="1000" dirty="0">
                <a:solidFill>
                  <a:srgbClr val="333F70"/>
                </a:solidFill>
                <a:latin typeface="Open Sans" pitchFamily="34" charset="0"/>
                <a:ea typeface="Open Sans" pitchFamily="34" charset="-122"/>
                <a:cs typeface="Open Sans" pitchFamily="34" charset="-120"/>
              </a:rPr>
              <a:t>Gate count and propagation delay are appropriate for educational demonstration. Circuit is not optimized for production speed or area.</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661475" y="490537"/>
            <a:ext cx="770216" cy="227806"/>
          </a:xfrm>
          <a:prstGeom prst="roundRect">
            <a:avLst>
              <a:gd name="adj" fmla="val 22107"/>
            </a:avLst>
          </a:prstGeom>
          <a:solidFill>
            <a:srgbClr val="D6F5EE"/>
          </a:solidFill>
          <a:ln/>
        </p:spPr>
      </p:sp>
      <p:sp>
        <p:nvSpPr>
          <p:cNvPr id="3" name="Text 1"/>
          <p:cNvSpPr/>
          <p:nvPr/>
        </p:nvSpPr>
        <p:spPr>
          <a:xfrm>
            <a:off x="751365" y="535484"/>
            <a:ext cx="1200021" cy="137914"/>
          </a:xfrm>
          <a:prstGeom prst="rect">
            <a:avLst/>
          </a:prstGeom>
          <a:noFill/>
          <a:ln/>
        </p:spPr>
        <p:txBody>
          <a:bodyPr wrap="none" lIns="0" tIns="0" rIns="0" bIns="0" rtlCol="0" anchor="t"/>
          <a:lstStyle/>
          <a:p>
            <a:pPr marL="0" indent="0" algn="l">
              <a:lnSpc>
                <a:spcPct val="96000"/>
              </a:lnSpc>
              <a:buNone/>
            </a:pPr>
            <a:r>
              <a:rPr lang="en-US" sz="900" dirty="0">
                <a:solidFill>
                  <a:srgbClr val="333F70"/>
                </a:solidFill>
                <a:latin typeface="Open Sans" pitchFamily="34" charset="0"/>
                <a:ea typeface="Open Sans" pitchFamily="34" charset="-122"/>
                <a:cs typeface="Open Sans" pitchFamily="34" charset="-120"/>
              </a:rPr>
              <a:t>SECTION 9</a:t>
            </a:r>
            <a:endParaRPr lang="en-US" sz="900" dirty="0"/>
          </a:p>
        </p:txBody>
      </p:sp>
      <p:sp>
        <p:nvSpPr>
          <p:cNvPr id="4" name="Text 2"/>
          <p:cNvSpPr/>
          <p:nvPr/>
        </p:nvSpPr>
        <p:spPr>
          <a:xfrm>
            <a:off x="661475" y="772616"/>
            <a:ext cx="10868745" cy="468412"/>
          </a:xfrm>
          <a:prstGeom prst="rect">
            <a:avLst/>
          </a:prstGeom>
          <a:noFill/>
          <a:ln/>
        </p:spPr>
        <p:txBody>
          <a:bodyPr wrap="none" lIns="0" tIns="0" rIns="0" bIns="0" rtlCol="0" anchor="t"/>
          <a:lstStyle/>
          <a:p>
            <a:pPr marL="0" indent="0" algn="l">
              <a:lnSpc>
                <a:spcPct val="104000"/>
              </a:lnSpc>
              <a:buNone/>
            </a:pPr>
            <a:r>
              <a:rPr lang="en-US" sz="2950" b="1" dirty="0">
                <a:solidFill>
                  <a:srgbClr val="333F70"/>
                </a:solidFill>
                <a:latin typeface="Unbounded Bold" pitchFamily="34" charset="0"/>
                <a:ea typeface="Unbounded Bold" pitchFamily="34" charset="-122"/>
                <a:cs typeface="Unbounded Bold" pitchFamily="34" charset="-120"/>
              </a:rPr>
              <a:t>Conclusion</a:t>
            </a:r>
            <a:endParaRPr lang="en-US" sz="2950" dirty="0"/>
          </a:p>
        </p:txBody>
      </p:sp>
      <p:sp>
        <p:nvSpPr>
          <p:cNvPr id="5" name="Shape 3"/>
          <p:cNvSpPr/>
          <p:nvPr/>
        </p:nvSpPr>
        <p:spPr>
          <a:xfrm>
            <a:off x="553528" y="1444724"/>
            <a:ext cx="5467412" cy="4922639"/>
          </a:xfrm>
          <a:prstGeom prst="roundRect">
            <a:avLst>
              <a:gd name="adj" fmla="val 2192"/>
            </a:avLst>
          </a:prstGeom>
          <a:solidFill>
            <a:srgbClr val="26A688"/>
          </a:solidFill>
          <a:ln/>
        </p:spPr>
      </p:sp>
      <p:sp>
        <p:nvSpPr>
          <p:cNvPr id="6" name="Text 4"/>
          <p:cNvSpPr/>
          <p:nvPr/>
        </p:nvSpPr>
        <p:spPr>
          <a:xfrm>
            <a:off x="703344" y="1580555"/>
            <a:ext cx="5167779" cy="234156"/>
          </a:xfrm>
          <a:prstGeom prst="rect">
            <a:avLst/>
          </a:prstGeom>
          <a:noFill/>
          <a:ln/>
        </p:spPr>
        <p:txBody>
          <a:bodyPr wrap="none" lIns="0" tIns="0" rIns="0" bIns="0" rtlCol="0" anchor="t"/>
          <a:lstStyle/>
          <a:p>
            <a:pPr marL="0" indent="0" algn="l">
              <a:lnSpc>
                <a:spcPct val="104000"/>
              </a:lnSpc>
              <a:buNone/>
            </a:pPr>
            <a:r>
              <a:rPr lang="en-US" sz="1450" b="1" dirty="0">
                <a:solidFill>
                  <a:srgbClr val="000000"/>
                </a:solidFill>
                <a:latin typeface="Unbounded Bold" pitchFamily="34" charset="0"/>
                <a:ea typeface="Unbounded Bold" pitchFamily="34" charset="-122"/>
                <a:cs typeface="Unbounded Bold" pitchFamily="34" charset="-120"/>
              </a:rPr>
              <a:t>Design Achievements</a:t>
            </a:r>
            <a:endParaRPr lang="en-US" sz="1450" dirty="0"/>
          </a:p>
        </p:txBody>
      </p:sp>
      <p:sp>
        <p:nvSpPr>
          <p:cNvPr id="7" name="Text 5"/>
          <p:cNvSpPr/>
          <p:nvPr/>
        </p:nvSpPr>
        <p:spPr>
          <a:xfrm>
            <a:off x="703344" y="1950541"/>
            <a:ext cx="5167779" cy="685800"/>
          </a:xfrm>
          <a:prstGeom prst="rect">
            <a:avLst/>
          </a:prstGeom>
          <a:noFill/>
          <a:ln/>
        </p:spPr>
        <p:txBody>
          <a:bodyPr wrap="square" lIns="0" tIns="0" rIns="0" bIns="0" rtlCol="0" anchor="t">
            <a:normAutofit/>
          </a:bodyPr>
          <a:lstStyle/>
          <a:p>
            <a:pPr marL="0" indent="0" algn="l">
              <a:lnSpc>
                <a:spcPct val="127000"/>
              </a:lnSpc>
              <a:buNone/>
            </a:pPr>
            <a:r>
              <a:rPr lang="en-US" sz="1150" dirty="0">
                <a:solidFill>
                  <a:srgbClr val="000000"/>
                </a:solidFill>
                <a:latin typeface="Open Sans" pitchFamily="34" charset="0"/>
                <a:ea typeface="Open Sans" pitchFamily="34" charset="-122"/>
                <a:cs typeface="Open Sans" pitchFamily="34" charset="-120"/>
              </a:rPr>
              <a:t>A complete 4-bit binary arithmetic calculator was successfully </a:t>
            </a:r>
            <a:r>
              <a:rPr lang="en-US" sz="1150" b="1" dirty="0">
                <a:solidFill>
                  <a:srgbClr val="000000"/>
                </a:solidFill>
                <a:latin typeface="Open Sans Bold" pitchFamily="34" charset="0"/>
                <a:ea typeface="Open Sans Bold" pitchFamily="34" charset="-122"/>
                <a:cs typeface="Open Sans Bold" pitchFamily="34" charset="-120"/>
              </a:rPr>
              <a:t>designed, implemented, and simulated</a:t>
            </a:r>
            <a:r>
              <a:rPr lang="en-US" sz="1150" dirty="0">
                <a:solidFill>
                  <a:srgbClr val="000000"/>
                </a:solidFill>
                <a:latin typeface="Open Sans" pitchFamily="34" charset="0"/>
                <a:ea typeface="Open Sans" pitchFamily="34" charset="-122"/>
                <a:cs typeface="Open Sans" pitchFamily="34" charset="-120"/>
              </a:rPr>
              <a:t> from fundamental logic gates. All stated objectives were met in full.</a:t>
            </a:r>
            <a:endParaRPr lang="en-US" sz="1150" dirty="0"/>
          </a:p>
        </p:txBody>
      </p:sp>
      <p:sp>
        <p:nvSpPr>
          <p:cNvPr id="8" name="Text 6"/>
          <p:cNvSpPr/>
          <p:nvPr/>
        </p:nvSpPr>
        <p:spPr>
          <a:xfrm>
            <a:off x="703344" y="2758579"/>
            <a:ext cx="5167779" cy="1056977"/>
          </a:xfrm>
          <a:prstGeom prst="rect">
            <a:avLst/>
          </a:prstGeom>
          <a:noFill/>
          <a:ln/>
        </p:spPr>
        <p:txBody>
          <a:bodyPr wrap="square" lIns="0" tIns="0" rIns="0" bIns="0" rtlCol="0" anchor="t">
            <a:normAutofit/>
          </a:bodyPr>
          <a:lstStyle/>
          <a:p>
            <a:pPr marL="233680" indent="-233680" algn="l">
              <a:lnSpc>
                <a:spcPct val="127000"/>
              </a:lnSpc>
              <a:buSzPct val="100000"/>
              <a:buChar char="•"/>
            </a:pPr>
            <a:r>
              <a:rPr lang="en-US" sz="1150" dirty="0">
                <a:solidFill>
                  <a:srgbClr val="000000"/>
                </a:solidFill>
                <a:latin typeface="Open Sans" pitchFamily="34" charset="0"/>
                <a:ea typeface="Open Sans" pitchFamily="34" charset="-122"/>
                <a:cs typeface="Open Sans" pitchFamily="34" charset="-120"/>
              </a:rPr>
              <a:t>Adder/subtractor circuit constructed at gate level</a:t>
            </a:r>
            <a:endParaRPr lang="en-US" sz="1150" dirty="0"/>
          </a:p>
          <a:p>
            <a:pPr marL="233680" indent="-233680" algn="l">
              <a:lnSpc>
                <a:spcPct val="127000"/>
              </a:lnSpc>
              <a:buSzPct val="100000"/>
              <a:buChar char="•"/>
            </a:pPr>
            <a:r>
              <a:rPr lang="en-US" sz="1150" dirty="0">
                <a:solidFill>
                  <a:srgbClr val="000000"/>
                </a:solidFill>
                <a:latin typeface="Open Sans" pitchFamily="34" charset="0"/>
                <a:ea typeface="Open Sans" pitchFamily="34" charset="-122"/>
                <a:cs typeface="Open Sans" pitchFamily="34" charset="-120"/>
              </a:rPr>
              <a:t>Two's complement signed arithmetic implemented</a:t>
            </a:r>
            <a:endParaRPr lang="en-US" sz="1150" dirty="0"/>
          </a:p>
          <a:p>
            <a:pPr marL="233680" indent="-233680" algn="l">
              <a:lnSpc>
                <a:spcPct val="127000"/>
              </a:lnSpc>
              <a:buSzPct val="100000"/>
              <a:buChar char="•"/>
            </a:pPr>
            <a:r>
              <a:rPr lang="en-US" sz="1150" dirty="0">
                <a:solidFill>
                  <a:srgbClr val="000000"/>
                </a:solidFill>
                <a:latin typeface="Open Sans" pitchFamily="34" charset="0"/>
                <a:ea typeface="Open Sans" pitchFamily="34" charset="-122"/>
                <a:cs typeface="Open Sans" pitchFamily="34" charset="-120"/>
              </a:rPr>
              <a:t>Overflow detection logic designed and verified</a:t>
            </a:r>
            <a:endParaRPr lang="en-US" sz="1150" dirty="0"/>
          </a:p>
          <a:p>
            <a:pPr marL="233680" indent="-233680" algn="l">
              <a:lnSpc>
                <a:spcPct val="127000"/>
              </a:lnSpc>
              <a:buSzPct val="100000"/>
              <a:buChar char="•"/>
            </a:pPr>
            <a:r>
              <a:rPr lang="en-US" sz="1150" dirty="0">
                <a:solidFill>
                  <a:srgbClr val="000000"/>
                </a:solidFill>
                <a:latin typeface="Open Sans" pitchFamily="34" charset="0"/>
                <a:ea typeface="Open Sans" pitchFamily="34" charset="-122"/>
                <a:cs typeface="Open Sans" pitchFamily="34" charset="-120"/>
              </a:rPr>
              <a:t>Circuit simulated and all test cases validated</a:t>
            </a:r>
            <a:endParaRPr lang="en-US" sz="1150" dirty="0"/>
          </a:p>
        </p:txBody>
      </p:sp>
      <p:sp>
        <p:nvSpPr>
          <p:cNvPr id="9" name="Text 7"/>
          <p:cNvSpPr/>
          <p:nvPr/>
        </p:nvSpPr>
        <p:spPr>
          <a:xfrm>
            <a:off x="703344" y="3951387"/>
            <a:ext cx="5167779" cy="234156"/>
          </a:xfrm>
          <a:prstGeom prst="rect">
            <a:avLst/>
          </a:prstGeom>
          <a:noFill/>
          <a:ln/>
        </p:spPr>
        <p:txBody>
          <a:bodyPr wrap="none" lIns="0" tIns="0" rIns="0" bIns="0" rtlCol="0" anchor="t"/>
          <a:lstStyle/>
          <a:p>
            <a:pPr marL="0" indent="0" algn="l">
              <a:lnSpc>
                <a:spcPct val="104000"/>
              </a:lnSpc>
              <a:buNone/>
            </a:pPr>
            <a:r>
              <a:rPr lang="en-US" sz="1450" b="1" dirty="0">
                <a:solidFill>
                  <a:srgbClr val="000000"/>
                </a:solidFill>
                <a:latin typeface="Unbounded Bold" pitchFamily="34" charset="0"/>
                <a:ea typeface="Unbounded Bold" pitchFamily="34" charset="-122"/>
                <a:cs typeface="Unbounded Bold" pitchFamily="34" charset="-120"/>
              </a:rPr>
              <a:t>Key Learning</a:t>
            </a:r>
            <a:endParaRPr lang="en-US" sz="1450" dirty="0"/>
          </a:p>
        </p:txBody>
      </p:sp>
      <p:sp>
        <p:nvSpPr>
          <p:cNvPr id="10" name="Text 8"/>
          <p:cNvSpPr/>
          <p:nvPr/>
        </p:nvSpPr>
        <p:spPr>
          <a:xfrm>
            <a:off x="703344" y="4321373"/>
            <a:ext cx="5167779" cy="914400"/>
          </a:xfrm>
          <a:prstGeom prst="rect">
            <a:avLst/>
          </a:prstGeom>
          <a:noFill/>
          <a:ln/>
        </p:spPr>
        <p:txBody>
          <a:bodyPr wrap="square" lIns="0" tIns="0" rIns="0" bIns="0" rtlCol="0" anchor="t">
            <a:normAutofit/>
          </a:bodyPr>
          <a:lstStyle/>
          <a:p>
            <a:pPr marL="0" indent="0" algn="l">
              <a:lnSpc>
                <a:spcPct val="127000"/>
              </a:lnSpc>
              <a:buNone/>
            </a:pPr>
            <a:r>
              <a:rPr lang="en-US" sz="1150" dirty="0">
                <a:solidFill>
                  <a:srgbClr val="000000"/>
                </a:solidFill>
                <a:latin typeface="Open Sans" pitchFamily="34" charset="0"/>
                <a:ea typeface="Open Sans" pitchFamily="34" charset="-122"/>
                <a:cs typeface="Open Sans" pitchFamily="34" charset="-120"/>
              </a:rPr>
              <a:t>The project concretely demonstrated how </a:t>
            </a:r>
            <a:r>
              <a:rPr lang="en-US" sz="1150" b="1" dirty="0">
                <a:solidFill>
                  <a:srgbClr val="000000"/>
                </a:solidFill>
                <a:latin typeface="Open Sans Bold" pitchFamily="34" charset="0"/>
                <a:ea typeface="Open Sans Bold" pitchFamily="34" charset="-122"/>
                <a:cs typeface="Open Sans Bold" pitchFamily="34" charset="-120"/>
              </a:rPr>
              <a:t>complex arithmetic behavior emerges from simple Boolean logic</a:t>
            </a:r>
            <a:r>
              <a:rPr lang="en-US" sz="1150" dirty="0">
                <a:solidFill>
                  <a:srgbClr val="000000"/>
                </a:solidFill>
                <a:latin typeface="Open Sans" pitchFamily="34" charset="0"/>
                <a:ea typeface="Open Sans" pitchFamily="34" charset="-122"/>
                <a:cs typeface="Open Sans" pitchFamily="34" charset="-120"/>
              </a:rPr>
              <a:t>, bridging the gap between Boolean algebra theory and physical gate-level circuit practice — a core competency in digital systems engineering.</a:t>
            </a:r>
            <a:endParaRPr lang="en-US" sz="1150" dirty="0"/>
          </a:p>
        </p:txBody>
      </p:sp>
      <p:sp>
        <p:nvSpPr>
          <p:cNvPr id="11" name="Text 9"/>
          <p:cNvSpPr/>
          <p:nvPr/>
        </p:nvSpPr>
        <p:spPr>
          <a:xfrm>
            <a:off x="6285053" y="1580555"/>
            <a:ext cx="5251517" cy="234156"/>
          </a:xfrm>
          <a:prstGeom prst="rect">
            <a:avLst/>
          </a:prstGeom>
          <a:noFill/>
          <a:ln/>
        </p:spPr>
        <p:txBody>
          <a:bodyPr wrap="none" lIns="0" tIns="0" rIns="0" bIns="0" rtlCol="0" anchor="t"/>
          <a:lstStyle/>
          <a:p>
            <a:pPr marL="0" indent="0" algn="l">
              <a:lnSpc>
                <a:spcPct val="104000"/>
              </a:lnSpc>
              <a:buNone/>
            </a:pPr>
            <a:r>
              <a:rPr lang="en-US" sz="1450" b="1" dirty="0">
                <a:solidFill>
                  <a:srgbClr val="333F70"/>
                </a:solidFill>
                <a:latin typeface="Unbounded Bold" pitchFamily="34" charset="0"/>
                <a:ea typeface="Unbounded Bold" pitchFamily="34" charset="-122"/>
                <a:cs typeface="Unbounded Bold" pitchFamily="34" charset="-120"/>
              </a:rPr>
              <a:t>Future Extensions</a:t>
            </a:r>
            <a:endParaRPr lang="en-US" sz="1450" dirty="0"/>
          </a:p>
        </p:txBody>
      </p:sp>
      <p:pic>
        <p:nvPicPr>
          <p:cNvPr id="1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41209" y="1972121"/>
            <a:ext cx="224824" cy="224830"/>
          </a:xfrm>
          <a:prstGeom prst="rect">
            <a:avLst/>
          </a:prstGeom>
        </p:spPr>
      </p:pic>
      <p:sp>
        <p:nvSpPr>
          <p:cNvPr id="13" name="Text 10"/>
          <p:cNvSpPr/>
          <p:nvPr/>
        </p:nvSpPr>
        <p:spPr>
          <a:xfrm>
            <a:off x="6772106" y="1967508"/>
            <a:ext cx="2053777" cy="234156"/>
          </a:xfrm>
          <a:prstGeom prst="rect">
            <a:avLst/>
          </a:prstGeom>
          <a:noFill/>
          <a:ln/>
        </p:spPr>
        <p:txBody>
          <a:bodyPr wrap="none" lIns="0" tIns="0" rIns="0" bIns="0" rtlCol="0" anchor="t"/>
          <a:lstStyle/>
          <a:p>
            <a:pPr marL="0" indent="0" algn="l">
              <a:lnSpc>
                <a:spcPct val="104000"/>
              </a:lnSpc>
              <a:buNone/>
            </a:pPr>
            <a:r>
              <a:rPr lang="en-US" sz="1450" b="1" dirty="0">
                <a:solidFill>
                  <a:srgbClr val="333F70"/>
                </a:solidFill>
                <a:latin typeface="Unbounded Bold" pitchFamily="34" charset="0"/>
                <a:ea typeface="Unbounded Bold" pitchFamily="34" charset="-122"/>
                <a:cs typeface="Unbounded Bold" pitchFamily="34" charset="-120"/>
              </a:rPr>
              <a:t>Multiplication</a:t>
            </a:r>
            <a:endParaRPr lang="en-US" sz="1450" dirty="0"/>
          </a:p>
        </p:txBody>
      </p:sp>
      <p:sp>
        <p:nvSpPr>
          <p:cNvPr id="14" name="Text 11"/>
          <p:cNvSpPr/>
          <p:nvPr/>
        </p:nvSpPr>
        <p:spPr>
          <a:xfrm>
            <a:off x="6772106" y="2337495"/>
            <a:ext cx="2053777" cy="914400"/>
          </a:xfrm>
          <a:prstGeom prst="rect">
            <a:avLst/>
          </a:prstGeom>
          <a:noFill/>
          <a:ln/>
        </p:spPr>
        <p:txBody>
          <a:bodyPr wrap="square" lIns="0" tIns="0" rIns="0" bIns="0" rtlCol="0" anchor="t">
            <a:normAutofit/>
          </a:bodyPr>
          <a:lstStyle/>
          <a:p>
            <a:pPr marL="0" indent="0" algn="l">
              <a:lnSpc>
                <a:spcPct val="127000"/>
              </a:lnSpc>
              <a:buNone/>
            </a:pPr>
            <a:r>
              <a:rPr lang="en-US" sz="1150" dirty="0">
                <a:solidFill>
                  <a:srgbClr val="333F70"/>
                </a:solidFill>
                <a:latin typeface="Open Sans" pitchFamily="34" charset="0"/>
                <a:ea typeface="Open Sans" pitchFamily="34" charset="-122"/>
                <a:cs typeface="Open Sans" pitchFamily="34" charset="-120"/>
              </a:rPr>
              <a:t>Implement 4-bit multiplication using repeated addition or array multiplier structures.</a:t>
            </a:r>
            <a:endParaRPr lang="en-US" sz="1150" dirty="0"/>
          </a:p>
        </p:txBody>
      </p:sp>
      <p:pic>
        <p:nvPicPr>
          <p:cNvPr id="15"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051798" y="1972121"/>
            <a:ext cx="224824" cy="224830"/>
          </a:xfrm>
          <a:prstGeom prst="rect">
            <a:avLst/>
          </a:prstGeom>
        </p:spPr>
      </p:pic>
      <p:sp>
        <p:nvSpPr>
          <p:cNvPr id="16" name="Text 12"/>
          <p:cNvSpPr/>
          <p:nvPr/>
        </p:nvSpPr>
        <p:spPr>
          <a:xfrm>
            <a:off x="9482694" y="1967508"/>
            <a:ext cx="2053876" cy="234156"/>
          </a:xfrm>
          <a:prstGeom prst="rect">
            <a:avLst/>
          </a:prstGeom>
          <a:noFill/>
          <a:ln/>
        </p:spPr>
        <p:txBody>
          <a:bodyPr wrap="none" lIns="0" tIns="0" rIns="0" bIns="0" rtlCol="0" anchor="t"/>
          <a:lstStyle/>
          <a:p>
            <a:pPr marL="0" indent="0" algn="l">
              <a:lnSpc>
                <a:spcPct val="104000"/>
              </a:lnSpc>
              <a:buNone/>
            </a:pPr>
            <a:r>
              <a:rPr lang="en-US" sz="1450" b="1" dirty="0">
                <a:solidFill>
                  <a:srgbClr val="333F70"/>
                </a:solidFill>
                <a:latin typeface="Unbounded Bold" pitchFamily="34" charset="0"/>
                <a:ea typeface="Unbounded Bold" pitchFamily="34" charset="-122"/>
                <a:cs typeface="Unbounded Bold" pitchFamily="34" charset="-120"/>
              </a:rPr>
              <a:t>Full ALU</a:t>
            </a:r>
            <a:endParaRPr lang="en-US" sz="1450" dirty="0"/>
          </a:p>
        </p:txBody>
      </p:sp>
      <p:sp>
        <p:nvSpPr>
          <p:cNvPr id="17" name="Text 13"/>
          <p:cNvSpPr/>
          <p:nvPr/>
        </p:nvSpPr>
        <p:spPr>
          <a:xfrm>
            <a:off x="9482694" y="2337495"/>
            <a:ext cx="2053876" cy="1143000"/>
          </a:xfrm>
          <a:prstGeom prst="rect">
            <a:avLst/>
          </a:prstGeom>
          <a:noFill/>
          <a:ln/>
        </p:spPr>
        <p:txBody>
          <a:bodyPr wrap="square" lIns="0" tIns="0" rIns="0" bIns="0" rtlCol="0" anchor="t">
            <a:normAutofit/>
          </a:bodyPr>
          <a:lstStyle/>
          <a:p>
            <a:pPr marL="0" indent="0" algn="l">
              <a:lnSpc>
                <a:spcPct val="127000"/>
              </a:lnSpc>
              <a:buNone/>
            </a:pPr>
            <a:r>
              <a:rPr lang="en-US" sz="1150" dirty="0">
                <a:solidFill>
                  <a:srgbClr val="333F70"/>
                </a:solidFill>
                <a:latin typeface="Open Sans" pitchFamily="34" charset="0"/>
                <a:ea typeface="Open Sans" pitchFamily="34" charset="-122"/>
                <a:cs typeface="Open Sans" pitchFamily="34" charset="-120"/>
              </a:rPr>
              <a:t>Extend to a complete ALU supporting bitwise AND, OR, XOR, and shift operations via operation-select multiplexing.</a:t>
            </a:r>
            <a:endParaRPr lang="en-US" sz="1150" dirty="0"/>
          </a:p>
        </p:txBody>
      </p:sp>
      <p:pic>
        <p:nvPicPr>
          <p:cNvPr id="18"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41209" y="3756769"/>
            <a:ext cx="224824" cy="224830"/>
          </a:xfrm>
          <a:prstGeom prst="rect">
            <a:avLst/>
          </a:prstGeom>
        </p:spPr>
      </p:pic>
      <p:sp>
        <p:nvSpPr>
          <p:cNvPr id="19" name="Text 14"/>
          <p:cNvSpPr/>
          <p:nvPr/>
        </p:nvSpPr>
        <p:spPr>
          <a:xfrm>
            <a:off x="6772106" y="3752155"/>
            <a:ext cx="4764464" cy="234156"/>
          </a:xfrm>
          <a:prstGeom prst="rect">
            <a:avLst/>
          </a:prstGeom>
          <a:noFill/>
          <a:ln/>
        </p:spPr>
        <p:txBody>
          <a:bodyPr wrap="none" lIns="0" tIns="0" rIns="0" bIns="0" rtlCol="0" anchor="t"/>
          <a:lstStyle/>
          <a:p>
            <a:pPr marL="0" indent="0" algn="l">
              <a:lnSpc>
                <a:spcPct val="104000"/>
              </a:lnSpc>
              <a:buNone/>
            </a:pPr>
            <a:r>
              <a:rPr lang="en-US" sz="1450" b="1" dirty="0">
                <a:solidFill>
                  <a:srgbClr val="333F70"/>
                </a:solidFill>
                <a:latin typeface="Unbounded Bold" pitchFamily="34" charset="0"/>
                <a:ea typeface="Unbounded Bold" pitchFamily="34" charset="-122"/>
                <a:cs typeface="Unbounded Bold" pitchFamily="34" charset="-120"/>
              </a:rPr>
              <a:t>Wider Datapaths</a:t>
            </a:r>
            <a:endParaRPr lang="en-US" sz="1450" dirty="0"/>
          </a:p>
        </p:txBody>
      </p:sp>
      <p:sp>
        <p:nvSpPr>
          <p:cNvPr id="20" name="Text 15"/>
          <p:cNvSpPr/>
          <p:nvPr/>
        </p:nvSpPr>
        <p:spPr>
          <a:xfrm>
            <a:off x="6772106" y="4122142"/>
            <a:ext cx="4764464" cy="457200"/>
          </a:xfrm>
          <a:prstGeom prst="rect">
            <a:avLst/>
          </a:prstGeom>
          <a:noFill/>
          <a:ln/>
        </p:spPr>
        <p:txBody>
          <a:bodyPr wrap="square" lIns="0" tIns="0" rIns="0" bIns="0" rtlCol="0" anchor="t">
            <a:normAutofit/>
          </a:bodyPr>
          <a:lstStyle/>
          <a:p>
            <a:pPr marL="0" indent="0" algn="l">
              <a:lnSpc>
                <a:spcPct val="127000"/>
              </a:lnSpc>
              <a:buNone/>
            </a:pPr>
            <a:r>
              <a:rPr lang="en-US" sz="1150" dirty="0">
                <a:solidFill>
                  <a:srgbClr val="333F70"/>
                </a:solidFill>
                <a:latin typeface="Open Sans" pitchFamily="34" charset="0"/>
                <a:ea typeface="Open Sans" pitchFamily="34" charset="-122"/>
                <a:cs typeface="Open Sans" pitchFamily="34" charset="-120"/>
              </a:rPr>
              <a:t>Scale design to 8-bit or 16-bit with carry-lookahead optimization to address ripple-carry delay limitations.</a:t>
            </a:r>
            <a:endParaRPr lang="en-US" sz="1150" dirty="0"/>
          </a:p>
        </p:txBody>
      </p:sp>
      <p:sp>
        <p:nvSpPr>
          <p:cNvPr id="21" name="Text 16"/>
          <p:cNvSpPr/>
          <p:nvPr/>
        </p:nvSpPr>
        <p:spPr>
          <a:xfrm>
            <a:off x="6285053" y="4732139"/>
            <a:ext cx="5251517" cy="234156"/>
          </a:xfrm>
          <a:prstGeom prst="rect">
            <a:avLst/>
          </a:prstGeom>
          <a:noFill/>
          <a:ln/>
        </p:spPr>
        <p:txBody>
          <a:bodyPr wrap="none" lIns="0" tIns="0" rIns="0" bIns="0" rtlCol="0" anchor="t"/>
          <a:lstStyle/>
          <a:p>
            <a:pPr marL="0" indent="0" algn="l">
              <a:lnSpc>
                <a:spcPct val="104000"/>
              </a:lnSpc>
              <a:buNone/>
            </a:pPr>
            <a:r>
              <a:rPr lang="en-US" sz="1450" b="1" dirty="0">
                <a:solidFill>
                  <a:srgbClr val="333F70"/>
                </a:solidFill>
                <a:latin typeface="Unbounded Bold" pitchFamily="34" charset="0"/>
                <a:ea typeface="Unbounded Bold" pitchFamily="34" charset="-122"/>
                <a:cs typeface="Unbounded Bold" pitchFamily="34" charset="-120"/>
              </a:rPr>
              <a:t>Real-World Relevance</a:t>
            </a:r>
            <a:endParaRPr lang="en-US" sz="1450" dirty="0"/>
          </a:p>
        </p:txBody>
      </p:sp>
      <p:sp>
        <p:nvSpPr>
          <p:cNvPr id="22" name="Text 17"/>
          <p:cNvSpPr/>
          <p:nvPr/>
        </p:nvSpPr>
        <p:spPr>
          <a:xfrm>
            <a:off x="6285053" y="5102126"/>
            <a:ext cx="5251517" cy="1143000"/>
          </a:xfrm>
          <a:prstGeom prst="rect">
            <a:avLst/>
          </a:prstGeom>
          <a:noFill/>
          <a:ln/>
        </p:spPr>
        <p:txBody>
          <a:bodyPr wrap="square" lIns="0" tIns="0" rIns="0" bIns="0" rtlCol="0" anchor="t">
            <a:normAutofit/>
          </a:bodyPr>
          <a:lstStyle/>
          <a:p>
            <a:pPr marL="0" indent="0" algn="l">
              <a:lnSpc>
                <a:spcPct val="127000"/>
              </a:lnSpc>
              <a:buNone/>
            </a:pPr>
            <a:r>
              <a:rPr lang="en-US" sz="1150" dirty="0">
                <a:solidFill>
                  <a:srgbClr val="333F70"/>
                </a:solidFill>
                <a:latin typeface="Open Sans" pitchFamily="34" charset="0"/>
                <a:ea typeface="Open Sans" pitchFamily="34" charset="-122"/>
                <a:cs typeface="Open Sans" pitchFamily="34" charset="-120"/>
              </a:rPr>
              <a:t>The principles demonstrated in this project apply directly to </a:t>
            </a:r>
            <a:r>
              <a:rPr lang="en-US" sz="1150" b="1" dirty="0">
                <a:solidFill>
                  <a:srgbClr val="26A688"/>
                </a:solidFill>
                <a:latin typeface="Open Sans Bold" pitchFamily="34" charset="0"/>
                <a:ea typeface="Open Sans Bold" pitchFamily="34" charset="-122"/>
                <a:cs typeface="Open Sans Bold" pitchFamily="34" charset="-120"/>
              </a:rPr>
              <a:t>CPU ALU design, microcontroller arithmetic units, and digital signal processors</a:t>
            </a:r>
            <a:r>
              <a:rPr lang="en-US" sz="1150" dirty="0">
                <a:solidFill>
                  <a:srgbClr val="333F70"/>
                </a:solidFill>
                <a:latin typeface="Open Sans" pitchFamily="34" charset="0"/>
                <a:ea typeface="Open Sans" pitchFamily="34" charset="-122"/>
                <a:cs typeface="Open Sans" pitchFamily="34" charset="-120"/>
              </a:rPr>
              <a:t>. Every production processor implements these same fundamental operations at scale — making this project an authentic entry point into professional digital design.</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2201</Words>
  <Application>Microsoft Office PowerPoint</Application>
  <PresentationFormat>Widescreen</PresentationFormat>
  <Paragraphs>298</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Open Sans</vt:lpstr>
      <vt:lpstr>Arial</vt:lpstr>
      <vt:lpstr>Unbounded Bold</vt:lpstr>
      <vt:lpstr>Open Sans Bold</vt:lpstr>
      <vt:lpstr>Unbounded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Aaryan Dash</dc:creator>
  <cp:lastModifiedBy>aaryandash03@outlook.com</cp:lastModifiedBy>
  <cp:revision>2</cp:revision>
  <dcterms:created xsi:type="dcterms:W3CDTF">2026-09-12T03:27:33Z</dcterms:created>
  <dcterms:modified xsi:type="dcterms:W3CDTF">2026-09-12T03:33:56Z</dcterms:modified>
</cp:coreProperties>
</file>